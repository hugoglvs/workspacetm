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1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68d9dc3-1a93-fcb0-4104-3d0a22df7627}">
          <p14:sldIdLst>
            <p14:sldId id="256"/>
            <p14:sldId id="257"/>
          </p14:sldIdLst>
        </p14:section>
        <p14:section name="1 · What the system does" id="{2dc70d8a-b431-ead5-c78b-241794838d88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2 · Using it day to day" id="{fb15781c-c595-1d42-a608-f2aaa3acd375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3 · Setting it up" id="{11215534-8943-7b28-1274-11a6d6bb71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4 · Under the cover" id="{cc05e214-64f6-e32f-ed3f-8025886bca30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5 · Flexibility vs. data integrity" id="{16a64aee-472f-30f0-b8b2-8293b4b650ef}">
          <p14:sldIdLst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6 · Troubleshooting &amp; reference" id="{e9d2b00f-7924-d34f-dd75-3d109839b0aa}">
          <p14:sldIdLst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1B2E"/>
                </a:solidFill>
                <a:latin typeface="+mn-lt"/>
              </a:rPr>
              <a:t>Columns per table by edit freedom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</c:v>
                </c:pt>
              </c:strCache>
            </c:strRef>
          </c:tx>
          <c:spPr>
            <a:solidFill>
              <a:srgbClr val="137333"/>
            </a:solidFill>
            <a:effectLst/>
          </c:spPr>
          <c:invertIfNegative val="0"/>
          <c:dLbls>
            <c:numFmt formatCode="#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Members</c:v>
                  </c:pt>
                  <c:pt idx="1">
                    <c:v>Presence Log</c:v>
                  </c:pt>
                  <c:pt idx="2">
                    <c:v>Projects</c:v>
                  </c:pt>
                  <c:pt idx="3">
                    <c:v>Events</c:v>
                  </c:pt>
                  <c:pt idx="4">
                    <c:v>Backups</c:v>
                  </c:pt>
                  <c:pt idx="5">
                    <c:v>Leaves</c:v>
                  </c:pt>
                  <c:pt idx="6">
                    <c:v>Routines</c:v>
                  </c:pt>
                  <c:pt idx="7">
                    <c:v>Contracts</c:v>
                  </c:pt>
                  <c:pt idx="8">
                    <c:v>Tasks</c:v>
                  </c:pt>
                  <c:pt idx="9">
                    <c:v>Holidays</c:v>
                  </c:pt>
                  <c:pt idx="10">
                    <c:v>Locations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6</c:v>
                </c:pt>
                <c:pt idx="9">
                  <c:v>2</c:v>
                </c:pt>
                <c:pt idx="1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Confirm first</c:v>
                </c:pt>
              </c:strCache>
            </c:strRef>
          </c:tx>
          <c:spPr>
            <a:solidFill>
              <a:srgbClr val="B06000"/>
            </a:solidFill>
            <a:effectLst/>
          </c:spPr>
          <c:invertIfNegative val="0"/>
          <c:dLbls>
            <c:numFmt formatCode="#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Members</c:v>
                  </c:pt>
                  <c:pt idx="1">
                    <c:v>Presence Log</c:v>
                  </c:pt>
                  <c:pt idx="2">
                    <c:v>Projects</c:v>
                  </c:pt>
                  <c:pt idx="3">
                    <c:v>Events</c:v>
                  </c:pt>
                  <c:pt idx="4">
                    <c:v>Backups</c:v>
                  </c:pt>
                  <c:pt idx="5">
                    <c:v>Leaves</c:v>
                  </c:pt>
                  <c:pt idx="6">
                    <c:v>Routines</c:v>
                  </c:pt>
                  <c:pt idx="7">
                    <c:v>Contracts</c:v>
                  </c:pt>
                  <c:pt idx="8">
                    <c:v>Tasks</c:v>
                  </c:pt>
                  <c:pt idx="9">
                    <c:v>Holidays</c:v>
                  </c:pt>
                  <c:pt idx="10">
                    <c:v>Locations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  <c:pt idx="7">
                  <c:v>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Locked</c:v>
                </c:pt>
              </c:strCache>
            </c:strRef>
          </c:tx>
          <c:spPr>
            <a:solidFill>
              <a:srgbClr val="7500C0"/>
            </a:solidFill>
            <a:effectLst/>
          </c:spPr>
          <c:invertIfNegative val="0"/>
          <c:dLbls>
            <c:numFmt formatCode="#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Members</c:v>
                  </c:pt>
                  <c:pt idx="1">
                    <c:v>Presence Log</c:v>
                  </c:pt>
                  <c:pt idx="2">
                    <c:v>Projects</c:v>
                  </c:pt>
                  <c:pt idx="3">
                    <c:v>Events</c:v>
                  </c:pt>
                  <c:pt idx="4">
                    <c:v>Backups</c:v>
                  </c:pt>
                  <c:pt idx="5">
                    <c:v>Leaves</c:v>
                  </c:pt>
                  <c:pt idx="6">
                    <c:v>Routines</c:v>
                  </c:pt>
                  <c:pt idx="7">
                    <c:v>Contracts</c:v>
                  </c:pt>
                  <c:pt idx="8">
                    <c:v>Tasks</c:v>
                  </c:pt>
                  <c:pt idx="9">
                    <c:v>Holidays</c:v>
                  </c:pt>
                  <c:pt idx="10">
                    <c:v>Locations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2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dLbls>
          <c:numFmt formatCode="#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C404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</c:scaling>
        <c:delete val="0"/>
        <c:axPos val="b"/>
        <c:majorGridlines>
          <c:spPr>
            <a:ln w="9525" cap="flat">
              <a:solidFill>
                <a:srgbClr val="E8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086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C404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CC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60350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9CCF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</a:rPr>
              <a:t>WorkspacePM User Guide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image" Target="../media/image-5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1"/>
          <p:cNvSpPr/>
          <p:nvPr/>
        </p:nvSpPr>
        <p:spPr>
          <a:xfrm>
            <a:off x="731520" y="1417320"/>
            <a:ext cx="3566160" cy="347472"/>
          </a:xfrm>
          <a:prstGeom prst="roundRect">
            <a:avLst>
              <a:gd name="adj" fmla="val 131579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WorkspacePM · Google Sheets + Apps Script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WorkspacePM User Guide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747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CCF0"/>
                </a:solidFill>
              </a:rPr>
              <a:t>Team presence, contracts, projects and coverage in one Google Sheet: what it does, how to set it up, and how it works under the cover.</a:t>
            </a:r>
            <a:endParaRPr lang="en-US" sz="2000" dirty="0"/>
          </a:p>
        </p:txBody>
      </p:sp>
      <p:sp>
        <p:nvSpPr>
          <p:cNvPr id="5" name="pill-2"/>
          <p:cNvSpPr/>
          <p:nvPr/>
        </p:nvSpPr>
        <p:spPr>
          <a:xfrm>
            <a:off x="731520" y="4983480"/>
            <a:ext cx="832104" cy="329184"/>
          </a:xfrm>
          <a:prstGeom prst="roundRect">
            <a:avLst>
              <a:gd name="adj" fmla="val 138889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</a:t>
            </a:r>
            <a:endParaRPr lang="en-US" sz="1200" dirty="0"/>
          </a:p>
        </p:txBody>
      </p:sp>
      <p:sp>
        <p:nvSpPr>
          <p:cNvPr id="6" name="pill-3"/>
          <p:cNvSpPr/>
          <p:nvPr/>
        </p:nvSpPr>
        <p:spPr>
          <a:xfrm>
            <a:off x="1700784" y="4983480"/>
            <a:ext cx="1220724" cy="329184"/>
          </a:xfrm>
          <a:prstGeom prst="roundRect">
            <a:avLst>
              <a:gd name="adj" fmla="val 138889"/>
            </a:avLst>
          </a:prstGeom>
          <a:solidFill>
            <a:srgbClr val="E8F0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6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site</a:t>
            </a:r>
            <a:endParaRPr lang="en-US" sz="1200" dirty="0"/>
          </a:p>
        </p:txBody>
      </p:sp>
      <p:sp>
        <p:nvSpPr>
          <p:cNvPr id="7" name="pill-4"/>
          <p:cNvSpPr/>
          <p:nvPr/>
        </p:nvSpPr>
        <p:spPr>
          <a:xfrm>
            <a:off x="3058668" y="4983480"/>
            <a:ext cx="832104" cy="329184"/>
          </a:xfrm>
          <a:prstGeom prst="roundRect">
            <a:avLst>
              <a:gd name="adj" fmla="val 138889"/>
            </a:avLst>
          </a:prstGeom>
          <a:solidFill>
            <a:srgbClr val="E6F4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1200" dirty="0"/>
          </a:p>
        </p:txBody>
      </p:sp>
      <p:sp>
        <p:nvSpPr>
          <p:cNvPr id="8" name="pill-5"/>
          <p:cNvSpPr/>
          <p:nvPr/>
        </p:nvSpPr>
        <p:spPr>
          <a:xfrm>
            <a:off x="4027932" y="4983480"/>
            <a:ext cx="822960" cy="329184"/>
          </a:xfrm>
          <a:prstGeom prst="roundRect">
            <a:avLst>
              <a:gd name="adj" fmla="val 138889"/>
            </a:avLst>
          </a:prstGeom>
          <a:solidFill>
            <a:srgbClr val="FCE8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200" dirty="0"/>
          </a:p>
        </p:txBody>
      </p:sp>
      <p:sp>
        <p:nvSpPr>
          <p:cNvPr id="9" name="pill-6"/>
          <p:cNvSpPr/>
          <p:nvPr/>
        </p:nvSpPr>
        <p:spPr>
          <a:xfrm>
            <a:off x="4988052" y="4983480"/>
            <a:ext cx="822960" cy="329184"/>
          </a:xfrm>
          <a:prstGeom prst="roundRect">
            <a:avLst>
              <a:gd name="adj" fmla="val 138889"/>
            </a:avLst>
          </a:prstGeom>
          <a:solidFill>
            <a:srgbClr val="F1F3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1200" dirty="0"/>
          </a:p>
        </p:txBody>
      </p:sp>
      <p:sp>
        <p:nvSpPr>
          <p:cNvPr id="10" name="pill-7"/>
          <p:cNvSpPr/>
          <p:nvPr/>
        </p:nvSpPr>
        <p:spPr>
          <a:xfrm>
            <a:off x="5948172" y="4983480"/>
            <a:ext cx="1143000" cy="329184"/>
          </a:xfrm>
          <a:prstGeom prst="roundRect">
            <a:avLst>
              <a:gd name="adj" fmla="val 138889"/>
            </a:avLst>
          </a:prstGeom>
          <a:solidFill>
            <a:srgbClr val="FEF7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Logged</a:t>
            </a:r>
            <a:endParaRPr lang="en-US" sz="1200" dirty="0"/>
          </a:p>
        </p:txBody>
      </p:sp>
      <p:sp>
        <p:nvSpPr>
          <p:cNvPr id="11" name="text-8"/>
          <p:cNvSpPr txBox="1"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8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of 12 October 2026 · Library build deploy-20261012-0813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guide is for, and where to look</a:t>
            </a:r>
            <a:endParaRPr lang="en-US" sz="3200" dirty="0"/>
          </a:p>
        </p:txBody>
      </p:sp>
      <p:sp>
        <p:nvSpPr>
          <p:cNvPr id="3" name="pill-9"/>
          <p:cNvSpPr/>
          <p:nvPr/>
        </p:nvSpPr>
        <p:spPr>
          <a:xfrm>
            <a:off x="548640" y="274320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100" dirty="0"/>
          </a:p>
        </p:txBody>
      </p:sp>
      <p:sp>
        <p:nvSpPr>
          <p:cNvPr id="4" name="box-10"/>
          <p:cNvSpPr/>
          <p:nvPr/>
        </p:nvSpPr>
        <p:spPr>
          <a:xfrm>
            <a:off x="548640" y="1691640"/>
            <a:ext cx="3474720" cy="2788920"/>
          </a:xfrm>
          <a:prstGeom prst="roundRect">
            <a:avLst>
              <a:gd name="adj" fmla="val 2623"/>
            </a:avLst>
          </a:prstGeom>
          <a:solidFill>
            <a:srgbClr val="F5F1FA"/>
          </a:solidFill>
          <a:ln/>
        </p:spPr>
      </p:sp>
      <p:sp>
        <p:nvSpPr>
          <p:cNvPr id="5" name="iconbg-11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1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106778"/>
            <a:ext cx="358445" cy="358445"/>
          </a:xfrm>
          <a:prstGeom prst="rect">
            <a:avLst/>
          </a:prstGeom>
        </p:spPr>
      </p:pic>
      <p:sp>
        <p:nvSpPr>
          <p:cNvPr id="7" name="pill-13"/>
          <p:cNvSpPr/>
          <p:nvPr/>
        </p:nvSpPr>
        <p:spPr>
          <a:xfrm>
            <a:off x="2606040" y="2130552"/>
            <a:ext cx="1188720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1–2</a:t>
            </a:r>
            <a:endParaRPr lang="en-US" sz="1100" dirty="0"/>
          </a:p>
        </p:txBody>
      </p:sp>
      <p:sp>
        <p:nvSpPr>
          <p:cNvPr id="8" name="text-14"/>
          <p:cNvSpPr txBox="1"/>
          <p:nvPr/>
        </p:nvSpPr>
        <p:spPr>
          <a:xfrm>
            <a:off x="822960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</a:t>
            </a:r>
            <a:endParaRPr lang="en-US" sz="1800" dirty="0"/>
          </a:p>
        </p:txBody>
      </p:sp>
      <p:sp>
        <p:nvSpPr>
          <p:cNvPr id="9" name="text-15"/>
          <p:cNvSpPr txBox="1"/>
          <p:nvPr/>
        </p:nvSpPr>
        <p:spPr>
          <a:xfrm>
            <a:off x="822960" y="32004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sheet shows, how to declare your week and leaves, how projects stay covered, which emails you will get.</a:t>
            </a:r>
            <a:endParaRPr lang="en-US" sz="1400" dirty="0"/>
          </a:p>
        </p:txBody>
      </p:sp>
      <p:sp>
        <p:nvSpPr>
          <p:cNvPr id="10" name="box-16"/>
          <p:cNvSpPr/>
          <p:nvPr/>
        </p:nvSpPr>
        <p:spPr>
          <a:xfrm>
            <a:off x="4297680" y="1691640"/>
            <a:ext cx="3474720" cy="2788920"/>
          </a:xfrm>
          <a:prstGeom prst="roundRect">
            <a:avLst>
              <a:gd name="adj" fmla="val 2623"/>
            </a:avLst>
          </a:prstGeom>
          <a:solidFill>
            <a:srgbClr val="F5F1FA"/>
          </a:solidFill>
          <a:ln/>
        </p:spPr>
      </p:sp>
      <p:sp>
        <p:nvSpPr>
          <p:cNvPr id="11" name="iconbg-17"/>
          <p:cNvSpPr/>
          <p:nvPr/>
        </p:nvSpPr>
        <p:spPr>
          <a:xfrm>
            <a:off x="4572000" y="19659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1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2106778"/>
            <a:ext cx="358445" cy="358445"/>
          </a:xfrm>
          <a:prstGeom prst="rect">
            <a:avLst/>
          </a:prstGeom>
        </p:spPr>
      </p:pic>
      <p:sp>
        <p:nvSpPr>
          <p:cNvPr id="13" name="pill-19"/>
          <p:cNvSpPr/>
          <p:nvPr/>
        </p:nvSpPr>
        <p:spPr>
          <a:xfrm>
            <a:off x="6355080" y="2130552"/>
            <a:ext cx="1188720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100" dirty="0"/>
          </a:p>
        </p:txBody>
      </p:sp>
      <p:sp>
        <p:nvSpPr>
          <p:cNvPr id="14" name="text-20"/>
          <p:cNvSpPr txBox="1"/>
          <p:nvPr/>
        </p:nvSpPr>
        <p:spPr>
          <a:xfrm>
            <a:off x="4572000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Administrators</a:t>
            </a:r>
            <a:endParaRPr lang="en-US" sz="1800" dirty="0"/>
          </a:p>
        </p:txBody>
      </p:sp>
      <p:sp>
        <p:nvSpPr>
          <p:cNvPr id="15" name="text-21"/>
          <p:cNvSpPr txBox="1"/>
          <p:nvPr/>
        </p:nvSpPr>
        <p:spPr>
          <a:xfrm>
            <a:off x="4572000" y="32004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Linking the Library, running Initialize / Upgrade, configuring locations, holidays and settings, maintaining triggers.</a:t>
            </a:r>
            <a:endParaRPr lang="en-US" sz="1400" dirty="0"/>
          </a:p>
        </p:txBody>
      </p:sp>
      <p:sp>
        <p:nvSpPr>
          <p:cNvPr id="16" name="box-22"/>
          <p:cNvSpPr/>
          <p:nvPr/>
        </p:nvSpPr>
        <p:spPr>
          <a:xfrm>
            <a:off x="8046720" y="1691640"/>
            <a:ext cx="3474720" cy="2788920"/>
          </a:xfrm>
          <a:prstGeom prst="roundRect">
            <a:avLst>
              <a:gd name="adj" fmla="val 2623"/>
            </a:avLst>
          </a:prstGeom>
          <a:solidFill>
            <a:srgbClr val="F5F1FA"/>
          </a:solidFill>
          <a:ln/>
        </p:spPr>
      </p:sp>
      <p:sp>
        <p:nvSpPr>
          <p:cNvPr id="17" name="iconbg-23"/>
          <p:cNvSpPr/>
          <p:nvPr/>
        </p:nvSpPr>
        <p:spPr>
          <a:xfrm>
            <a:off x="8321040" y="19659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con-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2106778"/>
            <a:ext cx="358445" cy="358445"/>
          </a:xfrm>
          <a:prstGeom prst="rect">
            <a:avLst/>
          </a:prstGeom>
        </p:spPr>
      </p:pic>
      <p:sp>
        <p:nvSpPr>
          <p:cNvPr id="19" name="pill-25"/>
          <p:cNvSpPr/>
          <p:nvPr/>
        </p:nvSpPr>
        <p:spPr>
          <a:xfrm>
            <a:off x="10104120" y="2130552"/>
            <a:ext cx="1188720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4–6</a:t>
            </a:r>
            <a:endParaRPr lang="en-US" sz="1100" dirty="0"/>
          </a:p>
        </p:txBody>
      </p:sp>
      <p:sp>
        <p:nvSpPr>
          <p:cNvPr id="20" name="text-26"/>
          <p:cNvSpPr txBox="1"/>
          <p:nvPr/>
        </p:nvSpPr>
        <p:spPr>
          <a:xfrm>
            <a:off x="8321040" y="2788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Maintainers</a:t>
            </a:r>
            <a:endParaRPr lang="en-US" sz="1800" dirty="0"/>
          </a:p>
        </p:txBody>
      </p:sp>
      <p:sp>
        <p:nvSpPr>
          <p:cNvPr id="21" name="text-27"/>
          <p:cNvSpPr txBox="1"/>
          <p:nvPr/>
        </p:nvSpPr>
        <p:spPr>
          <a:xfrm>
            <a:off x="8321040" y="32004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data flows, the nightly job, the Sync Lock, the flexibility-to-integrity ratio and troubleshooting.</a:t>
            </a:r>
            <a:endParaRPr lang="en-US" sz="1400" dirty="0"/>
          </a:p>
        </p:txBody>
      </p:sp>
      <p:sp>
        <p:nvSpPr>
          <p:cNvPr id="22" name="pill-28"/>
          <p:cNvSpPr/>
          <p:nvPr/>
        </p:nvSpPr>
        <p:spPr>
          <a:xfrm>
            <a:off x="548640" y="4791456"/>
            <a:ext cx="365760" cy="292608"/>
          </a:xfrm>
          <a:prstGeom prst="roundRect">
            <a:avLst>
              <a:gd name="adj" fmla="val 15625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-29"/>
          <p:cNvSpPr txBox="1"/>
          <p:nvPr/>
        </p:nvSpPr>
        <p:spPr>
          <a:xfrm>
            <a:off x="105156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system does</a:t>
            </a:r>
            <a:endParaRPr lang="en-US" sz="1500" dirty="0"/>
          </a:p>
        </p:txBody>
      </p:sp>
      <p:sp>
        <p:nvSpPr>
          <p:cNvPr id="24" name="pill-30"/>
          <p:cNvSpPr/>
          <p:nvPr/>
        </p:nvSpPr>
        <p:spPr>
          <a:xfrm>
            <a:off x="4297680" y="4791456"/>
            <a:ext cx="365760" cy="292608"/>
          </a:xfrm>
          <a:prstGeom prst="roundRect">
            <a:avLst>
              <a:gd name="adj" fmla="val 15625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-31"/>
          <p:cNvSpPr txBox="1"/>
          <p:nvPr/>
        </p:nvSpPr>
        <p:spPr>
          <a:xfrm>
            <a:off x="480060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it day to day</a:t>
            </a:r>
            <a:endParaRPr lang="en-US" sz="1500" dirty="0"/>
          </a:p>
        </p:txBody>
      </p:sp>
      <p:sp>
        <p:nvSpPr>
          <p:cNvPr id="26" name="pill-32"/>
          <p:cNvSpPr/>
          <p:nvPr/>
        </p:nvSpPr>
        <p:spPr>
          <a:xfrm>
            <a:off x="8046720" y="4791456"/>
            <a:ext cx="365760" cy="292608"/>
          </a:xfrm>
          <a:prstGeom prst="roundRect">
            <a:avLst>
              <a:gd name="adj" fmla="val 15625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-33"/>
          <p:cNvSpPr txBox="1"/>
          <p:nvPr/>
        </p:nvSpPr>
        <p:spPr>
          <a:xfrm>
            <a:off x="854964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it up</a:t>
            </a:r>
            <a:endParaRPr lang="en-US" sz="1500" dirty="0"/>
          </a:p>
        </p:txBody>
      </p:sp>
      <p:sp>
        <p:nvSpPr>
          <p:cNvPr id="28" name="pill-34"/>
          <p:cNvSpPr/>
          <p:nvPr/>
        </p:nvSpPr>
        <p:spPr>
          <a:xfrm>
            <a:off x="548640" y="5340096"/>
            <a:ext cx="365760" cy="292608"/>
          </a:xfrm>
          <a:prstGeom prst="roundRect">
            <a:avLst>
              <a:gd name="adj" fmla="val 15625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-35"/>
          <p:cNvSpPr txBox="1"/>
          <p:nvPr/>
        </p:nvSpPr>
        <p:spPr>
          <a:xfrm>
            <a:off x="1051560" y="5349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cover</a:t>
            </a:r>
            <a:endParaRPr lang="en-US" sz="1500" dirty="0"/>
          </a:p>
        </p:txBody>
      </p:sp>
      <p:sp>
        <p:nvSpPr>
          <p:cNvPr id="30" name="pill-36"/>
          <p:cNvSpPr/>
          <p:nvPr/>
        </p:nvSpPr>
        <p:spPr>
          <a:xfrm>
            <a:off x="4297680" y="5340096"/>
            <a:ext cx="365760" cy="292608"/>
          </a:xfrm>
          <a:prstGeom prst="roundRect">
            <a:avLst>
              <a:gd name="adj" fmla="val 15625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-37"/>
          <p:cNvSpPr txBox="1"/>
          <p:nvPr/>
        </p:nvSpPr>
        <p:spPr>
          <a:xfrm>
            <a:off x="4800600" y="5349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 vs. data integrity</a:t>
            </a:r>
            <a:endParaRPr lang="en-US" sz="1500" dirty="0"/>
          </a:p>
        </p:txBody>
      </p:sp>
      <p:sp>
        <p:nvSpPr>
          <p:cNvPr id="32" name="pill-38"/>
          <p:cNvSpPr/>
          <p:nvPr/>
        </p:nvSpPr>
        <p:spPr>
          <a:xfrm>
            <a:off x="8046720" y="5340096"/>
            <a:ext cx="365760" cy="292608"/>
          </a:xfrm>
          <a:prstGeom prst="roundRect">
            <a:avLst>
              <a:gd name="adj" fmla="val 156250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-39"/>
          <p:cNvSpPr txBox="1"/>
          <p:nvPr/>
        </p:nvSpPr>
        <p:spPr>
          <a:xfrm>
            <a:off x="8549640" y="5349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&amp; reference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40"/>
          <p:cNvSpPr/>
          <p:nvPr/>
        </p:nvSpPr>
        <p:spPr>
          <a:xfrm>
            <a:off x="731520" y="1325880"/>
            <a:ext cx="1188720" cy="329184"/>
          </a:xfrm>
          <a:prstGeom prst="roundRect">
            <a:avLst>
              <a:gd name="adj" fmla="val 138889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system does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3832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One shared Google Sheet becomes the team's operating picture: who works where, under which contract, who covers which project, and what is due.</a:t>
            </a:r>
            <a:endParaRPr lang="en-US" sz="1800" dirty="0"/>
          </a:p>
        </p:txBody>
      </p:sp>
      <p:sp>
        <p:nvSpPr>
          <p:cNvPr id="5" name="box-41"/>
          <p:cNvSpPr/>
          <p:nvPr/>
        </p:nvSpPr>
        <p:spPr>
          <a:xfrm>
            <a:off x="7680960" y="1325880"/>
            <a:ext cx="3931920" cy="4206240"/>
          </a:xfrm>
          <a:prstGeom prst="roundRect">
            <a:avLst>
              <a:gd name="adj" fmla="val 1395"/>
            </a:avLst>
          </a:prstGeom>
          <a:solidFill>
            <a:srgbClr val="2A2640"/>
          </a:solidFill>
          <a:ln/>
        </p:spPr>
      </p:sp>
      <p:sp>
        <p:nvSpPr>
          <p:cNvPr id="6" name="text-42"/>
          <p:cNvSpPr txBox="1"/>
          <p:nvPr/>
        </p:nvSpPr>
        <p:spPr>
          <a:xfrm>
            <a:off x="800100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43"/>
          <p:cNvSpPr txBox="1"/>
          <p:nvPr/>
        </p:nvSpPr>
        <p:spPr>
          <a:xfrm>
            <a:off x="8001000" y="20116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jobs in one sheet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visible tabs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legend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automatically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Google Sheet runs the team's day to day</a:t>
            </a:r>
            <a:endParaRPr lang="en-US" sz="3200" dirty="0"/>
          </a:p>
        </p:txBody>
      </p:sp>
      <p:sp>
        <p:nvSpPr>
          <p:cNvPr id="3" name="pill-44"/>
          <p:cNvSpPr/>
          <p:nvPr/>
        </p:nvSpPr>
        <p:spPr>
          <a:xfrm>
            <a:off x="548640" y="274320"/>
            <a:ext cx="223113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text-45"/>
          <p:cNvSpPr txBox="1"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WorkspacePM is a Google Apps Script Library behind a normal Google Sheet. People type in grids or use guided sidebars; the Library keeps every table consistent and talks to Google Tasks, Calendar and Gmail.</a:t>
            </a:r>
            <a:endParaRPr lang="en-US" sz="1600" dirty="0"/>
          </a:p>
        </p:txBody>
      </p:sp>
      <p:sp>
        <p:nvSpPr>
          <p:cNvPr id="5" name="box-46"/>
          <p:cNvSpPr/>
          <p:nvPr/>
        </p:nvSpPr>
        <p:spPr>
          <a:xfrm>
            <a:off x="548640" y="237744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5F1FA"/>
          </a:solidFill>
          <a:ln/>
        </p:spPr>
      </p:sp>
      <p:sp>
        <p:nvSpPr>
          <p:cNvPr id="6" name="iconbg-47"/>
          <p:cNvSpPr/>
          <p:nvPr/>
        </p:nvSpPr>
        <p:spPr>
          <a:xfrm>
            <a:off x="777240" y="26060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con-4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2716682"/>
            <a:ext cx="281635" cy="281635"/>
          </a:xfrm>
          <a:prstGeom prst="rect">
            <a:avLst/>
          </a:prstGeom>
        </p:spPr>
      </p:pic>
      <p:sp>
        <p:nvSpPr>
          <p:cNvPr id="8" name="text-49"/>
          <p:cNvSpPr txBox="1"/>
          <p:nvPr/>
        </p:nvSpPr>
        <p:spPr>
          <a:xfrm>
            <a:off x="1417320" y="262432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 &amp; contracts</a:t>
            </a:r>
            <a:endParaRPr lang="en-US" sz="1600" dirty="0"/>
          </a:p>
        </p:txBody>
      </p:sp>
      <p:sp>
        <p:nvSpPr>
          <p:cNvPr id="9" name="text-50"/>
          <p:cNvSpPr txBox="1"/>
          <p:nvPr/>
        </p:nvSpPr>
        <p:spPr>
          <a:xfrm>
            <a:off x="1417320" y="3008376"/>
            <a:ext cx="2423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 role, department and status derived from their contracts.</a:t>
            </a:r>
            <a:endParaRPr lang="en-US" sz="1400" dirty="0"/>
          </a:p>
        </p:txBody>
      </p:sp>
      <p:sp>
        <p:nvSpPr>
          <p:cNvPr id="10" name="box-51"/>
          <p:cNvSpPr/>
          <p:nvPr/>
        </p:nvSpPr>
        <p:spPr>
          <a:xfrm>
            <a:off x="4297680" y="237744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5F1FA"/>
          </a:solidFill>
          <a:ln/>
        </p:spPr>
      </p:sp>
      <p:sp>
        <p:nvSpPr>
          <p:cNvPr id="11" name="iconbg-52"/>
          <p:cNvSpPr/>
          <p:nvPr/>
        </p:nvSpPr>
        <p:spPr>
          <a:xfrm>
            <a:off x="4526280" y="26060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5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922" y="2716682"/>
            <a:ext cx="281635" cy="281635"/>
          </a:xfrm>
          <a:prstGeom prst="rect">
            <a:avLst/>
          </a:prstGeom>
        </p:spPr>
      </p:pic>
      <p:sp>
        <p:nvSpPr>
          <p:cNvPr id="13" name="text-54"/>
          <p:cNvSpPr txBox="1"/>
          <p:nvPr/>
        </p:nvSpPr>
        <p:spPr>
          <a:xfrm>
            <a:off x="5166360" y="262432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 &amp; leaves</a:t>
            </a:r>
            <a:endParaRPr lang="en-US" sz="1600" dirty="0"/>
          </a:p>
        </p:txBody>
      </p:sp>
      <p:sp>
        <p:nvSpPr>
          <p:cNvPr id="14" name="text-55"/>
          <p:cNvSpPr txBox="1"/>
          <p:nvPr/>
        </p:nvSpPr>
        <p:spPr>
          <a:xfrm>
            <a:off x="5166360" y="3008376"/>
            <a:ext cx="2423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person works, morning and afternoon: routines, one-off changes, leaves, public holidays.</a:t>
            </a:r>
            <a:endParaRPr lang="en-US" sz="1400" dirty="0"/>
          </a:p>
        </p:txBody>
      </p:sp>
      <p:sp>
        <p:nvSpPr>
          <p:cNvPr id="15" name="box-56"/>
          <p:cNvSpPr/>
          <p:nvPr/>
        </p:nvSpPr>
        <p:spPr>
          <a:xfrm>
            <a:off x="8046720" y="237744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5F1FA"/>
          </a:solidFill>
          <a:ln/>
        </p:spPr>
      </p:sp>
      <p:sp>
        <p:nvSpPr>
          <p:cNvPr id="16" name="iconbg-57"/>
          <p:cNvSpPr/>
          <p:nvPr/>
        </p:nvSpPr>
        <p:spPr>
          <a:xfrm>
            <a:off x="8275320" y="26060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con-5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962" y="2716682"/>
            <a:ext cx="281635" cy="281635"/>
          </a:xfrm>
          <a:prstGeom prst="rect">
            <a:avLst/>
          </a:prstGeom>
        </p:spPr>
      </p:pic>
      <p:sp>
        <p:nvSpPr>
          <p:cNvPr id="18" name="text-59"/>
          <p:cNvSpPr txBox="1"/>
          <p:nvPr/>
        </p:nvSpPr>
        <p:spPr>
          <a:xfrm>
            <a:off x="8915400" y="262432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coverage</a:t>
            </a:r>
            <a:endParaRPr lang="en-US" sz="1600" dirty="0"/>
          </a:p>
        </p:txBody>
      </p:sp>
      <p:sp>
        <p:nvSpPr>
          <p:cNvPr id="19" name="text-60"/>
          <p:cNvSpPr txBox="1"/>
          <p:nvPr/>
        </p:nvSpPr>
        <p:spPr>
          <a:xfrm>
            <a:off x="8915400" y="3008376"/>
            <a:ext cx="2423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permanent backup and interim cover; who is in charge today; alerts before a gap happens.</a:t>
            </a:r>
            <a:endParaRPr lang="en-US" sz="1400" dirty="0"/>
          </a:p>
        </p:txBody>
      </p:sp>
      <p:sp>
        <p:nvSpPr>
          <p:cNvPr id="20" name="box-61"/>
          <p:cNvSpPr/>
          <p:nvPr/>
        </p:nvSpPr>
        <p:spPr>
          <a:xfrm>
            <a:off x="548640" y="43434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5F1FA"/>
          </a:solidFill>
          <a:ln/>
        </p:spPr>
      </p:sp>
      <p:sp>
        <p:nvSpPr>
          <p:cNvPr id="21" name="iconbg-62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con-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" y="4682642"/>
            <a:ext cx="281635" cy="281635"/>
          </a:xfrm>
          <a:prstGeom prst="rect">
            <a:avLst/>
          </a:prstGeom>
        </p:spPr>
      </p:pic>
      <p:sp>
        <p:nvSpPr>
          <p:cNvPr id="23" name="text-64"/>
          <p:cNvSpPr txBox="1"/>
          <p:nvPr/>
        </p:nvSpPr>
        <p:spPr>
          <a:xfrm>
            <a:off x="1417320" y="459028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&amp; events</a:t>
            </a:r>
            <a:endParaRPr lang="en-US" sz="1600" dirty="0"/>
          </a:p>
        </p:txBody>
      </p:sp>
      <p:sp>
        <p:nvSpPr>
          <p:cNvPr id="24" name="text-65"/>
          <p:cNvSpPr txBox="1"/>
          <p:nvPr/>
        </p:nvSpPr>
        <p:spPr>
          <a:xfrm>
            <a:off x="1417320" y="4974336"/>
            <a:ext cx="2423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sync with Google Tasks; events are created in Google Calendar.</a:t>
            </a:r>
            <a:endParaRPr lang="en-US" sz="1400" dirty="0"/>
          </a:p>
        </p:txBody>
      </p:sp>
      <p:sp>
        <p:nvSpPr>
          <p:cNvPr id="25" name="box-66"/>
          <p:cNvSpPr/>
          <p:nvPr/>
        </p:nvSpPr>
        <p:spPr>
          <a:xfrm>
            <a:off x="4297680" y="43434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5F1FA"/>
          </a:solidFill>
          <a:ln/>
        </p:spPr>
      </p:sp>
      <p:sp>
        <p:nvSpPr>
          <p:cNvPr id="26" name="iconbg-67"/>
          <p:cNvSpPr/>
          <p:nvPr/>
        </p:nvSpPr>
        <p:spPr>
          <a:xfrm>
            <a:off x="4526280" y="4572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con-6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922" y="4682642"/>
            <a:ext cx="281635" cy="281635"/>
          </a:xfrm>
          <a:prstGeom prst="rect">
            <a:avLst/>
          </a:prstGeom>
        </p:spPr>
      </p:pic>
      <p:sp>
        <p:nvSpPr>
          <p:cNvPr id="28" name="text-69"/>
          <p:cNvSpPr txBox="1"/>
          <p:nvPr/>
        </p:nvSpPr>
        <p:spPr>
          <a:xfrm>
            <a:off x="5166360" y="459028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</a:t>
            </a:r>
            <a:endParaRPr lang="en-US" sz="1600" dirty="0"/>
          </a:p>
        </p:txBody>
      </p:sp>
      <p:sp>
        <p:nvSpPr>
          <p:cNvPr id="29" name="text-70"/>
          <p:cNvSpPr txBox="1"/>
          <p:nvPr/>
        </p:nvSpPr>
        <p:spPr>
          <a:xfrm>
            <a:off x="5166360" y="4974336"/>
            <a:ext cx="2423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presence reminder, birthday emails and a shared Team Birthdays calendar.</a:t>
            </a:r>
            <a:endParaRPr lang="en-US" sz="1400" dirty="0"/>
          </a:p>
        </p:txBody>
      </p:sp>
      <p:sp>
        <p:nvSpPr>
          <p:cNvPr id="30" name="box-71"/>
          <p:cNvSpPr/>
          <p:nvPr/>
        </p:nvSpPr>
        <p:spPr>
          <a:xfrm>
            <a:off x="8046720" y="43434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5F1FA"/>
          </a:solidFill>
          <a:ln/>
        </p:spPr>
      </p:sp>
      <p:sp>
        <p:nvSpPr>
          <p:cNvPr id="31" name="iconbg-72"/>
          <p:cNvSpPr/>
          <p:nvPr/>
        </p:nvSpPr>
        <p:spPr>
          <a:xfrm>
            <a:off x="8275320" y="4572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con-7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962" y="4682642"/>
            <a:ext cx="281635" cy="281635"/>
          </a:xfrm>
          <a:prstGeom prst="rect">
            <a:avLst/>
          </a:prstGeom>
        </p:spPr>
      </p:pic>
      <p:sp>
        <p:nvSpPr>
          <p:cNvPr id="33" name="text-74"/>
          <p:cNvSpPr txBox="1"/>
          <p:nvPr/>
        </p:nvSpPr>
        <p:spPr>
          <a:xfrm>
            <a:off x="8915400" y="459028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1600" dirty="0"/>
          </a:p>
        </p:txBody>
      </p:sp>
      <p:sp>
        <p:nvSpPr>
          <p:cNvPr id="34" name="text-75"/>
          <p:cNvSpPr txBox="1"/>
          <p:nvPr/>
        </p:nvSpPr>
        <p:spPr>
          <a:xfrm>
            <a:off x="8915400" y="4974336"/>
            <a:ext cx="2423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tidy KPI Data table (one row per person, day and half-day) for Looker Studio.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tabs are visible; the rest work behind them</a:t>
            </a:r>
            <a:endParaRPr lang="en-US" sz="3200" dirty="0"/>
          </a:p>
        </p:txBody>
      </p:sp>
      <p:sp>
        <p:nvSpPr>
          <p:cNvPr id="3" name="pill-76"/>
          <p:cNvSpPr/>
          <p:nvPr/>
        </p:nvSpPr>
        <p:spPr>
          <a:xfrm>
            <a:off x="548640" y="274320"/>
            <a:ext cx="223113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text-77"/>
          <p:cNvSpPr txBox="1"/>
          <p:nvPr/>
        </p:nvSpPr>
        <p:spPr>
          <a:xfrm>
            <a:off x="54864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everyone</a:t>
            </a:r>
            <a:endParaRPr lang="en-US" sz="1400" dirty="0"/>
          </a:p>
        </p:txBody>
      </p:sp>
      <p:sp>
        <p:nvSpPr>
          <p:cNvPr id="5" name="box-78"/>
          <p:cNvSpPr/>
          <p:nvPr/>
        </p:nvSpPr>
        <p:spPr>
          <a:xfrm>
            <a:off x="548640" y="1965960"/>
            <a:ext cx="2103120" cy="457200"/>
          </a:xfrm>
          <a:prstGeom prst="roundRect">
            <a:avLst>
              <a:gd name="adj" fmla="val 30000"/>
            </a:avLst>
          </a:prstGeom>
          <a:solidFill>
            <a:srgbClr val="7500C0"/>
          </a:solidFill>
          <a:ln/>
        </p:spPr>
      </p:sp>
      <p:sp>
        <p:nvSpPr>
          <p:cNvPr id="6" name="text-79"/>
          <p:cNvSpPr txBox="1"/>
          <p:nvPr/>
        </p:nvSpPr>
        <p:spPr>
          <a:xfrm>
            <a:off x="548640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500" dirty="0"/>
          </a:p>
        </p:txBody>
      </p:sp>
      <p:sp>
        <p:nvSpPr>
          <p:cNvPr id="7" name="box-80"/>
          <p:cNvSpPr/>
          <p:nvPr/>
        </p:nvSpPr>
        <p:spPr>
          <a:xfrm>
            <a:off x="548640" y="251460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8" name="text-81"/>
          <p:cNvSpPr txBox="1"/>
          <p:nvPr/>
        </p:nvSpPr>
        <p:spPr>
          <a:xfrm>
            <a:off x="685800" y="26060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Directory: name, email, phone, role, department, status, today, birthday</a:t>
            </a:r>
            <a:endParaRPr lang="en-US" sz="1300" dirty="0"/>
          </a:p>
        </p:txBody>
      </p:sp>
      <p:sp>
        <p:nvSpPr>
          <p:cNvPr id="9" name="box-82"/>
          <p:cNvSpPr/>
          <p:nvPr/>
        </p:nvSpPr>
        <p:spPr>
          <a:xfrm>
            <a:off x="2798064" y="1965960"/>
            <a:ext cx="2103120" cy="457200"/>
          </a:xfrm>
          <a:prstGeom prst="roundRect">
            <a:avLst>
              <a:gd name="adj" fmla="val 30000"/>
            </a:avLst>
          </a:prstGeom>
          <a:solidFill>
            <a:srgbClr val="137333"/>
          </a:solidFill>
          <a:ln/>
        </p:spPr>
      </p:sp>
      <p:sp>
        <p:nvSpPr>
          <p:cNvPr id="10" name="text-83"/>
          <p:cNvSpPr txBox="1"/>
          <p:nvPr/>
        </p:nvSpPr>
        <p:spPr>
          <a:xfrm>
            <a:off x="2798064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</a:t>
            </a:r>
            <a:endParaRPr lang="en-US" sz="1500" dirty="0"/>
          </a:p>
        </p:txBody>
      </p:sp>
      <p:sp>
        <p:nvSpPr>
          <p:cNvPr id="11" name="box-84"/>
          <p:cNvSpPr/>
          <p:nvPr/>
        </p:nvSpPr>
        <p:spPr>
          <a:xfrm>
            <a:off x="2798064" y="251460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12" name="text-85"/>
          <p:cNvSpPr txBox="1"/>
          <p:nvPr/>
        </p:nvSpPr>
        <p:spPr>
          <a:xfrm>
            <a:off x="2935224" y="26060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× people grid, AM and PM, colour-coded; type to change a day</a:t>
            </a:r>
            <a:endParaRPr lang="en-US" sz="1300" dirty="0"/>
          </a:p>
        </p:txBody>
      </p:sp>
      <p:sp>
        <p:nvSpPr>
          <p:cNvPr id="13" name="box-86"/>
          <p:cNvSpPr/>
          <p:nvPr/>
        </p:nvSpPr>
        <p:spPr>
          <a:xfrm>
            <a:off x="5047488" y="1965960"/>
            <a:ext cx="2103120" cy="457200"/>
          </a:xfrm>
          <a:prstGeom prst="roundRect">
            <a:avLst>
              <a:gd name="adj" fmla="val 30000"/>
            </a:avLst>
          </a:prstGeom>
          <a:solidFill>
            <a:srgbClr val="1967D2"/>
          </a:solidFill>
          <a:ln/>
        </p:spPr>
      </p:sp>
      <p:sp>
        <p:nvSpPr>
          <p:cNvPr id="14" name="text-87"/>
          <p:cNvSpPr txBox="1"/>
          <p:nvPr/>
        </p:nvSpPr>
        <p:spPr>
          <a:xfrm>
            <a:off x="5047488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500" dirty="0"/>
          </a:p>
        </p:txBody>
      </p:sp>
      <p:sp>
        <p:nvSpPr>
          <p:cNvPr id="15" name="box-88"/>
          <p:cNvSpPr/>
          <p:nvPr/>
        </p:nvSpPr>
        <p:spPr>
          <a:xfrm>
            <a:off x="5047488" y="251460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16" name="text-89"/>
          <p:cNvSpPr txBox="1"/>
          <p:nvPr/>
        </p:nvSpPr>
        <p:spPr>
          <a:xfrm>
            <a:off x="5184648" y="26060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backup and who is in charge today; red or orange when coverage fails</a:t>
            </a:r>
            <a:endParaRPr lang="en-US" sz="1300" dirty="0"/>
          </a:p>
        </p:txBody>
      </p:sp>
      <p:sp>
        <p:nvSpPr>
          <p:cNvPr id="17" name="box-90"/>
          <p:cNvSpPr/>
          <p:nvPr/>
        </p:nvSpPr>
        <p:spPr>
          <a:xfrm>
            <a:off x="7296912" y="1965960"/>
            <a:ext cx="2103120" cy="457200"/>
          </a:xfrm>
          <a:prstGeom prst="roundRect">
            <a:avLst>
              <a:gd name="adj" fmla="val 30000"/>
            </a:avLst>
          </a:prstGeom>
          <a:solidFill>
            <a:srgbClr val="B06000"/>
          </a:solidFill>
          <a:ln/>
        </p:spPr>
      </p:sp>
      <p:sp>
        <p:nvSpPr>
          <p:cNvPr id="18" name="text-91"/>
          <p:cNvSpPr txBox="1"/>
          <p:nvPr/>
        </p:nvSpPr>
        <p:spPr>
          <a:xfrm>
            <a:off x="7296912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500" dirty="0"/>
          </a:p>
        </p:txBody>
      </p:sp>
      <p:sp>
        <p:nvSpPr>
          <p:cNvPr id="19" name="box-92"/>
          <p:cNvSpPr/>
          <p:nvPr/>
        </p:nvSpPr>
        <p:spPr>
          <a:xfrm>
            <a:off x="7296912" y="251460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20" name="text-93"/>
          <p:cNvSpPr txBox="1"/>
          <p:nvPr/>
        </p:nvSpPr>
        <p:spPr>
          <a:xfrm>
            <a:off x="7434072" y="26060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 with IDs, synced with Google Tasks</a:t>
            </a:r>
            <a:endParaRPr lang="en-US" sz="1300" dirty="0"/>
          </a:p>
        </p:txBody>
      </p:sp>
      <p:sp>
        <p:nvSpPr>
          <p:cNvPr id="21" name="box-94"/>
          <p:cNvSpPr/>
          <p:nvPr/>
        </p:nvSpPr>
        <p:spPr>
          <a:xfrm>
            <a:off x="9546336" y="1965960"/>
            <a:ext cx="2103120" cy="457200"/>
          </a:xfrm>
          <a:prstGeom prst="roundRect">
            <a:avLst>
              <a:gd name="adj" fmla="val 30000"/>
            </a:avLst>
          </a:prstGeom>
          <a:solidFill>
            <a:srgbClr val="C5221F"/>
          </a:solidFill>
          <a:ln/>
        </p:spPr>
      </p:sp>
      <p:sp>
        <p:nvSpPr>
          <p:cNvPr id="22" name="text-95"/>
          <p:cNvSpPr txBox="1"/>
          <p:nvPr/>
        </p:nvSpPr>
        <p:spPr>
          <a:xfrm>
            <a:off x="9546336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500" dirty="0"/>
          </a:p>
        </p:txBody>
      </p:sp>
      <p:sp>
        <p:nvSpPr>
          <p:cNvPr id="23" name="box-96"/>
          <p:cNvSpPr/>
          <p:nvPr/>
        </p:nvSpPr>
        <p:spPr>
          <a:xfrm>
            <a:off x="9546336" y="251460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24" name="text-97"/>
          <p:cNvSpPr txBox="1"/>
          <p:nvPr/>
        </p:nvSpPr>
        <p:spPr>
          <a:xfrm>
            <a:off x="9683496" y="26060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events, created in Google Calendar</a:t>
            </a:r>
            <a:endParaRPr lang="en-US" sz="1300" dirty="0"/>
          </a:p>
        </p:txBody>
      </p:sp>
      <p:sp>
        <p:nvSpPr>
          <p:cNvPr id="25" name="text-98"/>
          <p:cNvSpPr txBox="1"/>
          <p:nvPr/>
        </p:nvSpPr>
        <p:spPr>
          <a:xfrm>
            <a:off x="54864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by default — never locked</a:t>
            </a:r>
            <a:endParaRPr lang="en-US" sz="1400" dirty="0"/>
          </a:p>
        </p:txBody>
      </p:sp>
      <p:sp>
        <p:nvSpPr>
          <p:cNvPr id="26" name="box-99"/>
          <p:cNvSpPr/>
          <p:nvPr/>
        </p:nvSpPr>
        <p:spPr>
          <a:xfrm>
            <a:off x="548640" y="4572000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F1F3F4"/>
          </a:solidFill>
          <a:ln/>
        </p:spPr>
      </p:sp>
      <p:sp>
        <p:nvSpPr>
          <p:cNvPr id="27" name="text-100"/>
          <p:cNvSpPr txBox="1"/>
          <p:nvPr/>
        </p:nvSpPr>
        <p:spPr>
          <a:xfrm>
            <a:off x="685800" y="463600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history</a:t>
            </a:r>
            <a:endParaRPr lang="en-US" sz="1400" dirty="0"/>
          </a:p>
        </p:txBody>
      </p:sp>
      <p:sp>
        <p:nvSpPr>
          <p:cNvPr id="28" name="box-101"/>
          <p:cNvSpPr/>
          <p:nvPr/>
        </p:nvSpPr>
        <p:spPr>
          <a:xfrm>
            <a:off x="3355848" y="4572000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F1F3F4"/>
          </a:solidFill>
          <a:ln/>
        </p:spPr>
      </p:sp>
      <p:sp>
        <p:nvSpPr>
          <p:cNvPr id="29" name="text-102"/>
          <p:cNvSpPr txBox="1"/>
          <p:nvPr/>
        </p:nvSpPr>
        <p:spPr>
          <a:xfrm>
            <a:off x="3493008" y="463600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defaults</a:t>
            </a:r>
            <a:endParaRPr lang="en-US" sz="1400" dirty="0"/>
          </a:p>
        </p:txBody>
      </p:sp>
      <p:sp>
        <p:nvSpPr>
          <p:cNvPr id="30" name="box-103"/>
          <p:cNvSpPr/>
          <p:nvPr/>
        </p:nvSpPr>
        <p:spPr>
          <a:xfrm>
            <a:off x="6163056" y="4572000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F1F3F4"/>
          </a:solidFill>
          <a:ln/>
        </p:spPr>
      </p:sp>
      <p:sp>
        <p:nvSpPr>
          <p:cNvPr id="31" name="text-104"/>
          <p:cNvSpPr txBox="1"/>
          <p:nvPr/>
        </p:nvSpPr>
        <p:spPr>
          <a:xfrm>
            <a:off x="6300216" y="463600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absences</a:t>
            </a:r>
            <a:endParaRPr lang="en-US" sz="1400" dirty="0"/>
          </a:p>
        </p:txBody>
      </p:sp>
      <p:sp>
        <p:nvSpPr>
          <p:cNvPr id="32" name="box-105"/>
          <p:cNvSpPr/>
          <p:nvPr/>
        </p:nvSpPr>
        <p:spPr>
          <a:xfrm>
            <a:off x="8970264" y="4572000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F1F3F4"/>
          </a:solidFill>
          <a:ln/>
        </p:spPr>
      </p:sp>
      <p:sp>
        <p:nvSpPr>
          <p:cNvPr id="33" name="text-106"/>
          <p:cNvSpPr txBox="1"/>
          <p:nvPr/>
        </p:nvSpPr>
        <p:spPr>
          <a:xfrm>
            <a:off x="9107424" y="463600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Log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record</a:t>
            </a:r>
            <a:endParaRPr lang="en-US" sz="1400" dirty="0"/>
          </a:p>
        </p:txBody>
      </p:sp>
      <p:sp>
        <p:nvSpPr>
          <p:cNvPr id="34" name="box-107"/>
          <p:cNvSpPr/>
          <p:nvPr/>
        </p:nvSpPr>
        <p:spPr>
          <a:xfrm>
            <a:off x="548640" y="53218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F1F3F4"/>
          </a:solidFill>
          <a:ln/>
        </p:spPr>
      </p:sp>
      <p:sp>
        <p:nvSpPr>
          <p:cNvPr id="35" name="text-108"/>
          <p:cNvSpPr txBox="1"/>
          <p:nvPr/>
        </p:nvSpPr>
        <p:spPr>
          <a:xfrm>
            <a:off x="685800" y="538581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+ interim cover</a:t>
            </a:r>
            <a:endParaRPr lang="en-US" sz="1400" dirty="0"/>
          </a:p>
        </p:txBody>
      </p:sp>
      <p:sp>
        <p:nvSpPr>
          <p:cNvPr id="36" name="box-109"/>
          <p:cNvSpPr/>
          <p:nvPr/>
        </p:nvSpPr>
        <p:spPr>
          <a:xfrm>
            <a:off x="3355848" y="53218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F1F3F4"/>
          </a:solidFill>
          <a:ln/>
        </p:spPr>
      </p:sp>
      <p:sp>
        <p:nvSpPr>
          <p:cNvPr id="37" name="text-110"/>
          <p:cNvSpPr txBox="1"/>
          <p:nvPr/>
        </p:nvSpPr>
        <p:spPr>
          <a:xfrm>
            <a:off x="3493008" y="538581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and types</a:t>
            </a:r>
            <a:endParaRPr lang="en-US" sz="1400" dirty="0"/>
          </a:p>
        </p:txBody>
      </p:sp>
      <p:sp>
        <p:nvSpPr>
          <p:cNvPr id="38" name="box-111"/>
          <p:cNvSpPr/>
          <p:nvPr/>
        </p:nvSpPr>
        <p:spPr>
          <a:xfrm>
            <a:off x="6163056" y="53218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F1F3F4"/>
          </a:solidFill>
          <a:ln/>
        </p:spPr>
      </p:sp>
      <p:sp>
        <p:nvSpPr>
          <p:cNvPr id="39" name="text-112"/>
          <p:cNvSpPr txBox="1"/>
          <p:nvPr/>
        </p:nvSpPr>
        <p:spPr>
          <a:xfrm>
            <a:off x="6300216" y="538581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holidays</a:t>
            </a:r>
            <a:endParaRPr lang="en-US" sz="1400" dirty="0"/>
          </a:p>
        </p:txBody>
      </p:sp>
      <p:sp>
        <p:nvSpPr>
          <p:cNvPr id="40" name="box-113"/>
          <p:cNvSpPr/>
          <p:nvPr/>
        </p:nvSpPr>
        <p:spPr>
          <a:xfrm>
            <a:off x="8970264" y="5321808"/>
            <a:ext cx="2651760" cy="621792"/>
          </a:xfrm>
          <a:prstGeom prst="roundRect">
            <a:avLst>
              <a:gd name="adj" fmla="val 11765"/>
            </a:avLst>
          </a:prstGeom>
          <a:solidFill>
            <a:srgbClr val="F1F3F4"/>
          </a:solidFill>
          <a:ln/>
        </p:spPr>
      </p:sp>
      <p:sp>
        <p:nvSpPr>
          <p:cNvPr id="41" name="text-114"/>
          <p:cNvSpPr txBox="1"/>
          <p:nvPr/>
        </p:nvSpPr>
        <p:spPr>
          <a:xfrm>
            <a:off x="9107424" y="538581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for Looker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starts from the Project Management menu</a:t>
            </a:r>
            <a:endParaRPr lang="en-US" sz="3200" dirty="0"/>
          </a:p>
        </p:txBody>
      </p:sp>
      <p:sp>
        <p:nvSpPr>
          <p:cNvPr id="3" name="pill-115"/>
          <p:cNvSpPr/>
          <p:nvPr/>
        </p:nvSpPr>
        <p:spPr>
          <a:xfrm>
            <a:off x="548640" y="274320"/>
            <a:ext cx="223113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box-116"/>
          <p:cNvSpPr/>
          <p:nvPr/>
        </p:nvSpPr>
        <p:spPr>
          <a:xfrm>
            <a:off x="548640" y="1645920"/>
            <a:ext cx="4206240" cy="434340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text-117"/>
          <p:cNvSpPr txBox="1"/>
          <p:nvPr/>
        </p:nvSpPr>
        <p:spPr>
          <a:xfrm>
            <a:off x="77724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 ▾</a:t>
            </a:r>
            <a:endParaRPr lang="en-US" sz="1500" dirty="0"/>
          </a:p>
        </p:txBody>
      </p:sp>
      <p:sp>
        <p:nvSpPr>
          <p:cNvPr id="6" name="text-118"/>
          <p:cNvSpPr txBox="1"/>
          <p:nvPr/>
        </p:nvSpPr>
        <p:spPr>
          <a:xfrm>
            <a:off x="777240" y="2286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/ Upgrade Spreadsheet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743200"/>
            <a:ext cx="3749040" cy="0"/>
          </a:xfrm>
          <a:prstGeom prst="line">
            <a:avLst/>
          </a:prstGeom>
          <a:noFill/>
          <a:ln w="12700">
            <a:solidFill>
              <a:srgbClr val="DADCE0"/>
            </a:solidFill>
            <a:prstDash val="solid"/>
          </a:ln>
        </p:spPr>
      </p:sp>
      <p:sp>
        <p:nvSpPr>
          <p:cNvPr id="8" name="text-119"/>
          <p:cNvSpPr txBox="1"/>
          <p:nvPr/>
        </p:nvSpPr>
        <p:spPr>
          <a:xfrm>
            <a:off x="777240" y="282549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Presence &amp; Leaves</a:t>
            </a:r>
            <a:endParaRPr lang="en-US" sz="1500" dirty="0"/>
          </a:p>
        </p:txBody>
      </p:sp>
      <p:sp>
        <p:nvSpPr>
          <p:cNvPr id="9" name="text-120"/>
          <p:cNvSpPr txBox="1"/>
          <p:nvPr/>
        </p:nvSpPr>
        <p:spPr>
          <a:xfrm>
            <a:off x="777240" y="32278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&amp; Contracts</a:t>
            </a:r>
            <a:endParaRPr lang="en-US" sz="1500" dirty="0"/>
          </a:p>
        </p:txBody>
      </p:sp>
      <p:sp>
        <p:nvSpPr>
          <p:cNvPr id="10" name="text-121"/>
          <p:cNvSpPr txBox="1"/>
          <p:nvPr/>
        </p:nvSpPr>
        <p:spPr>
          <a:xfrm>
            <a:off x="777240" y="36301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Backups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4087368"/>
            <a:ext cx="3749040" cy="0"/>
          </a:xfrm>
          <a:prstGeom prst="line">
            <a:avLst/>
          </a:prstGeom>
          <a:noFill/>
          <a:ln w="12700">
            <a:solidFill>
              <a:srgbClr val="DADCE0"/>
            </a:solidFill>
            <a:prstDash val="solid"/>
          </a:ln>
        </p:spPr>
      </p:sp>
      <p:sp>
        <p:nvSpPr>
          <p:cNvPr id="12" name="text-122"/>
          <p:cNvSpPr txBox="1"/>
          <p:nvPr/>
        </p:nvSpPr>
        <p:spPr>
          <a:xfrm>
            <a:off x="777240" y="416966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Workspace</a:t>
            </a:r>
            <a:endParaRPr lang="en-US" sz="1500" dirty="0"/>
          </a:p>
        </p:txBody>
      </p:sp>
      <p:sp>
        <p:nvSpPr>
          <p:cNvPr id="13" name="text-123"/>
          <p:cNvSpPr txBox="1"/>
          <p:nvPr/>
        </p:nvSpPr>
        <p:spPr>
          <a:xfrm>
            <a:off x="777240" y="4572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Locations</a:t>
            </a:r>
            <a:endParaRPr lang="en-US" sz="1500" dirty="0"/>
          </a:p>
        </p:txBody>
      </p:sp>
      <p:sp>
        <p:nvSpPr>
          <p:cNvPr id="14" name="text-124"/>
          <p:cNvSpPr txBox="1"/>
          <p:nvPr/>
        </p:nvSpPr>
        <p:spPr>
          <a:xfrm>
            <a:off x="777240" y="497433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Holidays</a:t>
            </a:r>
            <a:endParaRPr lang="en-US" sz="1500" dirty="0"/>
          </a:p>
        </p:txBody>
      </p:sp>
      <p:graphicFrame>
        <p:nvGraphicFramePr>
          <p:cNvPr id="7" name="table-1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645920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Initialize / Upgrade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Builds or repairs every table, installs the triggers, runs a full sync, shows the five tabs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 Presence &amp; Leaves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Sidebar: set your weekly routine or declare a leave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&amp; Contracts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Sidebar: add a person, record a new contract, end one, edit contact details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Interim Backups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Sidebar: cover a project while its lead is away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Workspace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of everything that needs attention, each with a link to the fix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Locations / Holidays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 the hidden Locations or Holidays tab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terms used throughout the sheet</a:t>
            </a:r>
            <a:endParaRPr lang="en-US" sz="3200" dirty="0"/>
          </a:p>
        </p:txBody>
      </p:sp>
      <p:sp>
        <p:nvSpPr>
          <p:cNvPr id="3" name="pill-126"/>
          <p:cNvSpPr/>
          <p:nvPr/>
        </p:nvSpPr>
        <p:spPr>
          <a:xfrm>
            <a:off x="548640" y="274320"/>
            <a:ext cx="223113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box-127"/>
          <p:cNvSpPr/>
          <p:nvPr/>
        </p:nvSpPr>
        <p:spPr>
          <a:xfrm>
            <a:off x="548640" y="1645920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5F1FA"/>
          </a:solidFill>
          <a:ln/>
        </p:spPr>
      </p:sp>
      <p:sp>
        <p:nvSpPr>
          <p:cNvPr id="5" name="text-128"/>
          <p:cNvSpPr txBox="1"/>
          <p:nvPr/>
        </p:nvSpPr>
        <p:spPr>
          <a:xfrm>
            <a:off x="731520" y="16459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400" dirty="0"/>
          </a:p>
        </p:txBody>
      </p:sp>
      <p:sp>
        <p:nvSpPr>
          <p:cNvPr id="6" name="text-129"/>
          <p:cNvSpPr txBox="1"/>
          <p:nvPr/>
        </p:nvSpPr>
        <p:spPr>
          <a:xfrm>
            <a:off x="2468880" y="164592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person, identified by their Google people chip.</a:t>
            </a:r>
            <a:endParaRPr lang="en-US" sz="1400" dirty="0"/>
          </a:p>
        </p:txBody>
      </p:sp>
      <p:sp>
        <p:nvSpPr>
          <p:cNvPr id="7" name="box-130"/>
          <p:cNvSpPr/>
          <p:nvPr/>
        </p:nvSpPr>
        <p:spPr>
          <a:xfrm>
            <a:off x="6172200" y="1645920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5F1FA"/>
          </a:solidFill>
          <a:ln/>
        </p:spPr>
      </p:sp>
      <p:sp>
        <p:nvSpPr>
          <p:cNvPr id="8" name="text-131"/>
          <p:cNvSpPr txBox="1"/>
          <p:nvPr/>
        </p:nvSpPr>
        <p:spPr>
          <a:xfrm>
            <a:off x="6355080" y="16459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400" dirty="0"/>
          </a:p>
        </p:txBody>
      </p:sp>
      <p:sp>
        <p:nvSpPr>
          <p:cNvPr id="9" name="text-132"/>
          <p:cNvSpPr txBox="1"/>
          <p:nvPr/>
        </p:nvSpPr>
        <p:spPr>
          <a:xfrm>
            <a:off x="8092440" y="164592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department, dates, type and FTE of one assignment.</a:t>
            </a:r>
            <a:endParaRPr lang="en-US" sz="1400" dirty="0"/>
          </a:p>
        </p:txBody>
      </p:sp>
      <p:sp>
        <p:nvSpPr>
          <p:cNvPr id="10" name="box-133"/>
          <p:cNvSpPr/>
          <p:nvPr/>
        </p:nvSpPr>
        <p:spPr>
          <a:xfrm>
            <a:off x="548640" y="2395728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1" name="text-134"/>
          <p:cNvSpPr txBox="1"/>
          <p:nvPr/>
        </p:nvSpPr>
        <p:spPr>
          <a:xfrm>
            <a:off x="731520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endParaRPr lang="en-US" sz="1400" dirty="0"/>
          </a:p>
        </p:txBody>
      </p:sp>
      <p:sp>
        <p:nvSpPr>
          <p:cNvPr id="12" name="text-135"/>
          <p:cNvSpPr txBox="1"/>
          <p:nvPr/>
        </p:nvSpPr>
        <p:spPr>
          <a:xfrm>
            <a:off x="2468880" y="239572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half-day: morning (AM) or afternoon (PM).</a:t>
            </a:r>
            <a:endParaRPr lang="en-US" sz="1400" dirty="0"/>
          </a:p>
        </p:txBody>
      </p:sp>
      <p:sp>
        <p:nvSpPr>
          <p:cNvPr id="13" name="box-136"/>
          <p:cNvSpPr/>
          <p:nvPr/>
        </p:nvSpPr>
        <p:spPr>
          <a:xfrm>
            <a:off x="6172200" y="2395728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4" name="text-137"/>
          <p:cNvSpPr txBox="1"/>
          <p:nvPr/>
        </p:nvSpPr>
        <p:spPr>
          <a:xfrm>
            <a:off x="6355080" y="2395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Location</a:t>
            </a:r>
            <a:endParaRPr lang="en-US" sz="1400" dirty="0"/>
          </a:p>
        </p:txBody>
      </p:sp>
      <p:sp>
        <p:nvSpPr>
          <p:cNvPr id="15" name="text-138"/>
          <p:cNvSpPr txBox="1"/>
          <p:nvPr/>
        </p:nvSpPr>
        <p:spPr>
          <a:xfrm>
            <a:off x="8092440" y="239572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 type Office, Client site or Remote.</a:t>
            </a:r>
            <a:endParaRPr lang="en-US" sz="1400" dirty="0"/>
          </a:p>
        </p:txBody>
      </p:sp>
      <p:sp>
        <p:nvSpPr>
          <p:cNvPr id="16" name="box-139"/>
          <p:cNvSpPr/>
          <p:nvPr/>
        </p:nvSpPr>
        <p:spPr>
          <a:xfrm>
            <a:off x="548640" y="3145536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5F1FA"/>
          </a:solidFill>
          <a:ln/>
        </p:spPr>
      </p:sp>
      <p:sp>
        <p:nvSpPr>
          <p:cNvPr id="17" name="text-140"/>
          <p:cNvSpPr txBox="1"/>
          <p:nvPr/>
        </p:nvSpPr>
        <p:spPr>
          <a:xfrm>
            <a:off x="731520" y="314553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400" dirty="0"/>
          </a:p>
        </p:txBody>
      </p:sp>
      <p:sp>
        <p:nvSpPr>
          <p:cNvPr id="18" name="text-141"/>
          <p:cNvSpPr txBox="1"/>
          <p:nvPr/>
        </p:nvSpPr>
        <p:spPr>
          <a:xfrm>
            <a:off x="2468880" y="3145536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AM/PM locations per weekday, from a start date.</a:t>
            </a:r>
            <a:endParaRPr lang="en-US" sz="1400" dirty="0"/>
          </a:p>
        </p:txBody>
      </p:sp>
      <p:sp>
        <p:nvSpPr>
          <p:cNvPr id="19" name="box-142"/>
          <p:cNvSpPr/>
          <p:nvPr/>
        </p:nvSpPr>
        <p:spPr>
          <a:xfrm>
            <a:off x="6172200" y="3145536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5F1FA"/>
          </a:solidFill>
          <a:ln/>
        </p:spPr>
      </p:sp>
      <p:sp>
        <p:nvSpPr>
          <p:cNvPr id="20" name="text-143"/>
          <p:cNvSpPr txBox="1"/>
          <p:nvPr/>
        </p:nvSpPr>
        <p:spPr>
          <a:xfrm>
            <a:off x="6355080" y="314553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400" dirty="0"/>
          </a:p>
        </p:txBody>
      </p:sp>
      <p:sp>
        <p:nvSpPr>
          <p:cNvPr id="21" name="text-144"/>
          <p:cNvSpPr txBox="1"/>
          <p:nvPr/>
        </p:nvSpPr>
        <p:spPr>
          <a:xfrm>
            <a:off x="8092440" y="3145536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Vacation, sick, parental or unpaid; Requested, Approved or Cancelled.</a:t>
            </a:r>
            <a:endParaRPr lang="en-US" sz="1400" dirty="0"/>
          </a:p>
        </p:txBody>
      </p:sp>
      <p:sp>
        <p:nvSpPr>
          <p:cNvPr id="22" name="box-145"/>
          <p:cNvSpPr/>
          <p:nvPr/>
        </p:nvSpPr>
        <p:spPr>
          <a:xfrm>
            <a:off x="548640" y="3895344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3" name="text-146"/>
          <p:cNvSpPr txBox="1"/>
          <p:nvPr/>
        </p:nvSpPr>
        <p:spPr>
          <a:xfrm>
            <a:off x="731520" y="389534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Log</a:t>
            </a:r>
            <a:endParaRPr lang="en-US" sz="1400" dirty="0"/>
          </a:p>
        </p:txBody>
      </p:sp>
      <p:sp>
        <p:nvSpPr>
          <p:cNvPr id="24" name="text-147"/>
          <p:cNvSpPr txBox="1"/>
          <p:nvPr/>
        </p:nvSpPr>
        <p:spPr>
          <a:xfrm>
            <a:off x="2468880" y="3895344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Member was, per day, up to today.</a:t>
            </a:r>
            <a:endParaRPr lang="en-US" sz="1400" dirty="0"/>
          </a:p>
        </p:txBody>
      </p:sp>
      <p:sp>
        <p:nvSpPr>
          <p:cNvPr id="25" name="box-148"/>
          <p:cNvSpPr/>
          <p:nvPr/>
        </p:nvSpPr>
        <p:spPr>
          <a:xfrm>
            <a:off x="6172200" y="3895344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text-149"/>
          <p:cNvSpPr txBox="1"/>
          <p:nvPr/>
        </p:nvSpPr>
        <p:spPr>
          <a:xfrm>
            <a:off x="6355080" y="389534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Holiday</a:t>
            </a:r>
            <a:endParaRPr lang="en-US" sz="1400" dirty="0"/>
          </a:p>
        </p:txBody>
      </p:sp>
      <p:sp>
        <p:nvSpPr>
          <p:cNvPr id="27" name="text-150"/>
          <p:cNvSpPr txBox="1"/>
          <p:nvPr/>
        </p:nvSpPr>
        <p:spPr>
          <a:xfrm>
            <a:off x="8092440" y="3895344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in Holidays, treated like a weekend everywhere.</a:t>
            </a:r>
            <a:endParaRPr lang="en-US" sz="1400" dirty="0"/>
          </a:p>
        </p:txBody>
      </p:sp>
      <p:sp>
        <p:nvSpPr>
          <p:cNvPr id="28" name="box-151"/>
          <p:cNvSpPr/>
          <p:nvPr/>
        </p:nvSpPr>
        <p:spPr>
          <a:xfrm>
            <a:off x="548640" y="4645152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5F1FA"/>
          </a:solidFill>
          <a:ln/>
        </p:spPr>
      </p:sp>
      <p:sp>
        <p:nvSpPr>
          <p:cNvPr id="29" name="text-152"/>
          <p:cNvSpPr txBox="1"/>
          <p:nvPr/>
        </p:nvSpPr>
        <p:spPr>
          <a:xfrm>
            <a:off x="731520" y="464515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Backup</a:t>
            </a:r>
            <a:endParaRPr lang="en-US" sz="1400" dirty="0"/>
          </a:p>
        </p:txBody>
      </p:sp>
      <p:sp>
        <p:nvSpPr>
          <p:cNvPr id="30" name="text-153"/>
          <p:cNvSpPr txBox="1"/>
          <p:nvPr/>
        </p:nvSpPr>
        <p:spPr>
          <a:xfrm>
            <a:off x="2468880" y="4645152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permanent second person on a project.</a:t>
            </a:r>
            <a:endParaRPr lang="en-US" sz="1400" dirty="0"/>
          </a:p>
        </p:txBody>
      </p:sp>
      <p:sp>
        <p:nvSpPr>
          <p:cNvPr id="31" name="box-154"/>
          <p:cNvSpPr/>
          <p:nvPr/>
        </p:nvSpPr>
        <p:spPr>
          <a:xfrm>
            <a:off x="6172200" y="4645152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5F1FA"/>
          </a:solidFill>
          <a:ln/>
        </p:spPr>
      </p:sp>
      <p:sp>
        <p:nvSpPr>
          <p:cNvPr id="32" name="text-155"/>
          <p:cNvSpPr txBox="1"/>
          <p:nvPr/>
        </p:nvSpPr>
        <p:spPr>
          <a:xfrm>
            <a:off x="6355080" y="464515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Backup</a:t>
            </a:r>
            <a:endParaRPr lang="en-US" sz="1400" dirty="0"/>
          </a:p>
        </p:txBody>
      </p:sp>
      <p:sp>
        <p:nvSpPr>
          <p:cNvPr id="33" name="text-156"/>
          <p:cNvSpPr txBox="1"/>
          <p:nvPr/>
        </p:nvSpPr>
        <p:spPr>
          <a:xfrm>
            <a:off x="8092440" y="4645152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dated replacement covering a specific absence.</a:t>
            </a:r>
            <a:endParaRPr lang="en-US" sz="1400" dirty="0"/>
          </a:p>
        </p:txBody>
      </p:sp>
      <p:sp>
        <p:nvSpPr>
          <p:cNvPr id="34" name="box-157"/>
          <p:cNvSpPr/>
          <p:nvPr/>
        </p:nvSpPr>
        <p:spPr>
          <a:xfrm>
            <a:off x="548640" y="5394960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-158"/>
          <p:cNvSpPr txBox="1"/>
          <p:nvPr/>
        </p:nvSpPr>
        <p:spPr>
          <a:xfrm>
            <a:off x="731520" y="53949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charge today</a:t>
            </a:r>
            <a:endParaRPr lang="en-US" sz="1400" dirty="0"/>
          </a:p>
        </p:txBody>
      </p:sp>
      <p:sp>
        <p:nvSpPr>
          <p:cNvPr id="36" name="text-159"/>
          <p:cNvSpPr txBox="1"/>
          <p:nvPr/>
        </p:nvSpPr>
        <p:spPr>
          <a:xfrm>
            <a:off x="2468880" y="53949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else interim, else backup, else “⚠ Nobody available”.</a:t>
            </a:r>
            <a:endParaRPr lang="en-US" sz="1400" dirty="0"/>
          </a:p>
        </p:txBody>
      </p:sp>
      <p:sp>
        <p:nvSpPr>
          <p:cNvPr id="37" name="box-160"/>
          <p:cNvSpPr/>
          <p:nvPr/>
        </p:nvSpPr>
        <p:spPr>
          <a:xfrm>
            <a:off x="6172200" y="5394960"/>
            <a:ext cx="5440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text-161"/>
          <p:cNvSpPr txBox="1"/>
          <p:nvPr/>
        </p:nvSpPr>
        <p:spPr>
          <a:xfrm>
            <a:off x="6355080" y="53949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Undeclared Day</a:t>
            </a:r>
            <a:endParaRPr lang="en-US" sz="1400" dirty="0"/>
          </a:p>
        </p:txBody>
      </p:sp>
      <p:sp>
        <p:nvSpPr>
          <p:cNvPr id="39" name="text-162"/>
          <p:cNvSpPr txBox="1"/>
          <p:nvPr/>
        </p:nvSpPr>
        <p:spPr>
          <a:xfrm>
            <a:off x="8092440" y="53949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day this week with no entry, routine or leave.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Colours mean the same thing everywhere</a:t>
            </a:r>
            <a:endParaRPr lang="en-US" sz="3200" dirty="0"/>
          </a:p>
        </p:txBody>
      </p:sp>
      <p:sp>
        <p:nvSpPr>
          <p:cNvPr id="3" name="pill-163"/>
          <p:cNvSpPr/>
          <p:nvPr/>
        </p:nvSpPr>
        <p:spPr>
          <a:xfrm>
            <a:off x="548640" y="274320"/>
            <a:ext cx="223113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box-164"/>
          <p:cNvSpPr/>
          <p:nvPr/>
        </p:nvSpPr>
        <p:spPr>
          <a:xfrm>
            <a:off x="548640" y="169164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F3E8FD"/>
          </a:solidFill>
          <a:ln/>
        </p:spPr>
      </p:sp>
      <p:sp>
        <p:nvSpPr>
          <p:cNvPr id="5" name="text-165"/>
          <p:cNvSpPr txBox="1"/>
          <p:nvPr/>
        </p:nvSpPr>
        <p:spPr>
          <a:xfrm>
            <a:off x="685800" y="1828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</a:t>
            </a:r>
            <a:endParaRPr lang="en-US" sz="1800" dirty="0"/>
          </a:p>
        </p:txBody>
      </p:sp>
      <p:sp>
        <p:nvSpPr>
          <p:cNvPr id="6" name="text-166"/>
          <p:cNvSpPr txBox="1"/>
          <p:nvPr/>
        </p:nvSpPr>
        <p:spPr>
          <a:xfrm>
            <a:off x="685800" y="2331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OneRoof</a:t>
            </a:r>
            <a:endParaRPr lang="en-US" sz="1300" dirty="0"/>
          </a:p>
        </p:txBody>
      </p:sp>
      <p:sp>
        <p:nvSpPr>
          <p:cNvPr id="7" name="box-167"/>
          <p:cNvSpPr/>
          <p:nvPr/>
        </p:nvSpPr>
        <p:spPr>
          <a:xfrm>
            <a:off x="2423160" y="169164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E8F0FE"/>
          </a:solidFill>
          <a:ln/>
        </p:spPr>
      </p:sp>
      <p:sp>
        <p:nvSpPr>
          <p:cNvPr id="8" name="text-168"/>
          <p:cNvSpPr txBox="1"/>
          <p:nvPr/>
        </p:nvSpPr>
        <p:spPr>
          <a:xfrm>
            <a:off x="2560320" y="1828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6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site</a:t>
            </a:r>
            <a:endParaRPr lang="en-US" sz="1800" dirty="0"/>
          </a:p>
        </p:txBody>
      </p:sp>
      <p:sp>
        <p:nvSpPr>
          <p:cNvPr id="9" name="text-169"/>
          <p:cNvSpPr txBox="1"/>
          <p:nvPr/>
        </p:nvSpPr>
        <p:spPr>
          <a:xfrm>
            <a:off x="2560320" y="2331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6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JLL · C04 · C60</a:t>
            </a:r>
            <a:endParaRPr lang="en-US" sz="1300" dirty="0"/>
          </a:p>
        </p:txBody>
      </p:sp>
      <p:sp>
        <p:nvSpPr>
          <p:cNvPr id="10" name="box-170"/>
          <p:cNvSpPr/>
          <p:nvPr/>
        </p:nvSpPr>
        <p:spPr>
          <a:xfrm>
            <a:off x="4297680" y="169164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E6F4EA"/>
          </a:solidFill>
          <a:ln/>
        </p:spPr>
      </p:sp>
      <p:sp>
        <p:nvSpPr>
          <p:cNvPr id="11" name="text-171"/>
          <p:cNvSpPr txBox="1"/>
          <p:nvPr/>
        </p:nvSpPr>
        <p:spPr>
          <a:xfrm>
            <a:off x="4434840" y="1828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</a:t>
            </a:r>
            <a:endParaRPr lang="en-US" sz="1800" dirty="0"/>
          </a:p>
        </p:txBody>
      </p:sp>
      <p:sp>
        <p:nvSpPr>
          <p:cNvPr id="12" name="text-172"/>
          <p:cNvSpPr txBox="1"/>
          <p:nvPr/>
        </p:nvSpPr>
        <p:spPr>
          <a:xfrm>
            <a:off x="4434840" y="2331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1300" dirty="0"/>
          </a:p>
        </p:txBody>
      </p:sp>
      <p:sp>
        <p:nvSpPr>
          <p:cNvPr id="13" name="box-173"/>
          <p:cNvSpPr/>
          <p:nvPr/>
        </p:nvSpPr>
        <p:spPr>
          <a:xfrm>
            <a:off x="6172200" y="169164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FCE8E6"/>
          </a:solidFill>
          <a:ln/>
        </p:spPr>
      </p:sp>
      <p:sp>
        <p:nvSpPr>
          <p:cNvPr id="14" name="text-174"/>
          <p:cNvSpPr txBox="1"/>
          <p:nvPr/>
        </p:nvSpPr>
        <p:spPr>
          <a:xfrm>
            <a:off x="6309360" y="1828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</a:t>
            </a:r>
            <a:endParaRPr lang="en-US" sz="1800" dirty="0"/>
          </a:p>
        </p:txBody>
      </p:sp>
      <p:sp>
        <p:nvSpPr>
          <p:cNvPr id="15" name="text-175"/>
          <p:cNvSpPr txBox="1"/>
          <p:nvPr/>
        </p:nvSpPr>
        <p:spPr>
          <a:xfrm>
            <a:off x="6309360" y="2331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Vacation · Sick Leave …</a:t>
            </a:r>
            <a:endParaRPr lang="en-US" sz="1300" dirty="0"/>
          </a:p>
        </p:txBody>
      </p:sp>
      <p:sp>
        <p:nvSpPr>
          <p:cNvPr id="16" name="box-176"/>
          <p:cNvSpPr/>
          <p:nvPr/>
        </p:nvSpPr>
        <p:spPr>
          <a:xfrm>
            <a:off x="8046720" y="169164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F1F3F4"/>
          </a:solidFill>
          <a:ln/>
        </p:spPr>
      </p:sp>
      <p:sp>
        <p:nvSpPr>
          <p:cNvPr id="17" name="text-177"/>
          <p:cNvSpPr txBox="1"/>
          <p:nvPr/>
        </p:nvSpPr>
        <p:spPr>
          <a:xfrm>
            <a:off x="8183880" y="1828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</a:t>
            </a:r>
            <a:endParaRPr lang="en-US" sz="1800" dirty="0"/>
          </a:p>
        </p:txBody>
      </p:sp>
      <p:sp>
        <p:nvSpPr>
          <p:cNvPr id="18" name="text-178"/>
          <p:cNvSpPr txBox="1"/>
          <p:nvPr/>
        </p:nvSpPr>
        <p:spPr>
          <a:xfrm>
            <a:off x="8183880" y="2331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· Public holiday</a:t>
            </a:r>
            <a:endParaRPr lang="en-US" sz="1300" dirty="0"/>
          </a:p>
        </p:txBody>
      </p:sp>
      <p:sp>
        <p:nvSpPr>
          <p:cNvPr id="19" name="box-179"/>
          <p:cNvSpPr/>
          <p:nvPr/>
        </p:nvSpPr>
        <p:spPr>
          <a:xfrm>
            <a:off x="9921240" y="169164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FEF7E0"/>
          </a:solidFill>
          <a:ln/>
        </p:spPr>
      </p:sp>
      <p:sp>
        <p:nvSpPr>
          <p:cNvPr id="20" name="text-180"/>
          <p:cNvSpPr txBox="1"/>
          <p:nvPr/>
        </p:nvSpPr>
        <p:spPr>
          <a:xfrm>
            <a:off x="10058400" y="1828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Logged</a:t>
            </a:r>
            <a:endParaRPr lang="en-US" sz="1800" dirty="0"/>
          </a:p>
        </p:txBody>
      </p:sp>
      <p:sp>
        <p:nvSpPr>
          <p:cNvPr id="21" name="text-181"/>
          <p:cNvSpPr txBox="1"/>
          <p:nvPr/>
        </p:nvSpPr>
        <p:spPr>
          <a:xfrm>
            <a:off x="10058400" y="2331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0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entry for today yet</a:t>
            </a:r>
            <a:endParaRPr lang="en-US" sz="1300" dirty="0"/>
          </a:p>
        </p:txBody>
      </p:sp>
      <p:sp>
        <p:nvSpPr>
          <p:cNvPr id="22" name="text-182"/>
          <p:cNvSpPr txBox="1"/>
          <p:nvPr/>
        </p:nvSpPr>
        <p:spPr>
          <a:xfrm>
            <a:off x="548640" y="3291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colours are driven by each location's Type in the Locations tab, so a new client site is blue as soon as it is listed. They appear in Weekly Presence and in the Members “Today” column.</a:t>
            </a:r>
            <a:endParaRPr lang="en-US" sz="1500" dirty="0"/>
          </a:p>
        </p:txBody>
      </p:sp>
      <p:sp>
        <p:nvSpPr>
          <p:cNvPr id="23" name="box-183"/>
          <p:cNvSpPr/>
          <p:nvPr/>
        </p:nvSpPr>
        <p:spPr>
          <a:xfrm>
            <a:off x="548640" y="420624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box-184"/>
          <p:cNvSpPr/>
          <p:nvPr/>
        </p:nvSpPr>
        <p:spPr>
          <a:xfrm>
            <a:off x="777240" y="4434840"/>
            <a:ext cx="3017520" cy="411480"/>
          </a:xfrm>
          <a:prstGeom prst="roundRect">
            <a:avLst>
              <a:gd name="adj" fmla="val 8889"/>
            </a:avLst>
          </a:prstGeom>
          <a:solidFill>
            <a:srgbClr val="FCE8E6"/>
          </a:solidFill>
          <a:ln/>
        </p:spPr>
      </p:sp>
      <p:sp>
        <p:nvSpPr>
          <p:cNvPr id="25" name="text-185"/>
          <p:cNvSpPr txBox="1"/>
          <p:nvPr/>
        </p:nvSpPr>
        <p:spPr>
          <a:xfrm>
            <a:off x="868680" y="4434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row red</a:t>
            </a:r>
            <a:endParaRPr lang="en-US" sz="1400" dirty="0"/>
          </a:p>
        </p:txBody>
      </p:sp>
      <p:sp>
        <p:nvSpPr>
          <p:cNvPr id="26" name="text-186"/>
          <p:cNvSpPr txBox="1"/>
          <p:nvPr/>
        </p:nvSpPr>
        <p:spPr>
          <a:xfrm>
            <a:off x="777240" y="4983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conflict: approved absences leave a working day uncovered.</a:t>
            </a:r>
            <a:endParaRPr lang="en-US" sz="1400" dirty="0"/>
          </a:p>
        </p:txBody>
      </p:sp>
      <p:sp>
        <p:nvSpPr>
          <p:cNvPr id="27" name="box-187"/>
          <p:cNvSpPr/>
          <p:nvPr/>
        </p:nvSpPr>
        <p:spPr>
          <a:xfrm>
            <a:off x="4297680" y="420624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box-188"/>
          <p:cNvSpPr/>
          <p:nvPr/>
        </p:nvSpPr>
        <p:spPr>
          <a:xfrm>
            <a:off x="4526280" y="4434840"/>
            <a:ext cx="3017520" cy="411480"/>
          </a:xfrm>
          <a:prstGeom prst="roundRect">
            <a:avLst>
              <a:gd name="adj" fmla="val 8889"/>
            </a:avLst>
          </a:prstGeom>
          <a:solidFill>
            <a:srgbClr val="FDEBD0"/>
          </a:solidFill>
          <a:ln/>
        </p:spPr>
      </p:sp>
      <p:sp>
        <p:nvSpPr>
          <p:cNvPr id="29" name="text-189"/>
          <p:cNvSpPr txBox="1"/>
          <p:nvPr/>
        </p:nvSpPr>
        <p:spPr>
          <a:xfrm>
            <a:off x="4617720" y="4434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row orange</a:t>
            </a:r>
            <a:endParaRPr lang="en-US" sz="1400" dirty="0"/>
          </a:p>
        </p:txBody>
      </p:sp>
      <p:sp>
        <p:nvSpPr>
          <p:cNvPr id="30" name="text-190"/>
          <p:cNvSpPr txBox="1"/>
          <p:nvPr/>
        </p:nvSpPr>
        <p:spPr>
          <a:xfrm>
            <a:off x="4526280" y="4983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warning: a Requested leave would leave a day uncovered.</a:t>
            </a:r>
            <a:endParaRPr lang="en-US" sz="1400" dirty="0"/>
          </a:p>
        </p:txBody>
      </p:sp>
      <p:sp>
        <p:nvSpPr>
          <p:cNvPr id="31" name="box-191"/>
          <p:cNvSpPr/>
          <p:nvPr/>
        </p:nvSpPr>
        <p:spPr>
          <a:xfrm>
            <a:off x="8046720" y="420624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box-192"/>
          <p:cNvSpPr/>
          <p:nvPr/>
        </p:nvSpPr>
        <p:spPr>
          <a:xfrm>
            <a:off x="8275320" y="4434840"/>
            <a:ext cx="3017520" cy="411480"/>
          </a:xfrm>
          <a:prstGeom prst="roundRect">
            <a:avLst>
              <a:gd name="adj" fmla="val 8889"/>
            </a:avLst>
          </a:prstGeom>
          <a:solidFill>
            <a:srgbClr val="F8D7DA"/>
          </a:solidFill>
          <a:ln/>
        </p:spPr>
      </p:sp>
      <p:sp>
        <p:nvSpPr>
          <p:cNvPr id="33" name="text-193"/>
          <p:cNvSpPr txBox="1"/>
          <p:nvPr/>
        </p:nvSpPr>
        <p:spPr>
          <a:xfrm>
            <a:off x="8366760" y="4434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1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red with bold text</a:t>
            </a:r>
            <a:endParaRPr lang="en-US" sz="1400" dirty="0"/>
          </a:p>
        </p:txBody>
      </p:sp>
      <p:sp>
        <p:nvSpPr>
          <p:cNvPr id="34" name="text-194"/>
          <p:cNvSpPr txBox="1"/>
          <p:nvPr/>
        </p:nvSpPr>
        <p:spPr>
          <a:xfrm>
            <a:off x="8275320" y="4983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required field is empty in a row you started.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runs automatically, and when</a:t>
            </a:r>
            <a:endParaRPr lang="en-US" sz="3200" dirty="0"/>
          </a:p>
        </p:txBody>
      </p:sp>
      <p:sp>
        <p:nvSpPr>
          <p:cNvPr id="3" name="pill-195"/>
          <p:cNvSpPr/>
          <p:nvPr/>
        </p:nvSpPr>
        <p:spPr>
          <a:xfrm>
            <a:off x="548640" y="274320"/>
            <a:ext cx="223113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What the system does</a:t>
            </a:r>
            <a:endParaRPr lang="en-US" sz="1100" dirty="0"/>
          </a:p>
        </p:txBody>
      </p:sp>
      <p:sp>
        <p:nvSpPr>
          <p:cNvPr id="4" name="box-196"/>
          <p:cNvSpPr/>
          <p:nvPr/>
        </p:nvSpPr>
        <p:spPr>
          <a:xfrm>
            <a:off x="548640" y="1645920"/>
            <a:ext cx="2651760" cy="4434840"/>
          </a:xfrm>
          <a:prstGeom prst="roundRect">
            <a:avLst>
              <a:gd name="adj" fmla="val 2759"/>
            </a:avLst>
          </a:prstGeom>
          <a:solidFill>
            <a:srgbClr val="F5F1FA"/>
          </a:solidFill>
          <a:ln/>
        </p:spPr>
      </p:sp>
      <p:sp>
        <p:nvSpPr>
          <p:cNvPr id="5" name="iconbg-197"/>
          <p:cNvSpPr/>
          <p:nvPr/>
        </p:nvSpPr>
        <p:spPr>
          <a:xfrm>
            <a:off x="777240" y="187452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6" name="icon-1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95221"/>
            <a:ext cx="307238" cy="307238"/>
          </a:xfrm>
          <a:prstGeom prst="rect">
            <a:avLst/>
          </a:prstGeom>
        </p:spPr>
      </p:pic>
      <p:sp>
        <p:nvSpPr>
          <p:cNvPr id="7" name="pill-199"/>
          <p:cNvSpPr/>
          <p:nvPr/>
        </p:nvSpPr>
        <p:spPr>
          <a:xfrm>
            <a:off x="1463040" y="2011680"/>
            <a:ext cx="1371600" cy="292608"/>
          </a:xfrm>
          <a:prstGeom prst="roundRect">
            <a:avLst>
              <a:gd name="adj" fmla="val 15625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seconds</a:t>
            </a:r>
            <a:endParaRPr lang="en-US" sz="1100" dirty="0"/>
          </a:p>
        </p:txBody>
      </p:sp>
      <p:sp>
        <p:nvSpPr>
          <p:cNvPr id="8" name="text-200"/>
          <p:cNvSpPr txBox="1"/>
          <p:nvPr/>
        </p:nvSpPr>
        <p:spPr>
          <a:xfrm>
            <a:off x="77724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edit</a:t>
            </a:r>
            <a:endParaRPr lang="en-US" sz="1700" dirty="0"/>
          </a:p>
        </p:txBody>
      </p:sp>
      <p:sp>
        <p:nvSpPr>
          <p:cNvPr id="9" name="text-201"/>
          <p:cNvSpPr txBox="1"/>
          <p:nvPr/>
        </p:nvSpPr>
        <p:spPr>
          <a:xfrm>
            <a:off x="777240" y="3017520"/>
            <a:ext cx="2286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created for new tasks, events, projects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pushed to Google Tasks, events to Calendar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row refreshed from contracts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re-checked on projects, leaves, backups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required fields named in a toast</a:t>
            </a:r>
            <a:endParaRPr lang="en-US" sz="1300" dirty="0"/>
          </a:p>
        </p:txBody>
      </p:sp>
      <p:sp>
        <p:nvSpPr>
          <p:cNvPr id="10" name="box-202"/>
          <p:cNvSpPr/>
          <p:nvPr/>
        </p:nvSpPr>
        <p:spPr>
          <a:xfrm>
            <a:off x="3364992" y="1645920"/>
            <a:ext cx="2651760" cy="4434840"/>
          </a:xfrm>
          <a:prstGeom prst="roundRect">
            <a:avLst>
              <a:gd name="adj" fmla="val 2759"/>
            </a:avLst>
          </a:prstGeom>
          <a:solidFill>
            <a:srgbClr val="F5F1FA"/>
          </a:solidFill>
          <a:ln/>
        </p:spPr>
      </p:sp>
      <p:sp>
        <p:nvSpPr>
          <p:cNvPr id="11" name="iconbg-203"/>
          <p:cNvSpPr/>
          <p:nvPr/>
        </p:nvSpPr>
        <p:spPr>
          <a:xfrm>
            <a:off x="3593592" y="187452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12" name="icon-20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1995221"/>
            <a:ext cx="307238" cy="307238"/>
          </a:xfrm>
          <a:prstGeom prst="rect">
            <a:avLst/>
          </a:prstGeom>
        </p:spPr>
      </p:pic>
      <p:sp>
        <p:nvSpPr>
          <p:cNvPr id="13" name="pill-205"/>
          <p:cNvSpPr/>
          <p:nvPr/>
        </p:nvSpPr>
        <p:spPr>
          <a:xfrm>
            <a:off x="4279392" y="2011680"/>
            <a:ext cx="1371600" cy="292608"/>
          </a:xfrm>
          <a:prstGeom prst="roundRect">
            <a:avLst>
              <a:gd name="adj" fmla="val 15625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</a:t>
            </a:r>
            <a:endParaRPr lang="en-US" sz="1100" dirty="0"/>
          </a:p>
        </p:txBody>
      </p:sp>
      <p:sp>
        <p:nvSpPr>
          <p:cNvPr id="14" name="text-206"/>
          <p:cNvSpPr txBox="1"/>
          <p:nvPr/>
        </p:nvSpPr>
        <p:spPr>
          <a:xfrm>
            <a:off x="3593592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night</a:t>
            </a:r>
            <a:endParaRPr lang="en-US" sz="1700" dirty="0"/>
          </a:p>
        </p:txBody>
      </p:sp>
      <p:sp>
        <p:nvSpPr>
          <p:cNvPr id="15" name="text-207"/>
          <p:cNvSpPr txBox="1"/>
          <p:nvPr/>
        </p:nvSpPr>
        <p:spPr>
          <a:xfrm>
            <a:off x="3593592" y="3017520"/>
            <a:ext cx="2286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sync, presence compiled up to today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 and KPI Data rebuilt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check, emails and tasks for gaps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Tasks and Calendar reconciled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 seeded, birthday calendar updated</a:t>
            </a:r>
            <a:endParaRPr lang="en-US" sz="1300" dirty="0"/>
          </a:p>
        </p:txBody>
      </p:sp>
      <p:sp>
        <p:nvSpPr>
          <p:cNvPr id="16" name="box-208"/>
          <p:cNvSpPr/>
          <p:nvPr/>
        </p:nvSpPr>
        <p:spPr>
          <a:xfrm>
            <a:off x="6181344" y="1645920"/>
            <a:ext cx="2651760" cy="4434840"/>
          </a:xfrm>
          <a:prstGeom prst="roundRect">
            <a:avLst>
              <a:gd name="adj" fmla="val 2759"/>
            </a:avLst>
          </a:prstGeom>
          <a:solidFill>
            <a:srgbClr val="F5F1FA"/>
          </a:solidFill>
          <a:ln/>
        </p:spPr>
      </p:sp>
      <p:sp>
        <p:nvSpPr>
          <p:cNvPr id="17" name="iconbg-209"/>
          <p:cNvSpPr/>
          <p:nvPr/>
        </p:nvSpPr>
        <p:spPr>
          <a:xfrm>
            <a:off x="6409944" y="187452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18" name="icon-2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1995221"/>
            <a:ext cx="307238" cy="307238"/>
          </a:xfrm>
          <a:prstGeom prst="rect">
            <a:avLst/>
          </a:prstGeom>
        </p:spPr>
      </p:pic>
      <p:sp>
        <p:nvSpPr>
          <p:cNvPr id="19" name="pill-211"/>
          <p:cNvSpPr/>
          <p:nvPr/>
        </p:nvSpPr>
        <p:spPr>
          <a:xfrm>
            <a:off x="7095744" y="2011680"/>
            <a:ext cx="1371600" cy="292608"/>
          </a:xfrm>
          <a:prstGeom prst="roundRect">
            <a:avLst>
              <a:gd name="adj" fmla="val 15625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</a:t>
            </a:r>
            <a:endParaRPr lang="en-US" sz="1100" dirty="0"/>
          </a:p>
        </p:txBody>
      </p:sp>
      <p:sp>
        <p:nvSpPr>
          <p:cNvPr id="20" name="text-212"/>
          <p:cNvSpPr txBox="1"/>
          <p:nvPr/>
        </p:nvSpPr>
        <p:spPr>
          <a:xfrm>
            <a:off x="6409944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morning</a:t>
            </a:r>
            <a:endParaRPr lang="en-US" sz="1700" dirty="0"/>
          </a:p>
        </p:txBody>
      </p:sp>
      <p:sp>
        <p:nvSpPr>
          <p:cNvPr id="21" name="text-213"/>
          <p:cNvSpPr txBox="1"/>
          <p:nvPr/>
        </p:nvSpPr>
        <p:spPr>
          <a:xfrm>
            <a:off x="6409944" y="3017520"/>
            <a:ext cx="2286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to each active Member with undeclared days this week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the days and links to Weekly Presence</a:t>
            </a:r>
            <a:endParaRPr lang="en-US" sz="1300" dirty="0"/>
          </a:p>
        </p:txBody>
      </p:sp>
      <p:sp>
        <p:nvSpPr>
          <p:cNvPr id="22" name="box-214"/>
          <p:cNvSpPr/>
          <p:nvPr/>
        </p:nvSpPr>
        <p:spPr>
          <a:xfrm>
            <a:off x="8997696" y="1645920"/>
            <a:ext cx="2651760" cy="4434840"/>
          </a:xfrm>
          <a:prstGeom prst="roundRect">
            <a:avLst>
              <a:gd name="adj" fmla="val 2759"/>
            </a:avLst>
          </a:prstGeom>
          <a:solidFill>
            <a:srgbClr val="F5F1FA"/>
          </a:solidFill>
          <a:ln/>
        </p:spPr>
      </p:sp>
      <p:sp>
        <p:nvSpPr>
          <p:cNvPr id="23" name="iconbg-215"/>
          <p:cNvSpPr/>
          <p:nvPr/>
        </p:nvSpPr>
        <p:spPr>
          <a:xfrm>
            <a:off x="9226296" y="1874520"/>
            <a:ext cx="548640" cy="54864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24" name="icon-2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997" y="1995221"/>
            <a:ext cx="307238" cy="307238"/>
          </a:xfrm>
          <a:prstGeom prst="rect">
            <a:avLst/>
          </a:prstGeom>
        </p:spPr>
      </p:pic>
      <p:sp>
        <p:nvSpPr>
          <p:cNvPr id="25" name="pill-217"/>
          <p:cNvSpPr/>
          <p:nvPr/>
        </p:nvSpPr>
        <p:spPr>
          <a:xfrm>
            <a:off x="9912096" y="2011680"/>
            <a:ext cx="1371600" cy="292608"/>
          </a:xfrm>
          <a:prstGeom prst="roundRect">
            <a:avLst>
              <a:gd name="adj" fmla="val 15625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</a:t>
            </a:r>
            <a:endParaRPr lang="en-US" sz="1100" dirty="0"/>
          </a:p>
        </p:txBody>
      </p:sp>
      <p:sp>
        <p:nvSpPr>
          <p:cNvPr id="26" name="text-218"/>
          <p:cNvSpPr txBox="1"/>
          <p:nvPr/>
        </p:nvSpPr>
        <p:spPr>
          <a:xfrm>
            <a:off x="9226296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working day</a:t>
            </a:r>
            <a:endParaRPr lang="en-US" sz="1700" dirty="0"/>
          </a:p>
        </p:txBody>
      </p:sp>
      <p:sp>
        <p:nvSpPr>
          <p:cNvPr id="27" name="text-219"/>
          <p:cNvSpPr txBox="1"/>
          <p:nvPr/>
        </p:nvSpPr>
        <p:spPr>
          <a:xfrm>
            <a:off x="9226296" y="3017520"/>
            <a:ext cx="2286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announcing tomorrow's birthdays (Friday covers the weekend and Monday)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sent on weekends or public holidays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220"/>
          <p:cNvSpPr/>
          <p:nvPr/>
        </p:nvSpPr>
        <p:spPr>
          <a:xfrm>
            <a:off x="731520" y="1325880"/>
            <a:ext cx="1188720" cy="329184"/>
          </a:xfrm>
          <a:prstGeom prst="roundRect">
            <a:avLst>
              <a:gd name="adj" fmla="val 138889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it day to day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3832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For every team member. Declare your week once, change single days when plans move, and let the sheet keep projects covered.</a:t>
            </a:r>
            <a:endParaRPr lang="en-US" sz="1800" dirty="0"/>
          </a:p>
        </p:txBody>
      </p:sp>
      <p:sp>
        <p:nvSpPr>
          <p:cNvPr id="5" name="box-221"/>
          <p:cNvSpPr/>
          <p:nvPr/>
        </p:nvSpPr>
        <p:spPr>
          <a:xfrm>
            <a:off x="7680960" y="1325880"/>
            <a:ext cx="3931920" cy="4206240"/>
          </a:xfrm>
          <a:prstGeom prst="roundRect">
            <a:avLst>
              <a:gd name="adj" fmla="val 1395"/>
            </a:avLst>
          </a:prstGeom>
          <a:solidFill>
            <a:srgbClr val="2A2640"/>
          </a:solidFill>
          <a:ln/>
        </p:spPr>
      </p:sp>
      <p:sp>
        <p:nvSpPr>
          <p:cNvPr id="6" name="text-222"/>
          <p:cNvSpPr txBox="1"/>
          <p:nvPr/>
        </p:nvSpPr>
        <p:spPr>
          <a:xfrm>
            <a:off x="800100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223"/>
          <p:cNvSpPr txBox="1"/>
          <p:nvPr/>
        </p:nvSpPr>
        <p:spPr>
          <a:xfrm>
            <a:off x="8001000" y="20116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Declaring where you work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Presence &amp; Leaves sidebar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&amp; Contracts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and interim backups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and events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Workspace and emails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habits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say where you work</a:t>
            </a:r>
            <a:endParaRPr lang="en-US" sz="3200" dirty="0"/>
          </a:p>
        </p:txBody>
      </p:sp>
      <p:sp>
        <p:nvSpPr>
          <p:cNvPr id="3" name="pill-224"/>
          <p:cNvSpPr/>
          <p:nvPr/>
        </p:nvSpPr>
        <p:spPr>
          <a:xfrm>
            <a:off x="548640" y="274320"/>
            <a:ext cx="2153412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225"/>
          <p:cNvSpPr/>
          <p:nvPr/>
        </p:nvSpPr>
        <p:spPr>
          <a:xfrm>
            <a:off x="548640" y="164592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3E8FD"/>
          </a:solidFill>
          <a:ln/>
        </p:spPr>
      </p:sp>
      <p:sp>
        <p:nvSpPr>
          <p:cNvPr id="5" name="iconbg-226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22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005279"/>
            <a:ext cx="332842" cy="332842"/>
          </a:xfrm>
          <a:prstGeom prst="rect">
            <a:avLst/>
          </a:prstGeom>
        </p:spPr>
      </p:pic>
      <p:sp>
        <p:nvSpPr>
          <p:cNvPr id="7" name="text-228"/>
          <p:cNvSpPr txBox="1"/>
          <p:nvPr/>
        </p:nvSpPr>
        <p:spPr>
          <a:xfrm>
            <a:off x="1554480" y="19019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Routine</a:t>
            </a:r>
            <a:endParaRPr lang="en-US" sz="1700" dirty="0"/>
          </a:p>
        </p:txBody>
      </p:sp>
      <p:sp>
        <p:nvSpPr>
          <p:cNvPr id="8" name="text-229"/>
          <p:cNvSpPr txBox="1"/>
          <p:nvPr/>
        </p:nvSpPr>
        <p:spPr>
          <a:xfrm>
            <a:off x="1554480" y="2212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usual week</a:t>
            </a:r>
            <a:endParaRPr lang="en-US" sz="1300" dirty="0"/>
          </a:p>
        </p:txBody>
      </p:sp>
      <p:sp>
        <p:nvSpPr>
          <p:cNvPr id="9" name="text-230"/>
          <p:cNvSpPr txBox="1"/>
          <p:nvPr/>
        </p:nvSpPr>
        <p:spPr>
          <a:xfrm>
            <a:off x="822960" y="269748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 in Declare Presence &amp; Leaves: AM and PM location for each weekday, from a start date. It fills every day automatically.</a:t>
            </a:r>
            <a:endParaRPr lang="en-US" sz="1400" dirty="0"/>
          </a:p>
        </p:txBody>
      </p:sp>
      <p:sp>
        <p:nvSpPr>
          <p:cNvPr id="10" name="box-231"/>
          <p:cNvSpPr/>
          <p:nvPr/>
        </p:nvSpPr>
        <p:spPr>
          <a:xfrm>
            <a:off x="4297680" y="164592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E6F4EA"/>
          </a:solidFill>
          <a:ln/>
        </p:spPr>
      </p:sp>
      <p:sp>
        <p:nvSpPr>
          <p:cNvPr id="11" name="iconbg-232"/>
          <p:cNvSpPr/>
          <p:nvPr/>
        </p:nvSpPr>
        <p:spPr>
          <a:xfrm>
            <a:off x="4572000" y="187452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2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759" y="2005279"/>
            <a:ext cx="332842" cy="332842"/>
          </a:xfrm>
          <a:prstGeom prst="rect">
            <a:avLst/>
          </a:prstGeom>
        </p:spPr>
      </p:pic>
      <p:sp>
        <p:nvSpPr>
          <p:cNvPr id="13" name="text-234"/>
          <p:cNvSpPr txBox="1"/>
          <p:nvPr/>
        </p:nvSpPr>
        <p:spPr>
          <a:xfrm>
            <a:off x="5303520" y="19019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One-off change</a:t>
            </a:r>
            <a:endParaRPr lang="en-US" sz="1700" dirty="0"/>
          </a:p>
        </p:txBody>
      </p:sp>
      <p:sp>
        <p:nvSpPr>
          <p:cNvPr id="14" name="text-235"/>
          <p:cNvSpPr txBox="1"/>
          <p:nvPr/>
        </p:nvSpPr>
        <p:spPr>
          <a:xfrm>
            <a:off x="5303520" y="2212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half-day</a:t>
            </a:r>
            <a:endParaRPr lang="en-US" sz="1300" dirty="0"/>
          </a:p>
        </p:txBody>
      </p:sp>
      <p:sp>
        <p:nvSpPr>
          <p:cNvPr id="15" name="text-236"/>
          <p:cNvSpPr txBox="1"/>
          <p:nvPr/>
        </p:nvSpPr>
        <p:spPr>
          <a:xfrm>
            <a:off x="4572000" y="269748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your AM or PM cell in Weekly Presence. It is saved immediately as that day's record.</a:t>
            </a:r>
            <a:endParaRPr lang="en-US" sz="1400" dirty="0"/>
          </a:p>
        </p:txBody>
      </p:sp>
      <p:sp>
        <p:nvSpPr>
          <p:cNvPr id="16" name="box-237"/>
          <p:cNvSpPr/>
          <p:nvPr/>
        </p:nvSpPr>
        <p:spPr>
          <a:xfrm>
            <a:off x="8046720" y="164592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CE8E6"/>
          </a:solidFill>
          <a:ln/>
        </p:spPr>
      </p:sp>
      <p:sp>
        <p:nvSpPr>
          <p:cNvPr id="17" name="iconbg-238"/>
          <p:cNvSpPr/>
          <p:nvPr/>
        </p:nvSpPr>
        <p:spPr>
          <a:xfrm>
            <a:off x="8321040" y="187452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con-23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1799" y="2005279"/>
            <a:ext cx="332842" cy="332842"/>
          </a:xfrm>
          <a:prstGeom prst="rect">
            <a:avLst/>
          </a:prstGeom>
        </p:spPr>
      </p:pic>
      <p:sp>
        <p:nvSpPr>
          <p:cNvPr id="19" name="text-240"/>
          <p:cNvSpPr txBox="1"/>
          <p:nvPr/>
        </p:nvSpPr>
        <p:spPr>
          <a:xfrm>
            <a:off x="9052560" y="19019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Leave</a:t>
            </a:r>
            <a:endParaRPr lang="en-US" sz="1700" dirty="0"/>
          </a:p>
        </p:txBody>
      </p:sp>
      <p:sp>
        <p:nvSpPr>
          <p:cNvPr id="20" name="text-241"/>
          <p:cNvSpPr txBox="1"/>
          <p:nvPr/>
        </p:nvSpPr>
        <p:spPr>
          <a:xfrm>
            <a:off x="9052560" y="22128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absence</a:t>
            </a:r>
            <a:endParaRPr lang="en-US" sz="1300" dirty="0"/>
          </a:p>
        </p:txBody>
      </p:sp>
      <p:sp>
        <p:nvSpPr>
          <p:cNvPr id="21" name="text-242"/>
          <p:cNvSpPr txBox="1"/>
          <p:nvPr/>
        </p:nvSpPr>
        <p:spPr>
          <a:xfrm>
            <a:off x="8321040" y="2697480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it in the sidebar (Requested, then Approved). Half-days are supported with AM/PM on the first and last day.</a:t>
            </a:r>
            <a:endParaRPr lang="en-US" sz="1400" dirty="0"/>
          </a:p>
        </p:txBody>
      </p:sp>
      <p:sp>
        <p:nvSpPr>
          <p:cNvPr id="22" name="text-243"/>
          <p:cNvSpPr txBox="1"/>
          <p:nvPr/>
        </p:nvSpPr>
        <p:spPr>
          <a:xfrm>
            <a:off x="5486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wins for a given day?</a:t>
            </a:r>
            <a:endParaRPr lang="en-US" sz="1500" dirty="0"/>
          </a:p>
        </p:txBody>
      </p:sp>
      <p:sp>
        <p:nvSpPr>
          <p:cNvPr id="23" name="box-244"/>
          <p:cNvSpPr/>
          <p:nvPr/>
        </p:nvSpPr>
        <p:spPr>
          <a:xfrm>
            <a:off x="548640" y="5120640"/>
            <a:ext cx="1508760" cy="457200"/>
          </a:xfrm>
          <a:prstGeom prst="roundRect">
            <a:avLst>
              <a:gd name="adj" fmla="val 40000"/>
            </a:avLst>
          </a:prstGeom>
          <a:solidFill>
            <a:srgbClr val="137333"/>
          </a:solidFill>
          <a:ln/>
        </p:spPr>
      </p:sp>
      <p:sp>
        <p:nvSpPr>
          <p:cNvPr id="24" name="text-245"/>
          <p:cNvSpPr txBox="1"/>
          <p:nvPr/>
        </p:nvSpPr>
        <p:spPr>
          <a:xfrm>
            <a:off x="548640" y="5120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entry</a:t>
            </a:r>
            <a:endParaRPr lang="en-US" sz="1400" dirty="0"/>
          </a:p>
        </p:txBody>
      </p:sp>
      <p:sp>
        <p:nvSpPr>
          <p:cNvPr id="25" name="text-246"/>
          <p:cNvSpPr txBox="1"/>
          <p:nvPr/>
        </p:nvSpPr>
        <p:spPr>
          <a:xfrm>
            <a:off x="2103120" y="50749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box-247"/>
          <p:cNvSpPr/>
          <p:nvPr/>
        </p:nvSpPr>
        <p:spPr>
          <a:xfrm>
            <a:off x="2423160" y="5120640"/>
            <a:ext cx="1892808" cy="457200"/>
          </a:xfrm>
          <a:prstGeom prst="roundRect">
            <a:avLst>
              <a:gd name="adj" fmla="val 40000"/>
            </a:avLst>
          </a:prstGeom>
          <a:solidFill>
            <a:srgbClr val="C5221F"/>
          </a:solidFill>
          <a:ln/>
        </p:spPr>
      </p:sp>
      <p:sp>
        <p:nvSpPr>
          <p:cNvPr id="27" name="text-248"/>
          <p:cNvSpPr txBox="1"/>
          <p:nvPr/>
        </p:nvSpPr>
        <p:spPr>
          <a:xfrm>
            <a:off x="2423160" y="5120640"/>
            <a:ext cx="189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leave</a:t>
            </a:r>
            <a:endParaRPr lang="en-US" sz="1400" dirty="0"/>
          </a:p>
        </p:txBody>
      </p:sp>
      <p:sp>
        <p:nvSpPr>
          <p:cNvPr id="28" name="text-249"/>
          <p:cNvSpPr txBox="1"/>
          <p:nvPr/>
        </p:nvSpPr>
        <p:spPr>
          <a:xfrm>
            <a:off x="4361688" y="50749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9" name="box-250"/>
          <p:cNvSpPr/>
          <p:nvPr/>
        </p:nvSpPr>
        <p:spPr>
          <a:xfrm>
            <a:off x="4681728" y="5120640"/>
            <a:ext cx="1220724" cy="457200"/>
          </a:xfrm>
          <a:prstGeom prst="roundRect">
            <a:avLst>
              <a:gd name="adj" fmla="val 40000"/>
            </a:avLst>
          </a:prstGeom>
          <a:solidFill>
            <a:srgbClr val="7500C0"/>
          </a:solidFill>
          <a:ln/>
        </p:spPr>
      </p:sp>
      <p:sp>
        <p:nvSpPr>
          <p:cNvPr id="30" name="text-251"/>
          <p:cNvSpPr txBox="1"/>
          <p:nvPr/>
        </p:nvSpPr>
        <p:spPr>
          <a:xfrm>
            <a:off x="4681728" y="5120640"/>
            <a:ext cx="1220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400" dirty="0"/>
          </a:p>
        </p:txBody>
      </p:sp>
      <p:sp>
        <p:nvSpPr>
          <p:cNvPr id="31" name="text-252"/>
          <p:cNvSpPr txBox="1"/>
          <p:nvPr/>
        </p:nvSpPr>
        <p:spPr>
          <a:xfrm>
            <a:off x="5948172" y="50749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32" name="box-253"/>
          <p:cNvSpPr/>
          <p:nvPr/>
        </p:nvSpPr>
        <p:spPr>
          <a:xfrm>
            <a:off x="6268212" y="5120640"/>
            <a:ext cx="2852928" cy="457200"/>
          </a:xfrm>
          <a:prstGeom prst="roundRect">
            <a:avLst>
              <a:gd name="adj" fmla="val 40000"/>
            </a:avLst>
          </a:prstGeom>
          <a:solidFill>
            <a:srgbClr val="5F6368"/>
          </a:solidFill>
          <a:ln/>
        </p:spPr>
      </p:sp>
      <p:sp>
        <p:nvSpPr>
          <p:cNvPr id="33" name="text-254"/>
          <p:cNvSpPr txBox="1"/>
          <p:nvPr/>
        </p:nvSpPr>
        <p:spPr>
          <a:xfrm>
            <a:off x="6268212" y="512064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office (OneRoof)</a:t>
            </a:r>
            <a:endParaRPr lang="en-US" sz="1400" dirty="0"/>
          </a:p>
        </p:txBody>
      </p:sp>
      <p:sp>
        <p:nvSpPr>
          <p:cNvPr id="34" name="text-255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typed by hand is never overwritten. If you typed a day before your leave was approved, change that day in Weekly Presence.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Presence &amp; Leaves sidebar</a:t>
            </a:r>
            <a:endParaRPr lang="en-US" sz="3200" dirty="0"/>
          </a:p>
        </p:txBody>
      </p:sp>
      <p:sp>
        <p:nvSpPr>
          <p:cNvPr id="3" name="pill-256"/>
          <p:cNvSpPr/>
          <p:nvPr/>
        </p:nvSpPr>
        <p:spPr>
          <a:xfrm>
            <a:off x="548640" y="274320"/>
            <a:ext cx="2153412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257"/>
          <p:cNvSpPr/>
          <p:nvPr/>
        </p:nvSpPr>
        <p:spPr>
          <a:xfrm>
            <a:off x="548640" y="1645920"/>
            <a:ext cx="3017520" cy="44348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" name="box-258"/>
          <p:cNvSpPr/>
          <p:nvPr/>
        </p:nvSpPr>
        <p:spPr>
          <a:xfrm>
            <a:off x="548640" y="1645920"/>
            <a:ext cx="3017520" cy="502920"/>
          </a:xfrm>
          <a:prstGeom prst="roundRect">
            <a:avLst>
              <a:gd name="adj" fmla="val 14545"/>
            </a:avLst>
          </a:prstGeom>
          <a:solidFill>
            <a:srgbClr val="3B1E66"/>
          </a:solidFill>
          <a:ln/>
        </p:spPr>
      </p:sp>
      <p:sp>
        <p:nvSpPr>
          <p:cNvPr id="6" name="text-259"/>
          <p:cNvSpPr txBox="1"/>
          <p:nvPr/>
        </p:nvSpPr>
        <p:spPr>
          <a:xfrm>
            <a:off x="68580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&amp; Leaves  ·  Routine Baseline</a:t>
            </a:r>
            <a:endParaRPr lang="en-US" sz="1300" dirty="0"/>
          </a:p>
        </p:txBody>
      </p:sp>
      <p:sp>
        <p:nvSpPr>
          <p:cNvPr id="7" name="text-260"/>
          <p:cNvSpPr txBox="1"/>
          <p:nvPr/>
        </p:nvSpPr>
        <p:spPr>
          <a:xfrm>
            <a:off x="731520" y="2331720"/>
            <a:ext cx="2697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Member: you (pre-selected)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Presets: All Office · All Remote · Hybrid (Mon/Fri Remote)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Schedule: AM and PM per weekday; + Weekend Days if you work them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Start Date; End Date optional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Baseline</a:t>
            </a:r>
            <a:endParaRPr lang="en-US" sz="1300" dirty="0"/>
          </a:p>
        </p:txBody>
      </p:sp>
      <p:sp>
        <p:nvSpPr>
          <p:cNvPr id="8" name="box-261"/>
          <p:cNvSpPr/>
          <p:nvPr/>
        </p:nvSpPr>
        <p:spPr>
          <a:xfrm>
            <a:off x="3794760" y="1645920"/>
            <a:ext cx="3017520" cy="44348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9" name="box-262"/>
          <p:cNvSpPr/>
          <p:nvPr/>
        </p:nvSpPr>
        <p:spPr>
          <a:xfrm>
            <a:off x="3794760" y="1645920"/>
            <a:ext cx="3017520" cy="502920"/>
          </a:xfrm>
          <a:prstGeom prst="roundRect">
            <a:avLst>
              <a:gd name="adj" fmla="val 14545"/>
            </a:avLst>
          </a:prstGeom>
          <a:solidFill>
            <a:srgbClr val="3B1E66"/>
          </a:solidFill>
          <a:ln/>
        </p:spPr>
      </p:sp>
      <p:sp>
        <p:nvSpPr>
          <p:cNvPr id="10" name="text-263"/>
          <p:cNvSpPr txBox="1"/>
          <p:nvPr/>
        </p:nvSpPr>
        <p:spPr>
          <a:xfrm>
            <a:off x="3931920" y="1645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&amp; Leaves  ·  Submit Leave</a:t>
            </a:r>
            <a:endParaRPr lang="en-US" sz="1300" dirty="0"/>
          </a:p>
        </p:txBody>
      </p:sp>
      <p:sp>
        <p:nvSpPr>
          <p:cNvPr id="11" name="text-264"/>
          <p:cNvSpPr txBox="1"/>
          <p:nvPr/>
        </p:nvSpPr>
        <p:spPr>
          <a:xfrm>
            <a:off x="3977640" y="2331720"/>
            <a:ext cx="2697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Type: Vacation, Sick Leave, Maternity/Paternity, Unpaid Leave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End Date, each with AM / PM for half-days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ranges: Today Only · Current Week · Next Week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Requested or Approved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Leave</a:t>
            </a:r>
            <a:endParaRPr lang="en-US" sz="1300" dirty="0"/>
          </a:p>
        </p:txBody>
      </p:sp>
      <p:sp>
        <p:nvSpPr>
          <p:cNvPr id="12" name="text-265"/>
          <p:cNvSpPr txBox="1"/>
          <p:nvPr/>
        </p:nvSpPr>
        <p:spPr>
          <a:xfrm>
            <a:off x="7315200" y="1645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you save</a:t>
            </a:r>
            <a:endParaRPr lang="en-US" sz="1600" dirty="0"/>
          </a:p>
        </p:txBody>
      </p:sp>
      <p:sp>
        <p:nvSpPr>
          <p:cNvPr id="13" name="text-266"/>
          <p:cNvSpPr txBox="1"/>
          <p:nvPr/>
        </p:nvSpPr>
        <p:spPr>
          <a:xfrm>
            <a:off x="7315200" y="20574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keep history.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routine never erases the old one. If dates overlap, the sidebar asks to end the previous routine the day the new one starts.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leave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written to Leaves and compiled into the Presence Log at once; coverage of your projects is re-checked.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leave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change your presence, but raises an orange coverage warning if it would leave a project uncovered.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active locations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offered; retired ones stay valid in history.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computer's local date, so “today” is right after midnight.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Presence: the team's week at a glance</a:t>
            </a:r>
            <a:endParaRPr lang="en-US" sz="3200" dirty="0"/>
          </a:p>
        </p:txBody>
      </p:sp>
      <p:sp>
        <p:nvSpPr>
          <p:cNvPr id="3" name="pill-267"/>
          <p:cNvSpPr/>
          <p:nvPr/>
        </p:nvSpPr>
        <p:spPr>
          <a:xfrm>
            <a:off x="548640" y="274320"/>
            <a:ext cx="2153412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graphicFrame>
        <p:nvGraphicFramePr>
          <p:cNvPr id="14" name="weekly-presence-moc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384048"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 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Tue 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 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 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96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500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8FD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7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5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Sick Leave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</a:tr>
              <a:tr h="38404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 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</a:tr>
            </a:tbl>
          </a:graphicData>
        </a:graphic>
      </p:graphicFrame>
      <p:sp>
        <p:nvSpPr>
          <p:cNvPr id="5" name="text-268"/>
          <p:cNvSpPr txBox="1"/>
          <p:nvPr/>
        </p:nvSpPr>
        <p:spPr>
          <a:xfrm>
            <a:off x="548640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with sample names</a:t>
            </a:r>
            <a:endParaRPr lang="en-US" sz="1100" dirty="0"/>
          </a:p>
        </p:txBody>
      </p:sp>
      <p:sp>
        <p:nvSpPr>
          <p:cNvPr id="6" name="text-269"/>
          <p:cNvSpPr txBox="1"/>
          <p:nvPr/>
        </p:nvSpPr>
        <p:spPr>
          <a:xfrm>
            <a:off x="7269480" y="1645920"/>
            <a:ext cx="434340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day,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by ISO week; each Member has an AM and a PM column.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to change a half-day.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is saved to the Presence Log straight away; a toast confirms it.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Dropdowns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 from the current week on, with active locations only. Past weeks are history.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Weekends and public holidays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greyed; a holiday's name shows as a note on its date.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Departed Members'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are hidden, not deleted; older weeks are folded away.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days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empty until the nightly job fills them from routines and leaves on the day, unless someone types them 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people and changing contracts</a:t>
            </a:r>
            <a:endParaRPr lang="en-US" sz="3200" dirty="0"/>
          </a:p>
        </p:txBody>
      </p:sp>
      <p:sp>
        <p:nvSpPr>
          <p:cNvPr id="3" name="pill-270"/>
          <p:cNvSpPr/>
          <p:nvPr/>
        </p:nvSpPr>
        <p:spPr>
          <a:xfrm>
            <a:off x="548640" y="274320"/>
            <a:ext cx="2153412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271"/>
          <p:cNvSpPr/>
          <p:nvPr/>
        </p:nvSpPr>
        <p:spPr>
          <a:xfrm>
            <a:off x="548640" y="164592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5F1FA"/>
          </a:solidFill>
          <a:ln/>
        </p:spPr>
      </p:sp>
      <p:sp>
        <p:nvSpPr>
          <p:cNvPr id="5" name="iconbg-272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6" name="icon-2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39442"/>
            <a:ext cx="281635" cy="281635"/>
          </a:xfrm>
          <a:prstGeom prst="rect">
            <a:avLst/>
          </a:prstGeom>
        </p:spPr>
      </p:pic>
      <p:sp>
        <p:nvSpPr>
          <p:cNvPr id="7" name="text-274"/>
          <p:cNvSpPr txBox="1"/>
          <p:nvPr/>
        </p:nvSpPr>
        <p:spPr>
          <a:xfrm>
            <a:off x="777240" y="24231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a name</a:t>
            </a:r>
            <a:endParaRPr lang="en-US" sz="1500" dirty="0"/>
          </a:p>
        </p:txBody>
      </p:sp>
      <p:sp>
        <p:nvSpPr>
          <p:cNvPr id="8" name="text-275"/>
          <p:cNvSpPr txBox="1"/>
          <p:nvPr/>
        </p:nvSpPr>
        <p:spPr>
          <a:xfrm>
            <a:off x="777240" y="2743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Members &amp; Contracts, or (admins) type it in an empty Members row</a:t>
            </a:r>
            <a:endParaRPr lang="en-US" sz="1300" dirty="0"/>
          </a:p>
        </p:txBody>
      </p:sp>
      <p:sp>
        <p:nvSpPr>
          <p:cNvPr id="9" name="arrow-276"/>
          <p:cNvSpPr/>
          <p:nvPr/>
        </p:nvSpPr>
        <p:spPr>
          <a:xfrm>
            <a:off x="3090672" y="2560320"/>
            <a:ext cx="265176" cy="914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10" name="box-277"/>
          <p:cNvSpPr/>
          <p:nvPr/>
        </p:nvSpPr>
        <p:spPr>
          <a:xfrm>
            <a:off x="3383280" y="164592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5F1FA"/>
          </a:solidFill>
          <a:ln/>
        </p:spPr>
      </p:sp>
      <p:sp>
        <p:nvSpPr>
          <p:cNvPr id="11" name="iconbg-278"/>
          <p:cNvSpPr/>
          <p:nvPr/>
        </p:nvSpPr>
        <p:spPr>
          <a:xfrm>
            <a:off x="3611880" y="182880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12" name="icon-2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2522" y="1939442"/>
            <a:ext cx="281635" cy="281635"/>
          </a:xfrm>
          <a:prstGeom prst="rect">
            <a:avLst/>
          </a:prstGeom>
        </p:spPr>
      </p:pic>
      <p:sp>
        <p:nvSpPr>
          <p:cNvPr id="13" name="text-280"/>
          <p:cNvSpPr txBox="1"/>
          <p:nvPr/>
        </p:nvSpPr>
        <p:spPr>
          <a:xfrm>
            <a:off x="3611880" y="24231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 opens</a:t>
            </a:r>
            <a:endParaRPr lang="en-US" sz="1500" dirty="0"/>
          </a:p>
        </p:txBody>
      </p:sp>
      <p:sp>
        <p:nvSpPr>
          <p:cNvPr id="14" name="text-281"/>
          <p:cNvSpPr txBox="1"/>
          <p:nvPr/>
        </p:nvSpPr>
        <p:spPr>
          <a:xfrm>
            <a:off x="3611880" y="2743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pre-filled when the name was typed in Members</a:t>
            </a:r>
            <a:endParaRPr lang="en-US" sz="1300" dirty="0"/>
          </a:p>
        </p:txBody>
      </p:sp>
      <p:sp>
        <p:nvSpPr>
          <p:cNvPr id="15" name="arrow-282"/>
          <p:cNvSpPr/>
          <p:nvPr/>
        </p:nvSpPr>
        <p:spPr>
          <a:xfrm>
            <a:off x="5925312" y="2560320"/>
            <a:ext cx="265176" cy="914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16" name="box-283"/>
          <p:cNvSpPr/>
          <p:nvPr/>
        </p:nvSpPr>
        <p:spPr>
          <a:xfrm>
            <a:off x="6217920" y="164592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5F1FA"/>
          </a:solidFill>
          <a:ln/>
        </p:spPr>
      </p:sp>
      <p:sp>
        <p:nvSpPr>
          <p:cNvPr id="17" name="iconbg-284"/>
          <p:cNvSpPr/>
          <p:nvPr/>
        </p:nvSpPr>
        <p:spPr>
          <a:xfrm>
            <a:off x="6446520" y="182880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18" name="icon-28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162" y="1939442"/>
            <a:ext cx="281635" cy="281635"/>
          </a:xfrm>
          <a:prstGeom prst="rect">
            <a:avLst/>
          </a:prstGeom>
        </p:spPr>
      </p:pic>
      <p:sp>
        <p:nvSpPr>
          <p:cNvPr id="19" name="text-286"/>
          <p:cNvSpPr txBox="1"/>
          <p:nvPr/>
        </p:nvSpPr>
        <p:spPr>
          <a:xfrm>
            <a:off x="6446520" y="24231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contract</a:t>
            </a:r>
            <a:endParaRPr lang="en-US" sz="1500" dirty="0"/>
          </a:p>
        </p:txBody>
      </p:sp>
      <p:sp>
        <p:nvSpPr>
          <p:cNvPr id="20" name="text-287"/>
          <p:cNvSpPr txBox="1"/>
          <p:nvPr/>
        </p:nvSpPr>
        <p:spPr>
          <a:xfrm>
            <a:off x="6446520" y="2743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department, start, type, FTE %, optional email, phone, birthday</a:t>
            </a:r>
            <a:endParaRPr lang="en-US" sz="1300" dirty="0"/>
          </a:p>
        </p:txBody>
      </p:sp>
      <p:sp>
        <p:nvSpPr>
          <p:cNvPr id="21" name="arrow-288"/>
          <p:cNvSpPr/>
          <p:nvPr/>
        </p:nvSpPr>
        <p:spPr>
          <a:xfrm>
            <a:off x="8759952" y="2560320"/>
            <a:ext cx="265176" cy="914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22" name="box-289"/>
          <p:cNvSpPr/>
          <p:nvPr/>
        </p:nvSpPr>
        <p:spPr>
          <a:xfrm>
            <a:off x="9052560" y="164592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5F1FA"/>
          </a:solidFill>
          <a:ln/>
        </p:spPr>
      </p:sp>
      <p:sp>
        <p:nvSpPr>
          <p:cNvPr id="23" name="iconbg-290"/>
          <p:cNvSpPr/>
          <p:nvPr/>
        </p:nvSpPr>
        <p:spPr>
          <a:xfrm>
            <a:off x="9281160" y="182880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24" name="icon-2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1802" y="1939442"/>
            <a:ext cx="281635" cy="281635"/>
          </a:xfrm>
          <a:prstGeom prst="rect">
            <a:avLst/>
          </a:prstGeom>
        </p:spPr>
      </p:pic>
      <p:sp>
        <p:nvSpPr>
          <p:cNvPr id="25" name="text-292"/>
          <p:cNvSpPr txBox="1"/>
          <p:nvPr/>
        </p:nvSpPr>
        <p:spPr>
          <a:xfrm>
            <a:off x="9281160" y="24231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completes</a:t>
            </a:r>
            <a:endParaRPr lang="en-US" sz="1500" dirty="0"/>
          </a:p>
        </p:txBody>
      </p:sp>
      <p:sp>
        <p:nvSpPr>
          <p:cNvPr id="26" name="text-293"/>
          <p:cNvSpPr txBox="1"/>
          <p:nvPr/>
        </p:nvSpPr>
        <p:spPr>
          <a:xfrm>
            <a:off x="9281160" y="2743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Department and Status are filled from the contract</a:t>
            </a:r>
            <a:endParaRPr lang="en-US" sz="1300" dirty="0"/>
          </a:p>
        </p:txBody>
      </p:sp>
      <p:sp>
        <p:nvSpPr>
          <p:cNvPr id="27" name="text-294"/>
          <p:cNvSpPr txBox="1"/>
          <p:nvPr/>
        </p:nvSpPr>
        <p:spPr>
          <a:xfrm>
            <a:off x="548640" y="3703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someone already in the team, the sidebar asks for one action at a time</a:t>
            </a:r>
            <a:endParaRPr lang="en-US" sz="1500" dirty="0"/>
          </a:p>
        </p:txBody>
      </p:sp>
      <p:sp>
        <p:nvSpPr>
          <p:cNvPr id="28" name="box-295"/>
          <p:cNvSpPr/>
          <p:nvPr/>
        </p:nvSpPr>
        <p:spPr>
          <a:xfrm>
            <a:off x="548640" y="411480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text-296"/>
          <p:cNvSpPr txBox="1"/>
          <p:nvPr/>
        </p:nvSpPr>
        <p:spPr>
          <a:xfrm>
            <a:off x="777240" y="4251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details</a:t>
            </a:r>
            <a:endParaRPr lang="en-US" sz="1500" dirty="0"/>
          </a:p>
        </p:txBody>
      </p:sp>
      <p:sp>
        <p:nvSpPr>
          <p:cNvPr id="30" name="text-297"/>
          <p:cNvSpPr txBox="1"/>
          <p:nvPr/>
        </p:nvSpPr>
        <p:spPr>
          <a:xfrm>
            <a:off x="777240" y="461772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email, phone and birthday. Birthday is day and month only: type 14/03, March 14 or a date; it is stored as “14 Mar”.</a:t>
            </a:r>
            <a:endParaRPr lang="en-US" sz="1300" dirty="0"/>
          </a:p>
        </p:txBody>
      </p:sp>
      <p:sp>
        <p:nvSpPr>
          <p:cNvPr id="31" name="box-298"/>
          <p:cNvSpPr/>
          <p:nvPr/>
        </p:nvSpPr>
        <p:spPr>
          <a:xfrm>
            <a:off x="4297680" y="411480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text-299"/>
          <p:cNvSpPr txBox="1"/>
          <p:nvPr/>
        </p:nvSpPr>
        <p:spPr>
          <a:xfrm>
            <a:off x="4526280" y="4251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contract</a:t>
            </a:r>
            <a:endParaRPr lang="en-US" sz="1500" dirty="0"/>
          </a:p>
        </p:txBody>
      </p:sp>
      <p:sp>
        <p:nvSpPr>
          <p:cNvPr id="33" name="text-300"/>
          <p:cNvSpPr txBox="1"/>
          <p:nvPr/>
        </p:nvSpPr>
        <p:spPr>
          <a:xfrm>
            <a:off x="4526280" y="461772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when the current contract ends (default: the day before the new start). Overlaps are refused; a gap is allowed and reported, because the person shows as Departed meanwhile.</a:t>
            </a:r>
            <a:endParaRPr lang="en-US" sz="1300" dirty="0"/>
          </a:p>
        </p:txBody>
      </p:sp>
      <p:sp>
        <p:nvSpPr>
          <p:cNvPr id="34" name="box-301"/>
          <p:cNvSpPr/>
          <p:nvPr/>
        </p:nvSpPr>
        <p:spPr>
          <a:xfrm>
            <a:off x="8046720" y="411480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-302"/>
          <p:cNvSpPr txBox="1"/>
          <p:nvPr/>
        </p:nvSpPr>
        <p:spPr>
          <a:xfrm>
            <a:off x="8275320" y="4251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a contract</a:t>
            </a:r>
            <a:endParaRPr lang="en-US" sz="1500" dirty="0"/>
          </a:p>
        </p:txBody>
      </p:sp>
      <p:sp>
        <p:nvSpPr>
          <p:cNvPr id="36" name="text-303"/>
          <p:cNvSpPr txBox="1"/>
          <p:nvPr/>
        </p:nvSpPr>
        <p:spPr>
          <a:xfrm>
            <a:off x="8275320" y="461772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the end date of one contract. After the last day the person becomes Departed: hidden in Weekly Presence, excluded from emails.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stay covered, day by day</a:t>
            </a:r>
            <a:endParaRPr lang="en-US" sz="3200" dirty="0"/>
          </a:p>
        </p:txBody>
      </p:sp>
      <p:sp>
        <p:nvSpPr>
          <p:cNvPr id="3" name="pill-304"/>
          <p:cNvSpPr/>
          <p:nvPr/>
        </p:nvSpPr>
        <p:spPr>
          <a:xfrm>
            <a:off x="548640" y="274320"/>
            <a:ext cx="2153412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graphicFrame>
        <p:nvGraphicFramePr>
          <p:cNvPr id="16" name="table-3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0350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PRJ-XXXXX, created on first edit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· Status · Start · Target 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Status: Planning, Active, On Hold, Completed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chip; changing it asks for confirmation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 backup; a toast asks for one if empty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charge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· Name (interim) · Name (backup) · ⚠ Nobody available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5" name="box-306"/>
          <p:cNvSpPr/>
          <p:nvPr/>
        </p:nvSpPr>
        <p:spPr>
          <a:xfrm>
            <a:off x="6903720" y="1645920"/>
            <a:ext cx="4709160" cy="1417320"/>
          </a:xfrm>
          <a:prstGeom prst="roundRect">
            <a:avLst>
              <a:gd name="adj" fmla="val 5161"/>
            </a:avLst>
          </a:prstGeom>
          <a:solidFill>
            <a:srgbClr val="FCE8E6"/>
          </a:solidFill>
          <a:ln/>
        </p:spPr>
      </p:sp>
      <p:sp>
        <p:nvSpPr>
          <p:cNvPr id="6" name="iconbg-307"/>
          <p:cNvSpPr/>
          <p:nvPr/>
        </p:nvSpPr>
        <p:spPr>
          <a:xfrm>
            <a:off x="713232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con-30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962" y="1985162"/>
            <a:ext cx="281635" cy="281635"/>
          </a:xfrm>
          <a:prstGeom prst="rect">
            <a:avLst/>
          </a:prstGeom>
        </p:spPr>
      </p:pic>
      <p:sp>
        <p:nvSpPr>
          <p:cNvPr id="8" name="text-309"/>
          <p:cNvSpPr txBox="1"/>
          <p:nvPr/>
        </p:nvSpPr>
        <p:spPr>
          <a:xfrm>
            <a:off x="7772400" y="1892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row: conflict</a:t>
            </a:r>
            <a:endParaRPr lang="en-US" sz="1600" dirty="0"/>
          </a:p>
        </p:txBody>
      </p:sp>
      <p:sp>
        <p:nvSpPr>
          <p:cNvPr id="9" name="text-310"/>
          <p:cNvSpPr txBox="1"/>
          <p:nvPr/>
        </p:nvSpPr>
        <p:spPr>
          <a:xfrm>
            <a:off x="7772400" y="2276856"/>
            <a:ext cx="3657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absences leave a working day uncovered. Email to the lead and a manager, plus an “Organize interim backup” task.</a:t>
            </a:r>
            <a:endParaRPr lang="en-US" sz="1300" dirty="0"/>
          </a:p>
        </p:txBody>
      </p:sp>
      <p:sp>
        <p:nvSpPr>
          <p:cNvPr id="10" name="box-311"/>
          <p:cNvSpPr/>
          <p:nvPr/>
        </p:nvSpPr>
        <p:spPr>
          <a:xfrm>
            <a:off x="6903720" y="3200400"/>
            <a:ext cx="4709160" cy="1234440"/>
          </a:xfrm>
          <a:prstGeom prst="roundRect">
            <a:avLst>
              <a:gd name="adj" fmla="val 5926"/>
            </a:avLst>
          </a:prstGeom>
          <a:solidFill>
            <a:srgbClr val="FDEBD0"/>
          </a:solidFill>
          <a:ln/>
        </p:spPr>
      </p:sp>
      <p:sp>
        <p:nvSpPr>
          <p:cNvPr id="11" name="iconbg-312"/>
          <p:cNvSpPr/>
          <p:nvPr/>
        </p:nvSpPr>
        <p:spPr>
          <a:xfrm>
            <a:off x="7132320" y="3429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3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962" y="3539642"/>
            <a:ext cx="281635" cy="281635"/>
          </a:xfrm>
          <a:prstGeom prst="rect">
            <a:avLst/>
          </a:prstGeom>
        </p:spPr>
      </p:pic>
      <p:sp>
        <p:nvSpPr>
          <p:cNvPr id="13" name="text-314"/>
          <p:cNvSpPr txBox="1"/>
          <p:nvPr/>
        </p:nvSpPr>
        <p:spPr>
          <a:xfrm>
            <a:off x="777240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row: warning</a:t>
            </a:r>
            <a:endParaRPr lang="en-US" sz="1600" dirty="0"/>
          </a:p>
        </p:txBody>
      </p:sp>
      <p:sp>
        <p:nvSpPr>
          <p:cNvPr id="14" name="text-315"/>
          <p:cNvSpPr txBox="1"/>
          <p:nvPr/>
        </p:nvSpPr>
        <p:spPr>
          <a:xfrm>
            <a:off x="7772400" y="3831336"/>
            <a:ext cx="36576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but a leave is only Requested. Warning email, no task.</a:t>
            </a:r>
            <a:endParaRPr lang="en-US" sz="1300" dirty="0"/>
          </a:p>
        </p:txBody>
      </p:sp>
      <p:sp>
        <p:nvSpPr>
          <p:cNvPr id="15" name="text-316"/>
          <p:cNvSpPr txBox="1"/>
          <p:nvPr/>
        </p:nvSpPr>
        <p:spPr>
          <a:xfrm>
            <a:off x="548640" y="44348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gap with Interim Backups</a:t>
            </a:r>
            <a:endParaRPr lang="en-US" sz="1500" dirty="0"/>
          </a:p>
        </p:txBody>
      </p:sp>
      <p:sp>
        <p:nvSpPr>
          <p:cNvPr id="16" name="text-317"/>
          <p:cNvSpPr txBox="1"/>
          <p:nvPr/>
        </p:nvSpPr>
        <p:spPr>
          <a:xfrm>
            <a:off x="548640" y="4773168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project: the sidebar shows its lead, backup, coverage gaps and current or planned interim backups.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gap to fill its dates, choose a person, add notes, save. The lead cannot be their own interim; a leave of the chosen person is flagged.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an interim backup instead of deleting it: the row is kept with status Cancelled.</a:t>
            </a:r>
            <a:endParaRPr lang="en-US" sz="1300" dirty="0"/>
          </a:p>
        </p:txBody>
      </p:sp>
      <p:sp>
        <p:nvSpPr>
          <p:cNvPr id="17" name="text-318"/>
          <p:cNvSpPr txBox="1"/>
          <p:nvPr/>
        </p:nvSpPr>
        <p:spPr>
          <a:xfrm>
            <a:off x="6903720" y="466344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is the first Member whose role contains Manager, Head or Director; if there is none, the account running the check.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and Events connect to Google Tasks and Calendar</a:t>
            </a:r>
            <a:endParaRPr lang="en-US" sz="3200" dirty="0"/>
          </a:p>
        </p:txBody>
      </p:sp>
      <p:sp>
        <p:nvSpPr>
          <p:cNvPr id="3" name="pill-319"/>
          <p:cNvSpPr/>
          <p:nvPr/>
        </p:nvSpPr>
        <p:spPr>
          <a:xfrm>
            <a:off x="548640" y="274320"/>
            <a:ext cx="2153412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320"/>
          <p:cNvSpPr/>
          <p:nvPr/>
        </p:nvSpPr>
        <p:spPr>
          <a:xfrm>
            <a:off x="548640" y="164592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5F1FA"/>
          </a:solidFill>
          <a:ln/>
        </p:spPr>
      </p:sp>
      <p:sp>
        <p:nvSpPr>
          <p:cNvPr id="5" name="iconbg-321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32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85162"/>
            <a:ext cx="281635" cy="281635"/>
          </a:xfrm>
          <a:prstGeom prst="rect">
            <a:avLst/>
          </a:prstGeom>
        </p:spPr>
      </p:pic>
      <p:sp>
        <p:nvSpPr>
          <p:cNvPr id="7" name="text-323"/>
          <p:cNvSpPr txBox="1"/>
          <p:nvPr/>
        </p:nvSpPr>
        <p:spPr>
          <a:xfrm>
            <a:off x="1417320" y="1892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</a:t>
            </a:r>
            <a:endParaRPr lang="en-US" sz="1600" dirty="0"/>
          </a:p>
        </p:txBody>
      </p:sp>
      <p:sp>
        <p:nvSpPr>
          <p:cNvPr id="8" name="text-324"/>
          <p:cNvSpPr txBox="1"/>
          <p:nvPr/>
        </p:nvSpPr>
        <p:spPr>
          <a:xfrm>
            <a:off x="1417320" y="2276856"/>
            <a:ext cx="4389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title: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row gets an ID (TSK-YYMMDD-XXXX) and status Todo.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ID, Assigned to, Description, Due date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optional.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Todo, In Progress, Done, Blocked.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Tasks: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to the list “Project Management Tasks” of the account running the sync, for tasks assigned to that account. Completing it in Google Tasks marks the row Done.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is final: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it offers to hide the row and create a follow-up task with a new ID.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tasks: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for new Members, “Organize interim backup” for coverage conflicts.</a:t>
            </a:r>
            <a:endParaRPr lang="en-US" sz="1400" dirty="0"/>
          </a:p>
        </p:txBody>
      </p:sp>
      <p:sp>
        <p:nvSpPr>
          <p:cNvPr id="9" name="box-325"/>
          <p:cNvSpPr/>
          <p:nvPr/>
        </p:nvSpPr>
        <p:spPr>
          <a:xfrm>
            <a:off x="6172200" y="164592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5F1FA"/>
          </a:solidFill>
          <a:ln/>
        </p:spPr>
      </p:sp>
      <p:sp>
        <p:nvSpPr>
          <p:cNvPr id="10" name="iconbg-326"/>
          <p:cNvSpPr/>
          <p:nvPr/>
        </p:nvSpPr>
        <p:spPr>
          <a:xfrm>
            <a:off x="640080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32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985162"/>
            <a:ext cx="281635" cy="281635"/>
          </a:xfrm>
          <a:prstGeom prst="rect">
            <a:avLst/>
          </a:prstGeom>
        </p:spPr>
      </p:pic>
      <p:sp>
        <p:nvSpPr>
          <p:cNvPr id="12" name="text-328"/>
          <p:cNvSpPr txBox="1"/>
          <p:nvPr/>
        </p:nvSpPr>
        <p:spPr>
          <a:xfrm>
            <a:off x="7040880" y="1892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</a:t>
            </a:r>
            <a:endParaRPr lang="en-US" sz="1600" dirty="0"/>
          </a:p>
        </p:txBody>
      </p:sp>
      <p:sp>
        <p:nvSpPr>
          <p:cNvPr id="13" name="text-329"/>
          <p:cNvSpPr txBox="1"/>
          <p:nvPr/>
        </p:nvSpPr>
        <p:spPr>
          <a:xfrm>
            <a:off x="7040880" y="2276856"/>
            <a:ext cx="4389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title and a date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date-time is fine): the row gets an ID (EVT-YYMMDD-XXXX) and a Google Calendar event.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minutes, “45m”, “1h” or “1.5 hours” makes a timed slot; empty makes an all-day event.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goes to their calendar when the script can reach it, otherwise to the owner's; a team calendar can also be configured.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title, date, duration, location or organizer update the calendar event.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invitations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sent automatically: the organizer invites guests in Calendar.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Workspace lists everything that needs attention</a:t>
            </a:r>
            <a:endParaRPr lang="en-US" sz="3200" dirty="0"/>
          </a:p>
        </p:txBody>
      </p:sp>
      <p:sp>
        <p:nvSpPr>
          <p:cNvPr id="3" name="pill-330"/>
          <p:cNvSpPr/>
          <p:nvPr/>
        </p:nvSpPr>
        <p:spPr>
          <a:xfrm>
            <a:off x="548640" y="274320"/>
            <a:ext cx="2153412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331"/>
          <p:cNvSpPr/>
          <p:nvPr/>
        </p:nvSpPr>
        <p:spPr>
          <a:xfrm>
            <a:off x="548640" y="1645920"/>
            <a:ext cx="7498080" cy="530352"/>
          </a:xfrm>
          <a:prstGeom prst="roundRect">
            <a:avLst>
              <a:gd name="adj" fmla="val 13793"/>
            </a:avLst>
          </a:prstGeom>
          <a:solidFill>
            <a:srgbClr val="F5F1FA"/>
          </a:solidFill>
          <a:ln/>
        </p:spPr>
      </p:sp>
      <p:pic>
        <p:nvPicPr>
          <p:cNvPr id="5" name="icon-33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55648"/>
            <a:ext cx="310896" cy="310896"/>
          </a:xfrm>
          <a:prstGeom prst="rect">
            <a:avLst/>
          </a:prstGeom>
        </p:spPr>
      </p:pic>
      <p:sp>
        <p:nvSpPr>
          <p:cNvPr id="6" name="text-333"/>
          <p:cNvSpPr txBox="1"/>
          <p:nvPr/>
        </p:nvSpPr>
        <p:spPr>
          <a:xfrm>
            <a:off x="1188720" y="164592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without a contract</a:t>
            </a:r>
            <a:endParaRPr lang="en-US" sz="1400" dirty="0"/>
          </a:p>
        </p:txBody>
      </p:sp>
      <p:sp>
        <p:nvSpPr>
          <p:cNvPr id="7" name="text-334"/>
          <p:cNvSpPr txBox="1"/>
          <p:nvPr/>
        </p:nvSpPr>
        <p:spPr>
          <a:xfrm>
            <a:off x="5394960" y="164592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Members &amp; Contracts</a:t>
            </a:r>
            <a:endParaRPr lang="en-US" sz="1300" dirty="0"/>
          </a:p>
        </p:txBody>
      </p:sp>
      <p:sp>
        <p:nvSpPr>
          <p:cNvPr id="8" name="box-335"/>
          <p:cNvSpPr/>
          <p:nvPr/>
        </p:nvSpPr>
        <p:spPr>
          <a:xfrm>
            <a:off x="548640" y="2267712"/>
            <a:ext cx="749808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9" name="icon-3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77440"/>
            <a:ext cx="310896" cy="310896"/>
          </a:xfrm>
          <a:prstGeom prst="rect">
            <a:avLst/>
          </a:prstGeom>
        </p:spPr>
      </p:pic>
      <p:sp>
        <p:nvSpPr>
          <p:cNvPr id="10" name="text-337"/>
          <p:cNvSpPr txBox="1"/>
          <p:nvPr/>
        </p:nvSpPr>
        <p:spPr>
          <a:xfrm>
            <a:off x="1188720" y="226771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projects without a backup</a:t>
            </a:r>
            <a:endParaRPr lang="en-US" sz="1400" dirty="0"/>
          </a:p>
        </p:txBody>
      </p:sp>
      <p:sp>
        <p:nvSpPr>
          <p:cNvPr id="11" name="text-338"/>
          <p:cNvSpPr txBox="1"/>
          <p:nvPr/>
        </p:nvSpPr>
        <p:spPr>
          <a:xfrm>
            <a:off x="5394960" y="226771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Projects tab</a:t>
            </a:r>
            <a:endParaRPr lang="en-US" sz="1300" dirty="0"/>
          </a:p>
        </p:txBody>
      </p:sp>
      <p:sp>
        <p:nvSpPr>
          <p:cNvPr id="12" name="box-339"/>
          <p:cNvSpPr/>
          <p:nvPr/>
        </p:nvSpPr>
        <p:spPr>
          <a:xfrm>
            <a:off x="548640" y="2889504"/>
            <a:ext cx="7498080" cy="530352"/>
          </a:xfrm>
          <a:prstGeom prst="roundRect">
            <a:avLst>
              <a:gd name="adj" fmla="val 13793"/>
            </a:avLst>
          </a:prstGeom>
          <a:solidFill>
            <a:srgbClr val="F5F1FA"/>
          </a:solidFill>
          <a:ln/>
        </p:spPr>
      </p:sp>
      <p:pic>
        <p:nvPicPr>
          <p:cNvPr id="13" name="icon-34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999232"/>
            <a:ext cx="310896" cy="310896"/>
          </a:xfrm>
          <a:prstGeom prst="rect">
            <a:avLst/>
          </a:prstGeom>
        </p:spPr>
      </p:pic>
      <p:sp>
        <p:nvSpPr>
          <p:cNvPr id="14" name="text-341"/>
          <p:cNvSpPr txBox="1"/>
          <p:nvPr/>
        </p:nvSpPr>
        <p:spPr>
          <a:xfrm>
            <a:off x="1188720" y="288950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conflicts and warnings</a:t>
            </a:r>
            <a:endParaRPr lang="en-US" sz="1400" dirty="0"/>
          </a:p>
        </p:txBody>
      </p:sp>
      <p:sp>
        <p:nvSpPr>
          <p:cNvPr id="15" name="text-342"/>
          <p:cNvSpPr txBox="1"/>
          <p:nvPr/>
        </p:nvSpPr>
        <p:spPr>
          <a:xfrm>
            <a:off x="5394960" y="2889504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Interim Backups</a:t>
            </a:r>
            <a:endParaRPr lang="en-US" sz="1300" dirty="0"/>
          </a:p>
        </p:txBody>
      </p:sp>
      <p:sp>
        <p:nvSpPr>
          <p:cNvPr id="16" name="box-343"/>
          <p:cNvSpPr/>
          <p:nvPr/>
        </p:nvSpPr>
        <p:spPr>
          <a:xfrm>
            <a:off x="548640" y="3511296"/>
            <a:ext cx="749808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7" name="icon-34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3621024"/>
            <a:ext cx="310896" cy="310896"/>
          </a:xfrm>
          <a:prstGeom prst="rect">
            <a:avLst/>
          </a:prstGeom>
        </p:spPr>
      </p:pic>
      <p:sp>
        <p:nvSpPr>
          <p:cNvPr id="18" name="text-345"/>
          <p:cNvSpPr txBox="1"/>
          <p:nvPr/>
        </p:nvSpPr>
        <p:spPr>
          <a:xfrm>
            <a:off x="1188720" y="351129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leaving (≤ 30 days) who lead, back up or own tasks</a:t>
            </a:r>
            <a:endParaRPr lang="en-US" sz="1400" dirty="0"/>
          </a:p>
        </p:txBody>
      </p:sp>
      <p:sp>
        <p:nvSpPr>
          <p:cNvPr id="19" name="text-346"/>
          <p:cNvSpPr txBox="1"/>
          <p:nvPr/>
        </p:nvSpPr>
        <p:spPr>
          <a:xfrm>
            <a:off x="5394960" y="3511296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Members &amp; Contracts</a:t>
            </a:r>
            <a:endParaRPr lang="en-US" sz="1300" dirty="0"/>
          </a:p>
        </p:txBody>
      </p:sp>
      <p:sp>
        <p:nvSpPr>
          <p:cNvPr id="20" name="box-347"/>
          <p:cNvSpPr/>
          <p:nvPr/>
        </p:nvSpPr>
        <p:spPr>
          <a:xfrm>
            <a:off x="548640" y="4133088"/>
            <a:ext cx="7498080" cy="530352"/>
          </a:xfrm>
          <a:prstGeom prst="roundRect">
            <a:avLst>
              <a:gd name="adj" fmla="val 13793"/>
            </a:avLst>
          </a:prstGeom>
          <a:solidFill>
            <a:srgbClr val="F5F1FA"/>
          </a:solidFill>
          <a:ln/>
        </p:spPr>
      </p:sp>
      <p:pic>
        <p:nvPicPr>
          <p:cNvPr id="21" name="icon-34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4242816"/>
            <a:ext cx="310896" cy="310896"/>
          </a:xfrm>
          <a:prstGeom prst="rect">
            <a:avLst/>
          </a:prstGeom>
        </p:spPr>
      </p:pic>
      <p:sp>
        <p:nvSpPr>
          <p:cNvPr id="22" name="text-349"/>
          <p:cNvSpPr txBox="1"/>
          <p:nvPr/>
        </p:nvSpPr>
        <p:spPr>
          <a:xfrm>
            <a:off x="1188720" y="413308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not logged today</a:t>
            </a:r>
            <a:endParaRPr lang="en-US" sz="1400" dirty="0"/>
          </a:p>
        </p:txBody>
      </p:sp>
      <p:sp>
        <p:nvSpPr>
          <p:cNvPr id="23" name="text-350"/>
          <p:cNvSpPr txBox="1"/>
          <p:nvPr/>
        </p:nvSpPr>
        <p:spPr>
          <a:xfrm>
            <a:off x="5394960" y="41330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Declare Presence</a:t>
            </a:r>
            <a:endParaRPr lang="en-US" sz="1300" dirty="0"/>
          </a:p>
        </p:txBody>
      </p:sp>
      <p:sp>
        <p:nvSpPr>
          <p:cNvPr id="24" name="box-351"/>
          <p:cNvSpPr/>
          <p:nvPr/>
        </p:nvSpPr>
        <p:spPr>
          <a:xfrm>
            <a:off x="548640" y="4754880"/>
            <a:ext cx="749808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25" name="icon-35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4864608"/>
            <a:ext cx="310896" cy="310896"/>
          </a:xfrm>
          <a:prstGeom prst="rect">
            <a:avLst/>
          </a:prstGeom>
        </p:spPr>
      </p:pic>
      <p:sp>
        <p:nvSpPr>
          <p:cNvPr id="26" name="text-353"/>
          <p:cNvSpPr txBox="1"/>
          <p:nvPr/>
        </p:nvSpPr>
        <p:spPr>
          <a:xfrm>
            <a:off x="1188720" y="475488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Undeclared days this week</a:t>
            </a:r>
            <a:endParaRPr lang="en-US" sz="1400" dirty="0"/>
          </a:p>
        </p:txBody>
      </p:sp>
      <p:sp>
        <p:nvSpPr>
          <p:cNvPr id="27" name="text-354"/>
          <p:cNvSpPr txBox="1"/>
          <p:nvPr/>
        </p:nvSpPr>
        <p:spPr>
          <a:xfrm>
            <a:off x="5394960" y="475488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Declare Presence</a:t>
            </a:r>
            <a:endParaRPr lang="en-US" sz="1300" dirty="0"/>
          </a:p>
        </p:txBody>
      </p:sp>
      <p:sp>
        <p:nvSpPr>
          <p:cNvPr id="28" name="box-355"/>
          <p:cNvSpPr/>
          <p:nvPr/>
        </p:nvSpPr>
        <p:spPr>
          <a:xfrm>
            <a:off x="548640" y="5376672"/>
            <a:ext cx="7498080" cy="530352"/>
          </a:xfrm>
          <a:prstGeom prst="roundRect">
            <a:avLst>
              <a:gd name="adj" fmla="val 13793"/>
            </a:avLst>
          </a:prstGeom>
          <a:solidFill>
            <a:srgbClr val="F5F1FA"/>
          </a:solidFill>
          <a:ln/>
        </p:spPr>
      </p:sp>
      <p:pic>
        <p:nvPicPr>
          <p:cNvPr id="29" name="icon-35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486400"/>
            <a:ext cx="310896" cy="310896"/>
          </a:xfrm>
          <a:prstGeom prst="rect">
            <a:avLst/>
          </a:prstGeom>
        </p:spPr>
      </p:pic>
      <p:sp>
        <p:nvSpPr>
          <p:cNvPr id="30" name="text-357"/>
          <p:cNvSpPr txBox="1"/>
          <p:nvPr/>
        </p:nvSpPr>
        <p:spPr>
          <a:xfrm>
            <a:off x="1188720" y="537667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Presence Log rows</a:t>
            </a:r>
            <a:endParaRPr lang="en-US" sz="1400" dirty="0"/>
          </a:p>
        </p:txBody>
      </p:sp>
      <p:sp>
        <p:nvSpPr>
          <p:cNvPr id="31" name="text-358"/>
          <p:cNvSpPr txBox="1"/>
          <p:nvPr/>
        </p:nvSpPr>
        <p:spPr>
          <a:xfrm>
            <a:off x="5394960" y="5376672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Remove duplicates (keeps the last row)</a:t>
            </a:r>
            <a:endParaRPr lang="en-US" sz="1300" dirty="0"/>
          </a:p>
        </p:txBody>
      </p:sp>
      <p:sp>
        <p:nvSpPr>
          <p:cNvPr id="32" name="box-359"/>
          <p:cNvSpPr/>
          <p:nvPr/>
        </p:nvSpPr>
        <p:spPr>
          <a:xfrm>
            <a:off x="8366760" y="1645920"/>
            <a:ext cx="3246120" cy="4251960"/>
          </a:xfrm>
          <a:prstGeom prst="roundRect">
            <a:avLst>
              <a:gd name="adj" fmla="val 2254"/>
            </a:avLst>
          </a:prstGeom>
          <a:solidFill>
            <a:srgbClr val="3B1E66"/>
          </a:solidFill>
          <a:ln/>
        </p:spPr>
      </p:sp>
      <p:sp>
        <p:nvSpPr>
          <p:cNvPr id="33" name="text-360"/>
          <p:cNvSpPr txBox="1"/>
          <p:nvPr/>
        </p:nvSpPr>
        <p:spPr>
          <a:xfrm>
            <a:off x="859536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it</a:t>
            </a:r>
            <a:endParaRPr lang="en-US" sz="1600" dirty="0"/>
          </a:p>
        </p:txBody>
      </p:sp>
      <p:sp>
        <p:nvSpPr>
          <p:cNvPr id="34" name="text-361"/>
          <p:cNvSpPr txBox="1"/>
          <p:nvPr/>
        </p:nvSpPr>
        <p:spPr>
          <a:xfrm>
            <a:off x="8595360" y="228600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from the menu: the dialog appears at once with “Checking…”, the report follows in about 25 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links to the place that fixes it.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reports: no email or task is created.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“Check again” after fixing.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Emails the system sends</a:t>
            </a:r>
            <a:endParaRPr lang="en-US" sz="3200" dirty="0"/>
          </a:p>
        </p:txBody>
      </p:sp>
      <p:sp>
        <p:nvSpPr>
          <p:cNvPr id="3" name="pill-362"/>
          <p:cNvSpPr/>
          <p:nvPr/>
        </p:nvSpPr>
        <p:spPr>
          <a:xfrm>
            <a:off x="548640" y="274320"/>
            <a:ext cx="2153412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graphicFrame>
        <p:nvGraphicFramePr>
          <p:cNvPr id="19" name="table-3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77440"/>
                <a:gridCol w="329184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Presence reminder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 8:00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active Member with an undeclared day this week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days to declare and a link to Weekly Presence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 reminder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9:00 on the working day before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active Member with an email, except the person celebrated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Coming birthdays, an “Add to my Google Calendar” link and a link to subscribe to Team Birthdays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conflict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check (edit, leave declaration, nightly) finds a new uncovered period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lead and a manager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Uncovered periods and the reason; an “Organize interim backup” task is also created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warning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Same, when a Requested leave is involved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lead and a manager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periods at risk; no task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iconbg-364"/>
          <p:cNvSpPr/>
          <p:nvPr/>
        </p:nvSpPr>
        <p:spPr>
          <a:xfrm>
            <a:off x="548640" y="4480560"/>
            <a:ext cx="457200" cy="457200"/>
          </a:xfrm>
          <a:prstGeom prst="ellipse">
            <a:avLst/>
          </a:prstGeom>
          <a:solidFill>
            <a:srgbClr val="F3E8FD"/>
          </a:solidFill>
          <a:ln/>
        </p:spPr>
      </p:sp>
      <p:pic>
        <p:nvPicPr>
          <p:cNvPr id="6" name="icon-3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4581144"/>
            <a:ext cx="256032" cy="256032"/>
          </a:xfrm>
          <a:prstGeom prst="rect">
            <a:avLst/>
          </a:prstGeom>
        </p:spPr>
      </p:pic>
      <p:sp>
        <p:nvSpPr>
          <p:cNvPr id="7" name="text-366"/>
          <p:cNvSpPr txBox="1"/>
          <p:nvPr/>
        </p:nvSpPr>
        <p:spPr>
          <a:xfrm>
            <a:off x="1143000" y="44348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emails and calendar changes are sent by the Google account that owns the triggers (the sheet owner). Members without an email address are logged, not emailed. A Member is “active” while a contract covers today.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habits</a:t>
            </a:r>
            <a:endParaRPr lang="en-US" sz="3200" dirty="0"/>
          </a:p>
        </p:txBody>
      </p:sp>
      <p:sp>
        <p:nvSpPr>
          <p:cNvPr id="3" name="pill-367"/>
          <p:cNvSpPr/>
          <p:nvPr/>
        </p:nvSpPr>
        <p:spPr>
          <a:xfrm>
            <a:off x="548640" y="274320"/>
            <a:ext cx="2153412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Using it day to day</a:t>
            </a:r>
            <a:endParaRPr lang="en-US" sz="1100" dirty="0"/>
          </a:p>
        </p:txBody>
      </p:sp>
      <p:sp>
        <p:nvSpPr>
          <p:cNvPr id="4" name="box-368"/>
          <p:cNvSpPr/>
          <p:nvPr/>
        </p:nvSpPr>
        <p:spPr>
          <a:xfrm>
            <a:off x="548640" y="164592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E6F4EA"/>
          </a:solidFill>
          <a:ln/>
        </p:spPr>
      </p:sp>
      <p:sp>
        <p:nvSpPr>
          <p:cNvPr id="5" name="iconbg-369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3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85162"/>
            <a:ext cx="281635" cy="281635"/>
          </a:xfrm>
          <a:prstGeom prst="rect">
            <a:avLst/>
          </a:prstGeom>
        </p:spPr>
      </p:pic>
      <p:sp>
        <p:nvSpPr>
          <p:cNvPr id="7" name="text-371"/>
          <p:cNvSpPr txBox="1"/>
          <p:nvPr/>
        </p:nvSpPr>
        <p:spPr>
          <a:xfrm>
            <a:off x="1417320" y="1892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endParaRPr lang="en-US" sz="1600" dirty="0"/>
          </a:p>
        </p:txBody>
      </p:sp>
      <p:sp>
        <p:nvSpPr>
          <p:cNvPr id="8" name="text-372"/>
          <p:cNvSpPr txBox="1"/>
          <p:nvPr/>
        </p:nvSpPr>
        <p:spPr>
          <a:xfrm>
            <a:off x="1417320" y="2276856"/>
            <a:ext cx="4389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routine once; then only type the exceptions.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 leave as Requested as soon as you know, then switch it to Approved.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project a permanent backup.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or cancel things instead of deleting rows: history stays readable.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sidebar when unsure: it checks dates and overlaps before writing.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Check Workspace before your weekly meeting.</a:t>
            </a:r>
            <a:endParaRPr lang="en-US" sz="1400" dirty="0"/>
          </a:p>
        </p:txBody>
      </p:sp>
      <p:sp>
        <p:nvSpPr>
          <p:cNvPr id="9" name="box-373"/>
          <p:cNvSpPr/>
          <p:nvPr/>
        </p:nvSpPr>
        <p:spPr>
          <a:xfrm>
            <a:off x="6172200" y="164592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CE8E6"/>
          </a:solidFill>
          <a:ln/>
        </p:spPr>
      </p:sp>
      <p:sp>
        <p:nvSpPr>
          <p:cNvPr id="10" name="iconbg-374"/>
          <p:cNvSpPr/>
          <p:nvPr/>
        </p:nvSpPr>
        <p:spPr>
          <a:xfrm>
            <a:off x="640080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3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985162"/>
            <a:ext cx="281635" cy="281635"/>
          </a:xfrm>
          <a:prstGeom prst="rect">
            <a:avLst/>
          </a:prstGeom>
        </p:spPr>
      </p:pic>
      <p:sp>
        <p:nvSpPr>
          <p:cNvPr id="12" name="text-376"/>
          <p:cNvSpPr txBox="1"/>
          <p:nvPr/>
        </p:nvSpPr>
        <p:spPr>
          <a:xfrm>
            <a:off x="7040880" y="1892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</a:t>
            </a:r>
            <a:endParaRPr lang="en-US" sz="1600" dirty="0"/>
          </a:p>
        </p:txBody>
      </p:sp>
      <p:sp>
        <p:nvSpPr>
          <p:cNvPr id="13" name="text-377"/>
          <p:cNvSpPr txBox="1"/>
          <p:nvPr/>
        </p:nvSpPr>
        <p:spPr>
          <a:xfrm>
            <a:off x="7040880" y="2276856"/>
            <a:ext cx="4389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over system columns (IDs, Role, Department, Status, Today, In charge today): the next sync rewrites them.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a day in Weekly Presence for a period you will be on leave: hand entries win over leaves.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Adding, renaming or deleting columns: the schema is fixed and changes go through the maintainer.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rows in hidden tabs: end, cancel or mark them instead.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Expecting the mobile app to work: menus and sidebars are desktop only.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378"/>
          <p:cNvSpPr/>
          <p:nvPr/>
        </p:nvSpPr>
        <p:spPr>
          <a:xfrm>
            <a:off x="731520" y="1325880"/>
            <a:ext cx="1188720" cy="329184"/>
          </a:xfrm>
          <a:prstGeom prst="roundRect">
            <a:avLst>
              <a:gd name="adj" fmla="val 138889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it up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3832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For administrators. One Library holds all the code; each team sheet carries a thin wrapper that points to it.</a:t>
            </a:r>
            <a:endParaRPr lang="en-US" sz="1800" dirty="0"/>
          </a:p>
        </p:txBody>
      </p:sp>
      <p:sp>
        <p:nvSpPr>
          <p:cNvPr id="5" name="box-379"/>
          <p:cNvSpPr/>
          <p:nvPr/>
        </p:nvSpPr>
        <p:spPr>
          <a:xfrm>
            <a:off x="7680960" y="1325880"/>
            <a:ext cx="3931920" cy="4206240"/>
          </a:xfrm>
          <a:prstGeom prst="roundRect">
            <a:avLst>
              <a:gd name="adj" fmla="val 1395"/>
            </a:avLst>
          </a:prstGeom>
          <a:solidFill>
            <a:srgbClr val="2A2640"/>
          </a:solidFill>
          <a:ln/>
        </p:spPr>
      </p:sp>
      <p:sp>
        <p:nvSpPr>
          <p:cNvPr id="6" name="text-380"/>
          <p:cNvSpPr txBox="1"/>
          <p:nvPr/>
        </p:nvSpPr>
        <p:spPr>
          <a:xfrm>
            <a:off x="800100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381"/>
          <p:cNvSpPr txBox="1"/>
          <p:nvPr/>
        </p:nvSpPr>
        <p:spPr>
          <a:xfrm>
            <a:off x="8001000" y="20116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distributed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in seven steps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Initialize / Upgrade does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for your team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and the owner account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Upgrading and rolling back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Library, many team sheets</a:t>
            </a:r>
            <a:endParaRPr lang="en-US" sz="3200" dirty="0"/>
          </a:p>
        </p:txBody>
      </p:sp>
      <p:sp>
        <p:nvSpPr>
          <p:cNvPr id="3" name="pill-382"/>
          <p:cNvSpPr/>
          <p:nvPr/>
        </p:nvSpPr>
        <p:spPr>
          <a:xfrm>
            <a:off x="548640" y="274320"/>
            <a:ext cx="1687068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383"/>
          <p:cNvSpPr/>
          <p:nvPr/>
        </p:nvSpPr>
        <p:spPr>
          <a:xfrm>
            <a:off x="548640" y="1737360"/>
            <a:ext cx="3840480" cy="4206240"/>
          </a:xfrm>
          <a:prstGeom prst="roundRect">
            <a:avLst>
              <a:gd name="adj" fmla="val 1905"/>
            </a:avLst>
          </a:prstGeom>
          <a:solidFill>
            <a:srgbClr val="3B1E66"/>
          </a:solidFill>
          <a:ln/>
        </p:spPr>
      </p:sp>
      <p:sp>
        <p:nvSpPr>
          <p:cNvPr id="5" name="iconbg-384"/>
          <p:cNvSpPr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rgbClr val="7500C0"/>
          </a:solidFill>
          <a:ln/>
        </p:spPr>
      </p:sp>
      <p:pic>
        <p:nvPicPr>
          <p:cNvPr id="6" name="icon-3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096719"/>
            <a:ext cx="332842" cy="332842"/>
          </a:xfrm>
          <a:prstGeom prst="rect">
            <a:avLst/>
          </a:prstGeom>
        </p:spPr>
      </p:pic>
      <p:sp>
        <p:nvSpPr>
          <p:cNvPr id="7" name="text-386"/>
          <p:cNvSpPr txBox="1"/>
          <p:nvPr/>
        </p:nvSpPr>
        <p:spPr>
          <a:xfrm>
            <a:off x="822960" y="2697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WorkspacePM Library</a:t>
            </a:r>
            <a:endParaRPr lang="en-US" sz="1800" dirty="0"/>
          </a:p>
        </p:txBody>
      </p:sp>
      <p:sp>
        <p:nvSpPr>
          <p:cNvPr id="8" name="text-387"/>
          <p:cNvSpPr txBox="1"/>
          <p:nvPr/>
        </p:nvSpPr>
        <p:spPr>
          <a:xfrm>
            <a:off x="822960" y="310896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Apps Script project with all the logic: schema, sync, presence, coverage, Google Tasks, Calendar, emails, sidebars.</a:t>
            </a:r>
            <a:endParaRPr lang="en-US" sz="1400" dirty="0"/>
          </a:p>
        </p:txBody>
      </p:sp>
      <p:sp>
        <p:nvSpPr>
          <p:cNvPr id="9" name="text-388"/>
          <p:cNvSpPr txBox="1"/>
          <p:nvPr/>
        </p:nvSpPr>
        <p:spPr>
          <a:xfrm>
            <a:off x="822960" y="5257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src/ in the repository, pushed with clasp</a:t>
            </a:r>
            <a:endParaRPr lang="en-US" sz="1200" dirty="0"/>
          </a:p>
        </p:txBody>
      </p:sp>
      <p:sp>
        <p:nvSpPr>
          <p:cNvPr id="10" name="box-389"/>
          <p:cNvSpPr/>
          <p:nvPr/>
        </p:nvSpPr>
        <p:spPr>
          <a:xfrm>
            <a:off x="5486400" y="173736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F5F1FA"/>
          </a:solidFill>
          <a:ln/>
        </p:spPr>
      </p:sp>
      <p:pic>
        <p:nvPicPr>
          <p:cNvPr id="11" name="icon-39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920240"/>
            <a:ext cx="365760" cy="365760"/>
          </a:xfrm>
          <a:prstGeom prst="rect">
            <a:avLst/>
          </a:prstGeom>
        </p:spPr>
      </p:pic>
      <p:sp>
        <p:nvSpPr>
          <p:cNvPr id="12" name="text-391"/>
          <p:cNvSpPr txBox="1"/>
          <p:nvPr/>
        </p:nvSpPr>
        <p:spPr>
          <a:xfrm>
            <a:off x="612648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sheet A</a:t>
            </a:r>
            <a:endParaRPr lang="en-US" sz="1500" dirty="0"/>
          </a:p>
        </p:txBody>
      </p:sp>
      <p:sp>
        <p:nvSpPr>
          <p:cNvPr id="13" name="text-392"/>
          <p:cNvSpPr txBox="1"/>
          <p:nvPr/>
        </p:nvSpPr>
        <p:spPr>
          <a:xfrm>
            <a:off x="5669280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+ Code.gs wrapper</a:t>
            </a:r>
            <a:endParaRPr lang="en-US" sz="1300" dirty="0"/>
          </a:p>
        </p:txBody>
      </p:sp>
      <p:sp>
        <p:nvSpPr>
          <p:cNvPr id="14" name="arrow-393"/>
          <p:cNvSpPr/>
          <p:nvPr/>
        </p:nvSpPr>
        <p:spPr>
          <a:xfrm flipH="1">
            <a:off x="4434840" y="2359152"/>
            <a:ext cx="1005840" cy="1481328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15" name="box-394"/>
          <p:cNvSpPr/>
          <p:nvPr/>
        </p:nvSpPr>
        <p:spPr>
          <a:xfrm>
            <a:off x="5486400" y="320040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F5F1FA"/>
          </a:solidFill>
          <a:ln/>
        </p:spPr>
      </p:sp>
      <p:pic>
        <p:nvPicPr>
          <p:cNvPr id="16" name="icon-39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383280"/>
            <a:ext cx="365760" cy="365760"/>
          </a:xfrm>
          <a:prstGeom prst="rect">
            <a:avLst/>
          </a:prstGeom>
        </p:spPr>
      </p:pic>
      <p:sp>
        <p:nvSpPr>
          <p:cNvPr id="17" name="text-396"/>
          <p:cNvSpPr txBox="1"/>
          <p:nvPr/>
        </p:nvSpPr>
        <p:spPr>
          <a:xfrm>
            <a:off x="6126480" y="3383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sheet B</a:t>
            </a:r>
            <a:endParaRPr lang="en-US" sz="1500" dirty="0"/>
          </a:p>
        </p:txBody>
      </p:sp>
      <p:sp>
        <p:nvSpPr>
          <p:cNvPr id="18" name="text-397"/>
          <p:cNvSpPr txBox="1"/>
          <p:nvPr/>
        </p:nvSpPr>
        <p:spPr>
          <a:xfrm>
            <a:off x="5669280" y="3840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+ Code.gs wrapper</a:t>
            </a:r>
            <a:endParaRPr lang="en-US" sz="1300" dirty="0"/>
          </a:p>
        </p:txBody>
      </p:sp>
      <p:sp>
        <p:nvSpPr>
          <p:cNvPr id="19" name="arrow-398"/>
          <p:cNvSpPr/>
          <p:nvPr/>
        </p:nvSpPr>
        <p:spPr>
          <a:xfrm flipH="1">
            <a:off x="4434840" y="3822192"/>
            <a:ext cx="1005840" cy="18288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20" name="box-399"/>
          <p:cNvSpPr/>
          <p:nvPr/>
        </p:nvSpPr>
        <p:spPr>
          <a:xfrm>
            <a:off x="5486400" y="466344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F5F1FA"/>
          </a:solidFill>
          <a:ln/>
        </p:spPr>
      </p:sp>
      <p:pic>
        <p:nvPicPr>
          <p:cNvPr id="21" name="icon-40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846320"/>
            <a:ext cx="365760" cy="365760"/>
          </a:xfrm>
          <a:prstGeom prst="rect">
            <a:avLst/>
          </a:prstGeom>
        </p:spPr>
      </p:pic>
      <p:sp>
        <p:nvSpPr>
          <p:cNvPr id="22" name="text-401"/>
          <p:cNvSpPr txBox="1"/>
          <p:nvPr/>
        </p:nvSpPr>
        <p:spPr>
          <a:xfrm>
            <a:off x="6126480" y="4846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sheet C</a:t>
            </a:r>
            <a:endParaRPr lang="en-US" sz="1500" dirty="0"/>
          </a:p>
        </p:txBody>
      </p:sp>
      <p:sp>
        <p:nvSpPr>
          <p:cNvPr id="23" name="text-402"/>
          <p:cNvSpPr txBox="1"/>
          <p:nvPr/>
        </p:nvSpPr>
        <p:spPr>
          <a:xfrm>
            <a:off x="566928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+ Code.gs wrapper</a:t>
            </a:r>
            <a:endParaRPr lang="en-US" sz="1300" dirty="0"/>
          </a:p>
        </p:txBody>
      </p:sp>
      <p:sp>
        <p:nvSpPr>
          <p:cNvPr id="24" name="arrow-403"/>
          <p:cNvSpPr/>
          <p:nvPr/>
        </p:nvSpPr>
        <p:spPr>
          <a:xfrm flipH="1" flipV="1">
            <a:off x="4434840" y="3840480"/>
            <a:ext cx="1005840" cy="1444752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25" name="text-404"/>
          <p:cNvSpPr txBox="1"/>
          <p:nvPr/>
        </p:nvSpPr>
        <p:spPr>
          <a:xfrm>
            <a:off x="85953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is built this way</a:t>
            </a:r>
            <a:endParaRPr lang="en-US" sz="1600" dirty="0"/>
          </a:p>
        </p:txBody>
      </p:sp>
      <p:sp>
        <p:nvSpPr>
          <p:cNvPr id="26" name="text-405"/>
          <p:cNvSpPr txBox="1"/>
          <p:nvPr/>
        </p:nvSpPr>
        <p:spPr>
          <a:xfrm>
            <a:off x="8595360" y="219456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once: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change reaches every sheet.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wrapper: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menu, triggers and sidebar forwarders only.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sheet uses a numbered version, or development mode (HEAD) while testing.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upgrades: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are never deleted by an upgrade.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start</a:t>
            </a:r>
            <a:endParaRPr lang="en-US" sz="3200" dirty="0"/>
          </a:p>
        </p:txBody>
      </p:sp>
      <p:sp>
        <p:nvSpPr>
          <p:cNvPr id="3" name="pill-406"/>
          <p:cNvSpPr/>
          <p:nvPr/>
        </p:nvSpPr>
        <p:spPr>
          <a:xfrm>
            <a:off x="548640" y="274320"/>
            <a:ext cx="1687068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407"/>
          <p:cNvSpPr/>
          <p:nvPr/>
        </p:nvSpPr>
        <p:spPr>
          <a:xfrm>
            <a:off x="548640" y="164592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5" name="iconbg-408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40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85162"/>
            <a:ext cx="281635" cy="281635"/>
          </a:xfrm>
          <a:prstGeom prst="rect">
            <a:avLst/>
          </a:prstGeom>
        </p:spPr>
      </p:pic>
      <p:sp>
        <p:nvSpPr>
          <p:cNvPr id="7" name="text-410"/>
          <p:cNvSpPr txBox="1"/>
          <p:nvPr/>
        </p:nvSpPr>
        <p:spPr>
          <a:xfrm>
            <a:off x="1417320" y="18928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owner account</a:t>
            </a:r>
            <a:endParaRPr lang="en-US" sz="1500" dirty="0"/>
          </a:p>
        </p:txBody>
      </p:sp>
      <p:sp>
        <p:nvSpPr>
          <p:cNvPr id="8" name="text-411"/>
          <p:cNvSpPr txBox="1"/>
          <p:nvPr/>
        </p:nvSpPr>
        <p:spPr>
          <a:xfrm>
            <a:off x="1417320" y="227685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Google account that owns the sheet also owns the triggers. Emails, calendar updates and nightly runs happen as this account.</a:t>
            </a:r>
            <a:endParaRPr lang="en-US" sz="1400" dirty="0"/>
          </a:p>
        </p:txBody>
      </p:sp>
      <p:sp>
        <p:nvSpPr>
          <p:cNvPr id="9" name="box-412"/>
          <p:cNvSpPr/>
          <p:nvPr/>
        </p:nvSpPr>
        <p:spPr>
          <a:xfrm>
            <a:off x="4297680" y="164592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10" name="iconbg-413"/>
          <p:cNvSpPr/>
          <p:nvPr/>
        </p:nvSpPr>
        <p:spPr>
          <a:xfrm>
            <a:off x="452628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4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922" y="1985162"/>
            <a:ext cx="281635" cy="281635"/>
          </a:xfrm>
          <a:prstGeom prst="rect">
            <a:avLst/>
          </a:prstGeom>
        </p:spPr>
      </p:pic>
      <p:sp>
        <p:nvSpPr>
          <p:cNvPr id="12" name="text-415"/>
          <p:cNvSpPr txBox="1"/>
          <p:nvPr/>
        </p:nvSpPr>
        <p:spPr>
          <a:xfrm>
            <a:off x="5166360" y="18928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access</a:t>
            </a:r>
            <a:endParaRPr lang="en-US" sz="1500" dirty="0"/>
          </a:p>
        </p:txBody>
      </p:sp>
      <p:sp>
        <p:nvSpPr>
          <p:cNvPr id="13" name="text-416"/>
          <p:cNvSpPr txBox="1"/>
          <p:nvPr/>
        </p:nvSpPr>
        <p:spPr>
          <a:xfrm>
            <a:off x="5166360" y="227685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Library's Script ID and at least view access to the Library project.</a:t>
            </a:r>
            <a:endParaRPr lang="en-US" sz="1400" dirty="0"/>
          </a:p>
        </p:txBody>
      </p:sp>
      <p:sp>
        <p:nvSpPr>
          <p:cNvPr id="14" name="box-417"/>
          <p:cNvSpPr/>
          <p:nvPr/>
        </p:nvSpPr>
        <p:spPr>
          <a:xfrm>
            <a:off x="8046720" y="164592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15" name="iconbg-418"/>
          <p:cNvSpPr/>
          <p:nvPr/>
        </p:nvSpPr>
        <p:spPr>
          <a:xfrm>
            <a:off x="827532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4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962" y="1985162"/>
            <a:ext cx="281635" cy="281635"/>
          </a:xfrm>
          <a:prstGeom prst="rect">
            <a:avLst/>
          </a:prstGeom>
        </p:spPr>
      </p:pic>
      <p:sp>
        <p:nvSpPr>
          <p:cNvPr id="17" name="text-420"/>
          <p:cNvSpPr txBox="1"/>
          <p:nvPr/>
        </p:nvSpPr>
        <p:spPr>
          <a:xfrm>
            <a:off x="8915400" y="18928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advanced services</a:t>
            </a:r>
            <a:endParaRPr lang="en-US" sz="1500" dirty="0"/>
          </a:p>
        </p:txBody>
      </p:sp>
      <p:sp>
        <p:nvSpPr>
          <p:cNvPr id="18" name="text-421"/>
          <p:cNvSpPr txBox="1"/>
          <p:nvPr/>
        </p:nvSpPr>
        <p:spPr>
          <a:xfrm>
            <a:off x="8915400" y="227685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 API v4 (native tables), Google Tasks API v1, Google Calendar API v3.</a:t>
            </a:r>
            <a:endParaRPr lang="en-US" sz="1400" dirty="0"/>
          </a:p>
        </p:txBody>
      </p:sp>
      <p:sp>
        <p:nvSpPr>
          <p:cNvPr id="19" name="box-422"/>
          <p:cNvSpPr/>
          <p:nvPr/>
        </p:nvSpPr>
        <p:spPr>
          <a:xfrm>
            <a:off x="548640" y="388620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20" name="iconbg-423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con-42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" y="4225442"/>
            <a:ext cx="281635" cy="281635"/>
          </a:xfrm>
          <a:prstGeom prst="rect">
            <a:avLst/>
          </a:prstGeom>
        </p:spPr>
      </p:pic>
      <p:sp>
        <p:nvSpPr>
          <p:cNvPr id="22" name="text-425"/>
          <p:cNvSpPr txBox="1"/>
          <p:nvPr/>
        </p:nvSpPr>
        <p:spPr>
          <a:xfrm>
            <a:off x="1417320" y="413308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accounts</a:t>
            </a:r>
            <a:endParaRPr lang="en-US" sz="1500" dirty="0"/>
          </a:p>
        </p:txBody>
      </p:sp>
      <p:sp>
        <p:nvSpPr>
          <p:cNvPr id="23" name="text-426"/>
          <p:cNvSpPr txBox="1"/>
          <p:nvPr/>
        </p:nvSpPr>
        <p:spPr>
          <a:xfrm>
            <a:off x="1417320" y="451713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chips identify Members. Accenture addresses without a Google account can be stored but not chipped.</a:t>
            </a:r>
            <a:endParaRPr lang="en-US" sz="1400" dirty="0"/>
          </a:p>
        </p:txBody>
      </p:sp>
      <p:sp>
        <p:nvSpPr>
          <p:cNvPr id="24" name="box-427"/>
          <p:cNvSpPr/>
          <p:nvPr/>
        </p:nvSpPr>
        <p:spPr>
          <a:xfrm>
            <a:off x="4297680" y="388620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25" name="iconbg-428"/>
          <p:cNvSpPr/>
          <p:nvPr/>
        </p:nvSpPr>
        <p:spPr>
          <a:xfrm>
            <a:off x="4526280" y="4114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con-42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922" y="4225442"/>
            <a:ext cx="281635" cy="281635"/>
          </a:xfrm>
          <a:prstGeom prst="rect">
            <a:avLst/>
          </a:prstGeom>
        </p:spPr>
      </p:pic>
      <p:sp>
        <p:nvSpPr>
          <p:cNvPr id="27" name="text-430"/>
          <p:cNvSpPr txBox="1"/>
          <p:nvPr/>
        </p:nvSpPr>
        <p:spPr>
          <a:xfrm>
            <a:off x="5166360" y="413308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desktop browser</a:t>
            </a:r>
            <a:endParaRPr lang="en-US" sz="1500" dirty="0"/>
          </a:p>
        </p:txBody>
      </p:sp>
      <p:sp>
        <p:nvSpPr>
          <p:cNvPr id="28" name="text-431"/>
          <p:cNvSpPr txBox="1"/>
          <p:nvPr/>
        </p:nvSpPr>
        <p:spPr>
          <a:xfrm>
            <a:off x="5166360" y="451713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Menus, sidebars and dialogs do not exist in the Sheets mobile apps.</a:t>
            </a:r>
            <a:endParaRPr lang="en-US" sz="1400" dirty="0"/>
          </a:p>
        </p:txBody>
      </p:sp>
      <p:sp>
        <p:nvSpPr>
          <p:cNvPr id="29" name="box-432"/>
          <p:cNvSpPr/>
          <p:nvPr/>
        </p:nvSpPr>
        <p:spPr>
          <a:xfrm>
            <a:off x="8046720" y="388620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30" name="iconbg-433"/>
          <p:cNvSpPr/>
          <p:nvPr/>
        </p:nvSpPr>
        <p:spPr>
          <a:xfrm>
            <a:off x="8275320" y="4114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con-43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962" y="4225442"/>
            <a:ext cx="281635" cy="281635"/>
          </a:xfrm>
          <a:prstGeom prst="rect">
            <a:avLst/>
          </a:prstGeom>
        </p:spPr>
      </p:pic>
      <p:sp>
        <p:nvSpPr>
          <p:cNvPr id="32" name="text-435"/>
          <p:cNvSpPr txBox="1"/>
          <p:nvPr/>
        </p:nvSpPr>
        <p:spPr>
          <a:xfrm>
            <a:off x="8915400" y="413308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zone</a:t>
            </a:r>
            <a:endParaRPr lang="en-US" sz="1500" dirty="0"/>
          </a:p>
        </p:txBody>
      </p:sp>
      <p:sp>
        <p:nvSpPr>
          <p:cNvPr id="33" name="text-436"/>
          <p:cNvSpPr txBox="1"/>
          <p:nvPr/>
        </p:nvSpPr>
        <p:spPr>
          <a:xfrm>
            <a:off x="8915400" y="451713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runs in Europe/Paris: triggers fire at 2:00, 8:00 and 9:00 Paris time.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in seven steps</a:t>
            </a:r>
            <a:endParaRPr lang="en-US" sz="3200" dirty="0"/>
          </a:p>
        </p:txBody>
      </p:sp>
      <p:sp>
        <p:nvSpPr>
          <p:cNvPr id="3" name="pill-437"/>
          <p:cNvSpPr/>
          <p:nvPr/>
        </p:nvSpPr>
        <p:spPr>
          <a:xfrm>
            <a:off x="548640" y="274320"/>
            <a:ext cx="1687068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438"/>
          <p:cNvSpPr/>
          <p:nvPr/>
        </p:nvSpPr>
        <p:spPr>
          <a:xfrm>
            <a:off x="548640" y="16459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5F1FA"/>
          </a:solidFill>
          <a:ln/>
        </p:spPr>
      </p:sp>
      <p:sp>
        <p:nvSpPr>
          <p:cNvPr id="5" name="num-439"/>
          <p:cNvSpPr/>
          <p:nvPr/>
        </p:nvSpPr>
        <p:spPr>
          <a:xfrm>
            <a:off x="731520" y="187452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6" name="text-440"/>
          <p:cNvSpPr txBox="1"/>
          <p:nvPr/>
        </p:nvSpPr>
        <p:spPr>
          <a:xfrm>
            <a:off x="731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-441"/>
          <p:cNvSpPr txBox="1"/>
          <p:nvPr/>
        </p:nvSpPr>
        <p:spPr>
          <a:xfrm>
            <a:off x="1417320" y="17556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team's Google Sheet</a:t>
            </a:r>
            <a:endParaRPr lang="en-US" sz="1500" dirty="0"/>
          </a:p>
        </p:txBody>
      </p:sp>
      <p:sp>
        <p:nvSpPr>
          <p:cNvPr id="8" name="text-442"/>
          <p:cNvSpPr txBox="1"/>
          <p:nvPr/>
        </p:nvSpPr>
        <p:spPr>
          <a:xfrm>
            <a:off x="1417320" y="207568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sheet or use an existing one, signed in as the owner account.</a:t>
            </a:r>
            <a:endParaRPr lang="en-US" sz="1300" dirty="0"/>
          </a:p>
        </p:txBody>
      </p:sp>
      <p:sp>
        <p:nvSpPr>
          <p:cNvPr id="9" name="box-443"/>
          <p:cNvSpPr/>
          <p:nvPr/>
        </p:nvSpPr>
        <p:spPr>
          <a:xfrm>
            <a:off x="548640" y="274320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num-444"/>
          <p:cNvSpPr/>
          <p:nvPr/>
        </p:nvSpPr>
        <p:spPr>
          <a:xfrm>
            <a:off x="731520" y="297180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11" name="text-445"/>
          <p:cNvSpPr txBox="1"/>
          <p:nvPr/>
        </p:nvSpPr>
        <p:spPr>
          <a:xfrm>
            <a:off x="7315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-446"/>
          <p:cNvSpPr txBox="1"/>
          <p:nvPr/>
        </p:nvSpPr>
        <p:spPr>
          <a:xfrm>
            <a:off x="1417320" y="285292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Extensions → Apps Script</a:t>
            </a:r>
            <a:endParaRPr lang="en-US" sz="1500" dirty="0"/>
          </a:p>
        </p:txBody>
      </p:sp>
      <p:sp>
        <p:nvSpPr>
          <p:cNvPr id="13" name="text-447"/>
          <p:cNvSpPr txBox="1"/>
          <p:nvPr/>
        </p:nvSpPr>
        <p:spPr>
          <a:xfrm>
            <a:off x="1417320" y="317296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the project, e.g. “Team Alpha – WorkspacePM”.</a:t>
            </a:r>
            <a:endParaRPr lang="en-US" sz="1300" dirty="0"/>
          </a:p>
        </p:txBody>
      </p:sp>
      <p:sp>
        <p:nvSpPr>
          <p:cNvPr id="14" name="box-448"/>
          <p:cNvSpPr/>
          <p:nvPr/>
        </p:nvSpPr>
        <p:spPr>
          <a:xfrm>
            <a:off x="548640" y="384048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5F1FA"/>
          </a:solidFill>
          <a:ln/>
        </p:spPr>
      </p:sp>
      <p:sp>
        <p:nvSpPr>
          <p:cNvPr id="15" name="num-449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16" name="text-450"/>
          <p:cNvSpPr txBox="1"/>
          <p:nvPr/>
        </p:nvSpPr>
        <p:spPr>
          <a:xfrm>
            <a:off x="73152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-451"/>
          <p:cNvSpPr txBox="1"/>
          <p:nvPr/>
        </p:nvSpPr>
        <p:spPr>
          <a:xfrm>
            <a:off x="1417320" y="395020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three services</a:t>
            </a:r>
            <a:endParaRPr lang="en-US" sz="1500" dirty="0"/>
          </a:p>
        </p:txBody>
      </p:sp>
      <p:sp>
        <p:nvSpPr>
          <p:cNvPr id="18" name="text-452"/>
          <p:cNvSpPr txBox="1"/>
          <p:nvPr/>
        </p:nvSpPr>
        <p:spPr>
          <a:xfrm>
            <a:off x="1417320" y="427024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+ → Google Sheets API, Tasks API, Calendar API (default identifiers Sheets, Tasks, Calendar).</a:t>
            </a:r>
            <a:endParaRPr lang="en-US" sz="1300" dirty="0"/>
          </a:p>
        </p:txBody>
      </p:sp>
      <p:sp>
        <p:nvSpPr>
          <p:cNvPr id="19" name="box-453"/>
          <p:cNvSpPr/>
          <p:nvPr/>
        </p:nvSpPr>
        <p:spPr>
          <a:xfrm>
            <a:off x="548640" y="493776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num-454"/>
          <p:cNvSpPr/>
          <p:nvPr/>
        </p:nvSpPr>
        <p:spPr>
          <a:xfrm>
            <a:off x="731520" y="516636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21" name="text-455"/>
          <p:cNvSpPr txBox="1"/>
          <p:nvPr/>
        </p:nvSpPr>
        <p:spPr>
          <a:xfrm>
            <a:off x="731520" y="5166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-456"/>
          <p:cNvSpPr txBox="1"/>
          <p:nvPr/>
        </p:nvSpPr>
        <p:spPr>
          <a:xfrm>
            <a:off x="1417320" y="504748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Library</a:t>
            </a:r>
            <a:endParaRPr lang="en-US" sz="1500" dirty="0"/>
          </a:p>
        </p:txBody>
      </p:sp>
      <p:sp>
        <p:nvSpPr>
          <p:cNvPr id="23" name="text-457"/>
          <p:cNvSpPr txBox="1"/>
          <p:nvPr/>
        </p:nvSpPr>
        <p:spPr>
          <a:xfrm>
            <a:off x="1417320" y="536752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 + → paste the Script ID → Look up → Identifier WorkspacePM (exact) → pick a version.</a:t>
            </a:r>
            <a:endParaRPr lang="en-US" sz="1300" dirty="0"/>
          </a:p>
        </p:txBody>
      </p:sp>
      <p:sp>
        <p:nvSpPr>
          <p:cNvPr id="24" name="box-458"/>
          <p:cNvSpPr/>
          <p:nvPr/>
        </p:nvSpPr>
        <p:spPr>
          <a:xfrm>
            <a:off x="6172200" y="16459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5F1FA"/>
          </a:solidFill>
          <a:ln/>
        </p:spPr>
      </p:sp>
      <p:sp>
        <p:nvSpPr>
          <p:cNvPr id="25" name="num-459"/>
          <p:cNvSpPr/>
          <p:nvPr/>
        </p:nvSpPr>
        <p:spPr>
          <a:xfrm>
            <a:off x="6355080" y="187452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26" name="text-460"/>
          <p:cNvSpPr txBox="1"/>
          <p:nvPr/>
        </p:nvSpPr>
        <p:spPr>
          <a:xfrm>
            <a:off x="635508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-461"/>
          <p:cNvSpPr txBox="1"/>
          <p:nvPr/>
        </p:nvSpPr>
        <p:spPr>
          <a:xfrm>
            <a:off x="7040880" y="175564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wrapper</a:t>
            </a:r>
            <a:endParaRPr lang="en-US" sz="1500" dirty="0"/>
          </a:p>
        </p:txBody>
      </p:sp>
      <p:sp>
        <p:nvSpPr>
          <p:cNvPr id="28" name="text-462"/>
          <p:cNvSpPr txBox="1"/>
          <p:nvPr/>
        </p:nvSpPr>
        <p:spPr>
          <a:xfrm>
            <a:off x="7040880" y="207568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Code.gs with consumer/Code.js from the repository, then save.</a:t>
            </a:r>
            <a:endParaRPr lang="en-US" sz="1300" dirty="0"/>
          </a:p>
        </p:txBody>
      </p:sp>
      <p:sp>
        <p:nvSpPr>
          <p:cNvPr id="29" name="box-463"/>
          <p:cNvSpPr/>
          <p:nvPr/>
        </p:nvSpPr>
        <p:spPr>
          <a:xfrm>
            <a:off x="6172200" y="274320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num-464"/>
          <p:cNvSpPr/>
          <p:nvPr/>
        </p:nvSpPr>
        <p:spPr>
          <a:xfrm>
            <a:off x="6355080" y="297180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31" name="text-465"/>
          <p:cNvSpPr txBox="1"/>
          <p:nvPr/>
        </p:nvSpPr>
        <p:spPr>
          <a:xfrm>
            <a:off x="635508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-466"/>
          <p:cNvSpPr txBox="1"/>
          <p:nvPr/>
        </p:nvSpPr>
        <p:spPr>
          <a:xfrm>
            <a:off x="7040880" y="285292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</a:t>
            </a:r>
            <a:endParaRPr lang="en-US" sz="1500" dirty="0"/>
          </a:p>
        </p:txBody>
      </p:sp>
      <p:sp>
        <p:nvSpPr>
          <p:cNvPr id="33" name="text-467"/>
          <p:cNvSpPr txBox="1"/>
          <p:nvPr/>
        </p:nvSpPr>
        <p:spPr>
          <a:xfrm>
            <a:off x="7040880" y="317296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Reload the sheet → Project Management → Initialize / Upgrade Spreadsheet → authorise when Google asks.</a:t>
            </a:r>
            <a:endParaRPr lang="en-US" sz="1300" dirty="0"/>
          </a:p>
        </p:txBody>
      </p:sp>
      <p:sp>
        <p:nvSpPr>
          <p:cNvPr id="34" name="box-468"/>
          <p:cNvSpPr/>
          <p:nvPr/>
        </p:nvSpPr>
        <p:spPr>
          <a:xfrm>
            <a:off x="6172200" y="384048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F5F1FA"/>
          </a:solidFill>
          <a:ln/>
        </p:spPr>
      </p:sp>
      <p:sp>
        <p:nvSpPr>
          <p:cNvPr id="35" name="num-469"/>
          <p:cNvSpPr/>
          <p:nvPr/>
        </p:nvSpPr>
        <p:spPr>
          <a:xfrm>
            <a:off x="6355080" y="4069080"/>
            <a:ext cx="502920" cy="502920"/>
          </a:xfrm>
          <a:prstGeom prst="ellipse">
            <a:avLst/>
          </a:prstGeom>
          <a:solidFill>
            <a:srgbClr val="7500C0"/>
          </a:solidFill>
          <a:ln/>
        </p:spPr>
      </p:sp>
      <p:sp>
        <p:nvSpPr>
          <p:cNvPr id="36" name="text-470"/>
          <p:cNvSpPr txBox="1"/>
          <p:nvPr/>
        </p:nvSpPr>
        <p:spPr>
          <a:xfrm>
            <a:off x="635508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-471"/>
          <p:cNvSpPr txBox="1"/>
          <p:nvPr/>
        </p:nvSpPr>
        <p:spPr>
          <a:xfrm>
            <a:off x="7040880" y="395020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38" name="text-472"/>
          <p:cNvSpPr txBox="1"/>
          <p:nvPr/>
        </p:nvSpPr>
        <p:spPr>
          <a:xfrm>
            <a:off x="7040880" y="427024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Locations and Holidays, then add the team by typing names in Members.</a:t>
            </a:r>
            <a:endParaRPr lang="en-US" sz="1300" dirty="0"/>
          </a:p>
        </p:txBody>
      </p:sp>
      <p:sp>
        <p:nvSpPr>
          <p:cNvPr id="39" name="box-473"/>
          <p:cNvSpPr/>
          <p:nvPr/>
        </p:nvSpPr>
        <p:spPr>
          <a:xfrm>
            <a:off x="6172200" y="493776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3B1E66"/>
          </a:solidFill>
          <a:ln/>
        </p:spPr>
      </p:sp>
      <p:sp>
        <p:nvSpPr>
          <p:cNvPr id="40" name="text-474"/>
          <p:cNvSpPr txBox="1"/>
          <p:nvPr/>
        </p:nvSpPr>
        <p:spPr>
          <a:xfrm>
            <a:off x="6400800" y="5029200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wrapper's menu, onEdit/onOpen forwarders and one forwarder per sidebar and trigger function are required: google.script.run and triggers call the sheet's own script, not the Library.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Initialize / Upgrade does</a:t>
            </a:r>
            <a:endParaRPr lang="en-US" sz="3200" dirty="0"/>
          </a:p>
        </p:txBody>
      </p:sp>
      <p:sp>
        <p:nvSpPr>
          <p:cNvPr id="3" name="pill-475"/>
          <p:cNvSpPr/>
          <p:nvPr/>
        </p:nvSpPr>
        <p:spPr>
          <a:xfrm>
            <a:off x="548640" y="274320"/>
            <a:ext cx="1687068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476"/>
          <p:cNvSpPr/>
          <p:nvPr/>
        </p:nvSpPr>
        <p:spPr>
          <a:xfrm>
            <a:off x="548640" y="1783080"/>
            <a:ext cx="1463040" cy="2377440"/>
          </a:xfrm>
          <a:prstGeom prst="roundRect">
            <a:avLst>
              <a:gd name="adj" fmla="val 5000"/>
            </a:avLst>
          </a:prstGeom>
          <a:solidFill>
            <a:srgbClr val="F3E8FD"/>
          </a:solidFill>
          <a:ln/>
        </p:spPr>
      </p:sp>
      <p:sp>
        <p:nvSpPr>
          <p:cNvPr id="5" name="text-477"/>
          <p:cNvSpPr txBox="1"/>
          <p:nvPr/>
        </p:nvSpPr>
        <p:spPr>
          <a:xfrm>
            <a:off x="6858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-478"/>
          <p:cNvSpPr txBox="1"/>
          <p:nvPr/>
        </p:nvSpPr>
        <p:spPr>
          <a:xfrm>
            <a:off x="685800" y="23774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tabs</a:t>
            </a:r>
            <a:endParaRPr lang="en-US" sz="1400" dirty="0"/>
          </a:p>
        </p:txBody>
      </p:sp>
      <p:sp>
        <p:nvSpPr>
          <p:cNvPr id="7" name="text-479"/>
          <p:cNvSpPr txBox="1"/>
          <p:nvPr/>
        </p:nvSpPr>
        <p:spPr>
          <a:xfrm>
            <a:off x="685800" y="29260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technical tab names become readable ones</a:t>
            </a:r>
            <a:endParaRPr lang="en-US" sz="1200" dirty="0"/>
          </a:p>
        </p:txBody>
      </p:sp>
      <p:sp>
        <p:nvSpPr>
          <p:cNvPr id="8" name="box-480"/>
          <p:cNvSpPr/>
          <p:nvPr/>
        </p:nvSpPr>
        <p:spPr>
          <a:xfrm>
            <a:off x="2148840" y="1783080"/>
            <a:ext cx="1463040" cy="2377440"/>
          </a:xfrm>
          <a:prstGeom prst="roundRect">
            <a:avLst>
              <a:gd name="adj" fmla="val 5000"/>
            </a:avLst>
          </a:prstGeom>
          <a:solidFill>
            <a:srgbClr val="F5F1FA"/>
          </a:solidFill>
          <a:ln/>
        </p:spPr>
      </p:sp>
      <p:sp>
        <p:nvSpPr>
          <p:cNvPr id="9" name="text-481"/>
          <p:cNvSpPr txBox="1"/>
          <p:nvPr/>
        </p:nvSpPr>
        <p:spPr>
          <a:xfrm>
            <a:off x="22860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-482"/>
          <p:cNvSpPr txBox="1"/>
          <p:nvPr/>
        </p:nvSpPr>
        <p:spPr>
          <a:xfrm>
            <a:off x="2286000" y="23774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tables</a:t>
            </a:r>
            <a:endParaRPr lang="en-US" sz="1400" dirty="0"/>
          </a:p>
        </p:txBody>
      </p:sp>
      <p:sp>
        <p:nvSpPr>
          <p:cNvPr id="11" name="text-483"/>
          <p:cNvSpPr txBox="1"/>
          <p:nvPr/>
        </p:nvSpPr>
        <p:spPr>
          <a:xfrm>
            <a:off x="2286000" y="29260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tables, column types, dropdowns, fonts, protections, required-cell rules</a:t>
            </a:r>
            <a:endParaRPr lang="en-US" sz="1200" dirty="0"/>
          </a:p>
        </p:txBody>
      </p:sp>
      <p:sp>
        <p:nvSpPr>
          <p:cNvPr id="12" name="box-484"/>
          <p:cNvSpPr/>
          <p:nvPr/>
        </p:nvSpPr>
        <p:spPr>
          <a:xfrm>
            <a:off x="3749040" y="1783080"/>
            <a:ext cx="1463040" cy="2377440"/>
          </a:xfrm>
          <a:prstGeom prst="roundRect">
            <a:avLst>
              <a:gd name="adj" fmla="val 5000"/>
            </a:avLst>
          </a:prstGeom>
          <a:solidFill>
            <a:srgbClr val="F3E8FD"/>
          </a:solidFill>
          <a:ln/>
        </p:spPr>
      </p:sp>
      <p:sp>
        <p:nvSpPr>
          <p:cNvPr id="13" name="text-485"/>
          <p:cNvSpPr txBox="1"/>
          <p:nvPr/>
        </p:nvSpPr>
        <p:spPr>
          <a:xfrm>
            <a:off x="38862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-486"/>
          <p:cNvSpPr txBox="1"/>
          <p:nvPr/>
        </p:nvSpPr>
        <p:spPr>
          <a:xfrm>
            <a:off x="3886200" y="23774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presence</a:t>
            </a:r>
            <a:endParaRPr lang="en-US" sz="1400" dirty="0"/>
          </a:p>
        </p:txBody>
      </p:sp>
      <p:sp>
        <p:nvSpPr>
          <p:cNvPr id="15" name="text-487"/>
          <p:cNvSpPr txBox="1"/>
          <p:nvPr/>
        </p:nvSpPr>
        <p:spPr>
          <a:xfrm>
            <a:off x="3886200" y="29260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repair of an old merged table, then archive it</a:t>
            </a:r>
            <a:endParaRPr lang="en-US" sz="1200" dirty="0"/>
          </a:p>
        </p:txBody>
      </p:sp>
      <p:sp>
        <p:nvSpPr>
          <p:cNvPr id="16" name="box-488"/>
          <p:cNvSpPr/>
          <p:nvPr/>
        </p:nvSpPr>
        <p:spPr>
          <a:xfrm>
            <a:off x="5349240" y="1783080"/>
            <a:ext cx="1463040" cy="2377440"/>
          </a:xfrm>
          <a:prstGeom prst="roundRect">
            <a:avLst>
              <a:gd name="adj" fmla="val 5000"/>
            </a:avLst>
          </a:prstGeom>
          <a:solidFill>
            <a:srgbClr val="F5F1FA"/>
          </a:solidFill>
          <a:ln/>
        </p:spPr>
      </p:sp>
      <p:sp>
        <p:nvSpPr>
          <p:cNvPr id="17" name="text-489"/>
          <p:cNvSpPr txBox="1"/>
          <p:nvPr/>
        </p:nvSpPr>
        <p:spPr>
          <a:xfrm>
            <a:off x="5486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-490"/>
          <p:cNvSpPr txBox="1"/>
          <p:nvPr/>
        </p:nvSpPr>
        <p:spPr>
          <a:xfrm>
            <a:off x="5486400" y="23774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triggers</a:t>
            </a:r>
            <a:endParaRPr lang="en-US" sz="1400" dirty="0"/>
          </a:p>
        </p:txBody>
      </p:sp>
      <p:sp>
        <p:nvSpPr>
          <p:cNvPr id="19" name="text-491"/>
          <p:cNvSpPr txBox="1"/>
          <p:nvPr/>
        </p:nvSpPr>
        <p:spPr>
          <a:xfrm>
            <a:off x="5486400" y="29260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Edit, nightly, Monday and birthday triggers</a:t>
            </a:r>
            <a:endParaRPr lang="en-US" sz="1200" dirty="0"/>
          </a:p>
        </p:txBody>
      </p:sp>
      <p:sp>
        <p:nvSpPr>
          <p:cNvPr id="20" name="box-492"/>
          <p:cNvSpPr/>
          <p:nvPr/>
        </p:nvSpPr>
        <p:spPr>
          <a:xfrm>
            <a:off x="6949440" y="1783080"/>
            <a:ext cx="1463040" cy="2377440"/>
          </a:xfrm>
          <a:prstGeom prst="roundRect">
            <a:avLst>
              <a:gd name="adj" fmla="val 5000"/>
            </a:avLst>
          </a:prstGeom>
          <a:solidFill>
            <a:srgbClr val="F3E8FD"/>
          </a:solidFill>
          <a:ln/>
        </p:spPr>
      </p:sp>
      <p:sp>
        <p:nvSpPr>
          <p:cNvPr id="21" name="text-493"/>
          <p:cNvSpPr txBox="1"/>
          <p:nvPr/>
        </p:nvSpPr>
        <p:spPr>
          <a:xfrm>
            <a:off x="70866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-494"/>
          <p:cNvSpPr txBox="1"/>
          <p:nvPr/>
        </p:nvSpPr>
        <p:spPr>
          <a:xfrm>
            <a:off x="7086600" y="23774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sync</a:t>
            </a:r>
            <a:endParaRPr lang="en-US" sz="1400" dirty="0"/>
          </a:p>
        </p:txBody>
      </p:sp>
      <p:sp>
        <p:nvSpPr>
          <p:cNvPr id="23" name="text-495"/>
          <p:cNvSpPr txBox="1"/>
          <p:nvPr/>
        </p:nvSpPr>
        <p:spPr>
          <a:xfrm>
            <a:off x="7086600" y="29260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nightly job once</a:t>
            </a:r>
            <a:endParaRPr lang="en-US" sz="1200" dirty="0"/>
          </a:p>
        </p:txBody>
      </p:sp>
      <p:sp>
        <p:nvSpPr>
          <p:cNvPr id="24" name="box-496"/>
          <p:cNvSpPr/>
          <p:nvPr/>
        </p:nvSpPr>
        <p:spPr>
          <a:xfrm>
            <a:off x="8549640" y="1783080"/>
            <a:ext cx="1463040" cy="2377440"/>
          </a:xfrm>
          <a:prstGeom prst="roundRect">
            <a:avLst>
              <a:gd name="adj" fmla="val 5000"/>
            </a:avLst>
          </a:prstGeom>
          <a:solidFill>
            <a:srgbClr val="F5F1FA"/>
          </a:solidFill>
          <a:ln/>
        </p:spPr>
      </p:sp>
      <p:sp>
        <p:nvSpPr>
          <p:cNvPr id="25" name="text-497"/>
          <p:cNvSpPr txBox="1"/>
          <p:nvPr/>
        </p:nvSpPr>
        <p:spPr>
          <a:xfrm>
            <a:off x="86868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6" name="text-498"/>
          <p:cNvSpPr txBox="1"/>
          <p:nvPr/>
        </p:nvSpPr>
        <p:spPr>
          <a:xfrm>
            <a:off x="8686800" y="23774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tab IDs</a:t>
            </a:r>
            <a:endParaRPr lang="en-US" sz="1400" dirty="0"/>
          </a:p>
        </p:txBody>
      </p:sp>
      <p:sp>
        <p:nvSpPr>
          <p:cNvPr id="27" name="text-499"/>
          <p:cNvSpPr txBox="1"/>
          <p:nvPr/>
        </p:nvSpPr>
        <p:spPr>
          <a:xfrm>
            <a:off x="8686800" y="29260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tabs can be renamed safely</a:t>
            </a:r>
            <a:endParaRPr lang="en-US" sz="1200" dirty="0"/>
          </a:p>
        </p:txBody>
      </p:sp>
      <p:sp>
        <p:nvSpPr>
          <p:cNvPr id="28" name="box-500"/>
          <p:cNvSpPr/>
          <p:nvPr/>
        </p:nvSpPr>
        <p:spPr>
          <a:xfrm>
            <a:off x="10149840" y="1783080"/>
            <a:ext cx="1463040" cy="2377440"/>
          </a:xfrm>
          <a:prstGeom prst="roundRect">
            <a:avLst>
              <a:gd name="adj" fmla="val 5000"/>
            </a:avLst>
          </a:prstGeom>
          <a:solidFill>
            <a:srgbClr val="F3E8FD"/>
          </a:solidFill>
          <a:ln/>
        </p:spPr>
      </p:sp>
      <p:sp>
        <p:nvSpPr>
          <p:cNvPr id="29" name="text-501"/>
          <p:cNvSpPr txBox="1"/>
          <p:nvPr/>
        </p:nvSpPr>
        <p:spPr>
          <a:xfrm>
            <a:off x="102870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30" name="text-502"/>
          <p:cNvSpPr txBox="1"/>
          <p:nvPr/>
        </p:nvSpPr>
        <p:spPr>
          <a:xfrm>
            <a:off x="10287000" y="23774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layout</a:t>
            </a:r>
            <a:endParaRPr lang="en-US" sz="1400" dirty="0"/>
          </a:p>
        </p:txBody>
      </p:sp>
      <p:sp>
        <p:nvSpPr>
          <p:cNvPr id="31" name="text-503"/>
          <p:cNvSpPr txBox="1"/>
          <p:nvPr/>
        </p:nvSpPr>
        <p:spPr>
          <a:xfrm>
            <a:off x="10287000" y="29260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five tabs, hide the rest, delete an empty Sheet1</a:t>
            </a:r>
            <a:endParaRPr lang="en-US" sz="1200" dirty="0"/>
          </a:p>
        </p:txBody>
      </p:sp>
      <p:sp>
        <p:nvSpPr>
          <p:cNvPr id="32" name="text-504"/>
          <p:cNvSpPr txBox="1"/>
          <p:nvPr/>
        </p:nvSpPr>
        <p:spPr>
          <a:xfrm>
            <a:off x="548640" y="45262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min</a:t>
            </a:r>
            <a:endParaRPr lang="en-US" sz="3600" dirty="0"/>
          </a:p>
        </p:txBody>
      </p:sp>
      <p:sp>
        <p:nvSpPr>
          <p:cNvPr id="33" name="text-505"/>
          <p:cNvSpPr txBox="1"/>
          <p:nvPr/>
        </p:nvSpPr>
        <p:spPr>
          <a:xfrm>
            <a:off x="548640" y="5166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test sheet</a:t>
            </a:r>
            <a:endParaRPr lang="en-US" sz="1400" dirty="0"/>
          </a:p>
        </p:txBody>
      </p:sp>
      <p:sp>
        <p:nvSpPr>
          <p:cNvPr id="34" name="text-506"/>
          <p:cNvSpPr txBox="1"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Re-runnable</a:t>
            </a:r>
            <a:endParaRPr lang="en-US" sz="3600" dirty="0"/>
          </a:p>
        </p:txBody>
      </p:sp>
      <p:sp>
        <p:nvSpPr>
          <p:cNvPr id="35" name="text-507"/>
          <p:cNvSpPr txBox="1"/>
          <p:nvPr/>
        </p:nvSpPr>
        <p:spPr>
          <a:xfrm>
            <a:off x="4297680" y="5166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run again any time</a:t>
            </a:r>
            <a:endParaRPr lang="en-US" sz="1400" dirty="0"/>
          </a:p>
        </p:txBody>
      </p:sp>
      <p:sp>
        <p:nvSpPr>
          <p:cNvPr id="36" name="text-508"/>
          <p:cNvSpPr txBox="1"/>
          <p:nvPr/>
        </p:nvSpPr>
        <p:spPr>
          <a:xfrm>
            <a:off x="8046720" y="45262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rows</a:t>
            </a:r>
            <a:endParaRPr lang="en-US" sz="3600" dirty="0"/>
          </a:p>
        </p:txBody>
      </p:sp>
      <p:sp>
        <p:nvSpPr>
          <p:cNvPr id="37" name="text-509"/>
          <p:cNvSpPr txBox="1"/>
          <p:nvPr/>
        </p:nvSpPr>
        <p:spPr>
          <a:xfrm>
            <a:off x="8046720" y="5166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deleted by an upgrade</a:t>
            </a:r>
            <a:endParaRPr lang="en-US" sz="1400" dirty="0"/>
          </a:p>
        </p:txBody>
      </p:sp>
      <p:sp>
        <p:nvSpPr>
          <p:cNvPr id="38" name="text-510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after linking a new Library version, after a schema change, or whenever a tab looks broken.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Configuring the sheet for your team</a:t>
            </a:r>
            <a:endParaRPr lang="en-US" sz="3200" dirty="0"/>
          </a:p>
        </p:txBody>
      </p:sp>
      <p:sp>
        <p:nvSpPr>
          <p:cNvPr id="3" name="pill-511"/>
          <p:cNvSpPr/>
          <p:nvPr/>
        </p:nvSpPr>
        <p:spPr>
          <a:xfrm>
            <a:off x="548640" y="274320"/>
            <a:ext cx="1687068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512"/>
          <p:cNvSpPr/>
          <p:nvPr/>
        </p:nvSpPr>
        <p:spPr>
          <a:xfrm>
            <a:off x="548640" y="164592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5F1FA"/>
          </a:solidFill>
          <a:ln/>
        </p:spPr>
      </p:sp>
      <p:sp>
        <p:nvSpPr>
          <p:cNvPr id="5" name="iconbg-513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51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85162"/>
            <a:ext cx="281635" cy="281635"/>
          </a:xfrm>
          <a:prstGeom prst="rect">
            <a:avLst/>
          </a:prstGeom>
        </p:spPr>
      </p:pic>
      <p:sp>
        <p:nvSpPr>
          <p:cNvPr id="7" name="text-515"/>
          <p:cNvSpPr txBox="1"/>
          <p:nvPr/>
        </p:nvSpPr>
        <p:spPr>
          <a:xfrm>
            <a:off x="1417320" y="18928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Locations</a:t>
            </a:r>
            <a:endParaRPr lang="en-US" sz="1600" dirty="0"/>
          </a:p>
        </p:txBody>
      </p:sp>
      <p:sp>
        <p:nvSpPr>
          <p:cNvPr id="8" name="text-516"/>
          <p:cNvSpPr txBox="1"/>
          <p:nvPr/>
        </p:nvSpPr>
        <p:spPr>
          <a:xfrm>
            <a:off x="1417320" y="2276856"/>
            <a:ext cx="2514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→ Edit Locations. Columns: Location · Type · Active.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Types: Office, Client site, Remote. Defaults: OneRoof, Remote, JLL, C04, C60.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active Office is the default for days with no routine.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Untick Active to retire a place: past days stay valid; a toast lists who still uses it.</a:t>
            </a:r>
            <a:endParaRPr lang="en-US" sz="1300" dirty="0"/>
          </a:p>
        </p:txBody>
      </p:sp>
      <p:sp>
        <p:nvSpPr>
          <p:cNvPr id="9" name="box-517"/>
          <p:cNvSpPr/>
          <p:nvPr/>
        </p:nvSpPr>
        <p:spPr>
          <a:xfrm>
            <a:off x="4297680" y="164592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5F1FA"/>
          </a:solidFill>
          <a:ln/>
        </p:spPr>
      </p:sp>
      <p:sp>
        <p:nvSpPr>
          <p:cNvPr id="10" name="iconbg-518"/>
          <p:cNvSpPr/>
          <p:nvPr/>
        </p:nvSpPr>
        <p:spPr>
          <a:xfrm>
            <a:off x="452628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51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922" y="1985162"/>
            <a:ext cx="281635" cy="281635"/>
          </a:xfrm>
          <a:prstGeom prst="rect">
            <a:avLst/>
          </a:prstGeom>
        </p:spPr>
      </p:pic>
      <p:sp>
        <p:nvSpPr>
          <p:cNvPr id="12" name="text-520"/>
          <p:cNvSpPr txBox="1"/>
          <p:nvPr/>
        </p:nvSpPr>
        <p:spPr>
          <a:xfrm>
            <a:off x="5166360" y="18928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Holidays</a:t>
            </a:r>
            <a:endParaRPr lang="en-US" sz="1600" dirty="0"/>
          </a:p>
        </p:txBody>
      </p:sp>
      <p:sp>
        <p:nvSpPr>
          <p:cNvPr id="13" name="text-521"/>
          <p:cNvSpPr txBox="1"/>
          <p:nvPr/>
        </p:nvSpPr>
        <p:spPr>
          <a:xfrm>
            <a:off x="5166360" y="2276856"/>
            <a:ext cx="2514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→ Edit Holidays. Columns: Date · Holiday.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11 French public holidays of this year and next are added once a year.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bridges and office closures by hand.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deleted line stays deleted (e.g. remove Whit Monday if the team works it).</a:t>
            </a:r>
            <a:endParaRPr lang="en-US" sz="1300" dirty="0"/>
          </a:p>
        </p:txBody>
      </p:sp>
      <p:sp>
        <p:nvSpPr>
          <p:cNvPr id="14" name="box-522"/>
          <p:cNvSpPr/>
          <p:nvPr/>
        </p:nvSpPr>
        <p:spPr>
          <a:xfrm>
            <a:off x="8046720" y="164592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5F1FA"/>
          </a:solidFill>
          <a:ln/>
        </p:spPr>
      </p:sp>
      <p:sp>
        <p:nvSpPr>
          <p:cNvPr id="15" name="iconbg-523"/>
          <p:cNvSpPr/>
          <p:nvPr/>
        </p:nvSpPr>
        <p:spPr>
          <a:xfrm>
            <a:off x="827532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5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962" y="1985162"/>
            <a:ext cx="281635" cy="281635"/>
          </a:xfrm>
          <a:prstGeom prst="rect">
            <a:avLst/>
          </a:prstGeom>
        </p:spPr>
      </p:pic>
      <p:sp>
        <p:nvSpPr>
          <p:cNvPr id="17" name="text-525"/>
          <p:cNvSpPr txBox="1"/>
          <p:nvPr/>
        </p:nvSpPr>
        <p:spPr>
          <a:xfrm>
            <a:off x="8915400" y="18928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</a:t>
            </a:r>
            <a:endParaRPr lang="en-US" sz="1600" dirty="0"/>
          </a:p>
        </p:txBody>
      </p:sp>
      <p:sp>
        <p:nvSpPr>
          <p:cNvPr id="18" name="text-526"/>
          <p:cNvSpPr txBox="1"/>
          <p:nvPr/>
        </p:nvSpPr>
        <p:spPr>
          <a:xfrm>
            <a:off x="8915400" y="2276856"/>
            <a:ext cx="2514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GOOGLE_CALENDAR_ID: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calendar for events (default: primary).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GOOGLE_TASKS_LIST_ID: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automatically to “Project Management Tasks”.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ADMIN_EMAILS: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edit locked columns, besides the owner.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document properties: set them once from the Apps Script editor (next slide), not in Project Settings.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Changing settings from the Apps Script editor</a:t>
            </a:r>
            <a:endParaRPr lang="en-US" sz="3200" dirty="0"/>
          </a:p>
        </p:txBody>
      </p:sp>
      <p:sp>
        <p:nvSpPr>
          <p:cNvPr id="3" name="pill-527"/>
          <p:cNvSpPr/>
          <p:nvPr/>
        </p:nvSpPr>
        <p:spPr>
          <a:xfrm>
            <a:off x="548640" y="274320"/>
            <a:ext cx="1687068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text-528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properties cannot be edited in the Apps Script settings page. Add this function to Code.gs, choose it in the toolbar, click Run once, then delete it.</a:t>
            </a:r>
            <a:endParaRPr lang="en-US" sz="1500" dirty="0"/>
          </a:p>
        </p:txBody>
      </p:sp>
      <p:sp>
        <p:nvSpPr>
          <p:cNvPr id="5" name="box-529"/>
          <p:cNvSpPr/>
          <p:nvPr/>
        </p:nvSpPr>
        <p:spPr>
          <a:xfrm>
            <a:off x="548640" y="2377440"/>
            <a:ext cx="6766560" cy="2743200"/>
          </a:xfrm>
          <a:prstGeom prst="roundRect">
            <a:avLst>
              <a:gd name="adj" fmla="val 2667"/>
            </a:avLst>
          </a:prstGeom>
          <a:solidFill>
            <a:srgbClr val="1E1B2E"/>
          </a:solidFill>
          <a:ln/>
        </p:spPr>
      </p:sp>
      <p:sp>
        <p:nvSpPr>
          <p:cNvPr id="6" name="text-530"/>
          <p:cNvSpPr txBox="1"/>
          <p:nvPr/>
        </p:nvSpPr>
        <p:spPr>
          <a:xfrm>
            <a:off x="777240" y="2560320"/>
            <a:ext cx="6400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configureWorkspace()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8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Team calendar for Events (optional)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WorkspacePM.setCalendarId("team@group.calendar.google.com");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8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Who besides the owner may edit locked columns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WorkspacePM.setAuthorizedAdmins(["lead@example.com"]);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8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Use an existing Google Tasks list (optional)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WorkspacePM.setTasksListId("&lt;task list id&gt;");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-531"/>
          <p:cNvSpPr txBox="1"/>
          <p:nvPr/>
        </p:nvSpPr>
        <p:spPr>
          <a:xfrm>
            <a:off x="7680960" y="23774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setting changes</a:t>
            </a:r>
            <a:endParaRPr lang="en-US" sz="1600" dirty="0"/>
          </a:p>
        </p:txBody>
      </p:sp>
      <p:sp>
        <p:nvSpPr>
          <p:cNvPr id="8" name="text-532"/>
          <p:cNvSpPr txBox="1"/>
          <p:nvPr/>
        </p:nvSpPr>
        <p:spPr>
          <a:xfrm>
            <a:off x="7680960" y="278892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also written to this calendar; the owner must be able to edit it.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the next time protections are rebuilt (nightly, or Initialize / Upgrade).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list: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needed to reuse a list; otherwise the Library creates one.</a:t>
            </a:r>
            <a:endParaRPr lang="en-US" sz="1400" dirty="0"/>
          </a:p>
        </p:txBody>
      </p:sp>
      <p:sp>
        <p:nvSpPr>
          <p:cNvPr id="9" name="text-533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the Library this way runs in the context of this sheet, so the values are stored for this sheet only.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and the owner account</a:t>
            </a:r>
            <a:endParaRPr lang="en-US" sz="3200" dirty="0"/>
          </a:p>
        </p:txBody>
      </p:sp>
      <p:sp>
        <p:nvSpPr>
          <p:cNvPr id="3" name="pill-534"/>
          <p:cNvSpPr/>
          <p:nvPr/>
        </p:nvSpPr>
        <p:spPr>
          <a:xfrm>
            <a:off x="548640" y="274320"/>
            <a:ext cx="1687068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graphicFrame>
        <p:nvGraphicFramePr>
          <p:cNvPr id="28" name="table-5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1737360"/>
                <a:gridCol w="4663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installedTaskEditHandler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edit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the edit as the owner (Tasks, Calendar, sync, coverage)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nightlySyncJob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2:00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reconciliation, ten steps, five-minute budget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Presence reminder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mondayPresenceReminder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 8:00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Emails Members with undeclared 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birthdayReminderJob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9:00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 email and calendar link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x-536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6" name="iconbg-537"/>
          <p:cNvSpPr/>
          <p:nvPr/>
        </p:nvSpPr>
        <p:spPr>
          <a:xfrm>
            <a:off x="777240" y="4160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con-53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4271162"/>
            <a:ext cx="281635" cy="281635"/>
          </a:xfrm>
          <a:prstGeom prst="rect">
            <a:avLst/>
          </a:prstGeom>
        </p:spPr>
      </p:pic>
      <p:sp>
        <p:nvSpPr>
          <p:cNvPr id="8" name="text-539"/>
          <p:cNvSpPr txBox="1"/>
          <p:nvPr/>
        </p:nvSpPr>
        <p:spPr>
          <a:xfrm>
            <a:off x="1417320" y="4178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as the owner</a:t>
            </a:r>
            <a:endParaRPr lang="en-US" sz="1600" dirty="0"/>
          </a:p>
        </p:txBody>
      </p:sp>
      <p:sp>
        <p:nvSpPr>
          <p:cNvPr id="9" name="text-540"/>
          <p:cNvSpPr txBox="1"/>
          <p:nvPr/>
        </p:nvSpPr>
        <p:spPr>
          <a:xfrm>
            <a:off x="1417320" y="4562856"/>
            <a:ext cx="43891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/ Upgrade installs all four for the account that runs it. In this setup that is the owner's personal Gmail: emails come from it and the Team Birthdays calendar belongs to it.</a:t>
            </a:r>
            <a:endParaRPr lang="en-US" sz="1400" dirty="0"/>
          </a:p>
        </p:txBody>
      </p:sp>
      <p:sp>
        <p:nvSpPr>
          <p:cNvPr id="10" name="box-541"/>
          <p:cNvSpPr/>
          <p:nvPr/>
        </p:nvSpPr>
        <p:spPr>
          <a:xfrm>
            <a:off x="6172200" y="393192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F5F1FA"/>
          </a:solidFill>
          <a:ln/>
        </p:spPr>
      </p:sp>
      <p:sp>
        <p:nvSpPr>
          <p:cNvPr id="11" name="iconbg-542"/>
          <p:cNvSpPr/>
          <p:nvPr/>
        </p:nvSpPr>
        <p:spPr>
          <a:xfrm>
            <a:off x="6400800" y="4160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5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4271162"/>
            <a:ext cx="281635" cy="281635"/>
          </a:xfrm>
          <a:prstGeom prst="rect">
            <a:avLst/>
          </a:prstGeom>
        </p:spPr>
      </p:pic>
      <p:sp>
        <p:nvSpPr>
          <p:cNvPr id="13" name="text-544"/>
          <p:cNvSpPr txBox="1"/>
          <p:nvPr/>
        </p:nvSpPr>
        <p:spPr>
          <a:xfrm>
            <a:off x="7040880" y="4178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run per edit</a:t>
            </a:r>
            <a:endParaRPr lang="en-US" sz="1600" dirty="0"/>
          </a:p>
        </p:txBody>
      </p:sp>
      <p:sp>
        <p:nvSpPr>
          <p:cNvPr id="14" name="text-545"/>
          <p:cNvSpPr txBox="1"/>
          <p:nvPr/>
        </p:nvSpPr>
        <p:spPr>
          <a:xfrm>
            <a:off x="7040880" y="4562856"/>
            <a:ext cx="43891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edit trigger exists, the simple onEdit returns at once (flag EDIT_TRIGGER_ACTIVE), so each edit is processed once. Re-run Initialize / Upgrade if triggers were deleted.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Upgrading, deploying and rolling back</a:t>
            </a:r>
            <a:endParaRPr lang="en-US" sz="3200" dirty="0"/>
          </a:p>
        </p:txBody>
      </p:sp>
      <p:sp>
        <p:nvSpPr>
          <p:cNvPr id="3" name="pill-546"/>
          <p:cNvSpPr/>
          <p:nvPr/>
        </p:nvSpPr>
        <p:spPr>
          <a:xfrm>
            <a:off x="548640" y="274320"/>
            <a:ext cx="1687068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Setting it up</a:t>
            </a:r>
            <a:endParaRPr lang="en-US" sz="1100" dirty="0"/>
          </a:p>
        </p:txBody>
      </p:sp>
      <p:sp>
        <p:nvSpPr>
          <p:cNvPr id="4" name="box-547"/>
          <p:cNvSpPr/>
          <p:nvPr/>
        </p:nvSpPr>
        <p:spPr>
          <a:xfrm>
            <a:off x="548640" y="164592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5F1FA"/>
          </a:solidFill>
          <a:ln/>
        </p:spPr>
      </p:sp>
      <p:sp>
        <p:nvSpPr>
          <p:cNvPr id="5" name="iconbg-548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54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85162"/>
            <a:ext cx="281635" cy="281635"/>
          </a:xfrm>
          <a:prstGeom prst="rect">
            <a:avLst/>
          </a:prstGeom>
        </p:spPr>
      </p:pic>
      <p:sp>
        <p:nvSpPr>
          <p:cNvPr id="7" name="text-550"/>
          <p:cNvSpPr txBox="1"/>
          <p:nvPr/>
        </p:nvSpPr>
        <p:spPr>
          <a:xfrm>
            <a:off x="1417320" y="18928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 a team sheet</a:t>
            </a:r>
            <a:endParaRPr lang="en-US" sz="1600" dirty="0"/>
          </a:p>
        </p:txBody>
      </p:sp>
      <p:sp>
        <p:nvSpPr>
          <p:cNvPr id="8" name="text-551"/>
          <p:cNvSpPr txBox="1"/>
          <p:nvPr/>
        </p:nvSpPr>
        <p:spPr>
          <a:xfrm>
            <a:off x="1417320" y="2276856"/>
            <a:ext cx="2514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Script → Libraries → WorkspacePM → choose the new version → Save.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the sheet: Initialize / Upgrade.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mode (HEAD) gets every push at once: fine for testing, not for production.</a:t>
            </a:r>
            <a:endParaRPr lang="en-US" sz="1400" dirty="0"/>
          </a:p>
        </p:txBody>
      </p:sp>
      <p:sp>
        <p:nvSpPr>
          <p:cNvPr id="9" name="box-552"/>
          <p:cNvSpPr/>
          <p:nvPr/>
        </p:nvSpPr>
        <p:spPr>
          <a:xfrm>
            <a:off x="4297680" y="164592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5F1FA"/>
          </a:solidFill>
          <a:ln/>
        </p:spPr>
      </p:sp>
      <p:sp>
        <p:nvSpPr>
          <p:cNvPr id="10" name="iconbg-553"/>
          <p:cNvSpPr/>
          <p:nvPr/>
        </p:nvSpPr>
        <p:spPr>
          <a:xfrm>
            <a:off x="452628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55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922" y="1985162"/>
            <a:ext cx="281635" cy="281635"/>
          </a:xfrm>
          <a:prstGeom prst="rect">
            <a:avLst/>
          </a:prstGeom>
        </p:spPr>
      </p:pic>
      <p:sp>
        <p:nvSpPr>
          <p:cNvPr id="12" name="text-555"/>
          <p:cNvSpPr txBox="1"/>
          <p:nvPr/>
        </p:nvSpPr>
        <p:spPr>
          <a:xfrm>
            <a:off x="5166360" y="18928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(maintainer)</a:t>
            </a:r>
            <a:endParaRPr lang="en-US" sz="1600" dirty="0"/>
          </a:p>
        </p:txBody>
      </p:sp>
      <p:sp>
        <p:nvSpPr>
          <p:cNvPr id="13" name="text-556"/>
          <p:cNvSpPr txBox="1"/>
          <p:nvPr/>
        </p:nvSpPr>
        <p:spPr>
          <a:xfrm>
            <a:off x="5166360" y="2276856"/>
            <a:ext cx="2514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tests: node --test test/*.js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tag deploy-YYYYMMDD-HHMM.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src &amp;&amp; clasp push (Library); cd consumer &amp;&amp; clasp push when the wrapper changed.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by pulling into .scratch/live/ and diffing.</a:t>
            </a:r>
            <a:endParaRPr lang="en-US" sz="1400" dirty="0"/>
          </a:p>
        </p:txBody>
      </p:sp>
      <p:sp>
        <p:nvSpPr>
          <p:cNvPr id="14" name="box-557"/>
          <p:cNvSpPr/>
          <p:nvPr/>
        </p:nvSpPr>
        <p:spPr>
          <a:xfrm>
            <a:off x="8046720" y="164592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5F1FA"/>
          </a:solidFill>
          <a:ln/>
        </p:spPr>
      </p:sp>
      <p:sp>
        <p:nvSpPr>
          <p:cNvPr id="15" name="iconbg-558"/>
          <p:cNvSpPr/>
          <p:nvPr/>
        </p:nvSpPr>
        <p:spPr>
          <a:xfrm>
            <a:off x="827532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55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962" y="1985162"/>
            <a:ext cx="281635" cy="281635"/>
          </a:xfrm>
          <a:prstGeom prst="rect">
            <a:avLst/>
          </a:prstGeom>
        </p:spPr>
      </p:pic>
      <p:sp>
        <p:nvSpPr>
          <p:cNvPr id="17" name="text-560"/>
          <p:cNvSpPr txBox="1"/>
          <p:nvPr/>
        </p:nvSpPr>
        <p:spPr>
          <a:xfrm>
            <a:off x="8915400" y="18928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back</a:t>
            </a:r>
            <a:endParaRPr lang="en-US" sz="1600" dirty="0"/>
          </a:p>
        </p:txBody>
      </p:sp>
      <p:sp>
        <p:nvSpPr>
          <p:cNvPr id="18" name="text-561"/>
          <p:cNvSpPr txBox="1"/>
          <p:nvPr/>
        </p:nvSpPr>
        <p:spPr>
          <a:xfrm>
            <a:off x="8915400" y="2276856"/>
            <a:ext cx="2514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out the previous deploy-* tag.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src/ (and consumer/) again with clasp.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pinned sheets: select the previous numbered version instead.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not rolled back: upgrades are additive, so older code still reads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562"/>
          <p:cNvSpPr/>
          <p:nvPr/>
        </p:nvSpPr>
        <p:spPr>
          <a:xfrm>
            <a:off x="731520" y="1325880"/>
            <a:ext cx="1188720" cy="329184"/>
          </a:xfrm>
          <a:prstGeom prst="roundRect">
            <a:avLst>
              <a:gd name="adj" fmla="val 138889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cover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3832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For maintainers and curious admins: how the pieces fit, how data flows from what people type to what the sheet derives, and what keeps it consistent.</a:t>
            </a:r>
            <a:endParaRPr lang="en-US" sz="1800" dirty="0"/>
          </a:p>
        </p:txBody>
      </p:sp>
      <p:sp>
        <p:nvSpPr>
          <p:cNvPr id="5" name="box-563"/>
          <p:cNvSpPr/>
          <p:nvPr/>
        </p:nvSpPr>
        <p:spPr>
          <a:xfrm>
            <a:off x="7680960" y="1325880"/>
            <a:ext cx="3931920" cy="4206240"/>
          </a:xfrm>
          <a:prstGeom prst="roundRect">
            <a:avLst>
              <a:gd name="adj" fmla="val 1395"/>
            </a:avLst>
          </a:prstGeom>
          <a:solidFill>
            <a:srgbClr val="2A2640"/>
          </a:solidFill>
          <a:ln/>
        </p:spPr>
      </p:sp>
      <p:sp>
        <p:nvSpPr>
          <p:cNvPr id="6" name="text-564"/>
          <p:cNvSpPr txBox="1"/>
          <p:nvPr/>
        </p:nvSpPr>
        <p:spPr>
          <a:xfrm>
            <a:off x="800100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565"/>
          <p:cNvSpPr txBox="1"/>
          <p:nvPr/>
        </p:nvSpPr>
        <p:spPr>
          <a:xfrm>
            <a:off x="8001000" y="20116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modules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and derivations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 pipeline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compilation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algorithm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job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registry and migrations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Lock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Data for Looker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three layers</a:t>
            </a:r>
            <a:endParaRPr lang="en-US" sz="3200" dirty="0"/>
          </a:p>
        </p:txBody>
      </p:sp>
      <p:sp>
        <p:nvSpPr>
          <p:cNvPr id="3" name="pill-566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567"/>
          <p:cNvSpPr/>
          <p:nvPr/>
        </p:nvSpPr>
        <p:spPr>
          <a:xfrm>
            <a:off x="548640" y="1645920"/>
            <a:ext cx="7589520" cy="1234440"/>
          </a:xfrm>
          <a:prstGeom prst="roundRect">
            <a:avLst>
              <a:gd name="adj" fmla="val 5926"/>
            </a:avLst>
          </a:prstGeom>
          <a:solidFill>
            <a:srgbClr val="E6F4EA"/>
          </a:solidFill>
          <a:ln/>
        </p:spPr>
      </p:sp>
      <p:sp>
        <p:nvSpPr>
          <p:cNvPr id="5" name="text-568"/>
          <p:cNvSpPr txBox="1"/>
          <p:nvPr/>
        </p:nvSpPr>
        <p:spPr>
          <a:xfrm>
            <a:off x="731520" y="164592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sheet</a:t>
            </a:r>
            <a:endParaRPr lang="en-US" sz="1600" dirty="0"/>
          </a:p>
        </p:txBody>
      </p:sp>
      <p:sp>
        <p:nvSpPr>
          <p:cNvPr id="6" name="box-569"/>
          <p:cNvSpPr/>
          <p:nvPr/>
        </p:nvSpPr>
        <p:spPr>
          <a:xfrm>
            <a:off x="2606040" y="19202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text-570"/>
          <p:cNvSpPr txBox="1"/>
          <p:nvPr/>
        </p:nvSpPr>
        <p:spPr>
          <a:xfrm>
            <a:off x="2651760" y="19202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tabs</a:t>
            </a:r>
            <a:endParaRPr lang="en-US" sz="1200" dirty="0"/>
          </a:p>
        </p:txBody>
      </p:sp>
      <p:sp>
        <p:nvSpPr>
          <p:cNvPr id="8" name="box-571"/>
          <p:cNvSpPr/>
          <p:nvPr/>
        </p:nvSpPr>
        <p:spPr>
          <a:xfrm>
            <a:off x="3977640" y="19202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9" name="text-572"/>
          <p:cNvSpPr txBox="1"/>
          <p:nvPr/>
        </p:nvSpPr>
        <p:spPr>
          <a:xfrm>
            <a:off x="4023360" y="19202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tabs</a:t>
            </a:r>
            <a:endParaRPr lang="en-US" sz="1200" dirty="0"/>
          </a:p>
        </p:txBody>
      </p:sp>
      <p:sp>
        <p:nvSpPr>
          <p:cNvPr id="10" name="box-573"/>
          <p:cNvSpPr/>
          <p:nvPr/>
        </p:nvSpPr>
        <p:spPr>
          <a:xfrm>
            <a:off x="5349240" y="19202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1" name="text-574"/>
          <p:cNvSpPr txBox="1"/>
          <p:nvPr/>
        </p:nvSpPr>
        <p:spPr>
          <a:xfrm>
            <a:off x="5394960" y="19202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Sidebars &amp; dialogs</a:t>
            </a:r>
            <a:endParaRPr lang="en-US" sz="1200" dirty="0"/>
          </a:p>
        </p:txBody>
      </p:sp>
      <p:sp>
        <p:nvSpPr>
          <p:cNvPr id="12" name="box-575"/>
          <p:cNvSpPr/>
          <p:nvPr/>
        </p:nvSpPr>
        <p:spPr>
          <a:xfrm>
            <a:off x="6720840" y="19202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3" name="text-576"/>
          <p:cNvSpPr txBox="1"/>
          <p:nvPr/>
        </p:nvSpPr>
        <p:spPr>
          <a:xfrm>
            <a:off x="6766560" y="19202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Code.gs wrapper</a:t>
            </a:r>
            <a:endParaRPr lang="en-US" sz="1200" dirty="0"/>
          </a:p>
        </p:txBody>
      </p:sp>
      <p:sp>
        <p:nvSpPr>
          <p:cNvPr id="14" name="arrow-577"/>
          <p:cNvSpPr/>
          <p:nvPr/>
        </p:nvSpPr>
        <p:spPr>
          <a:xfrm>
            <a:off x="4343400" y="2898648"/>
            <a:ext cx="914" cy="237744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  <a:tailEnd type="triangle"/>
          </a:ln>
        </p:spPr>
      </p:sp>
      <p:sp>
        <p:nvSpPr>
          <p:cNvPr id="15" name="arrow-578"/>
          <p:cNvSpPr/>
          <p:nvPr/>
        </p:nvSpPr>
        <p:spPr>
          <a:xfrm flipV="1">
            <a:off x="6172200" y="2898648"/>
            <a:ext cx="914" cy="237744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  <a:tailEnd type="triangle"/>
          </a:ln>
        </p:spPr>
      </p:sp>
      <p:sp>
        <p:nvSpPr>
          <p:cNvPr id="16" name="box-579"/>
          <p:cNvSpPr/>
          <p:nvPr/>
        </p:nvSpPr>
        <p:spPr>
          <a:xfrm>
            <a:off x="548640" y="3154680"/>
            <a:ext cx="7589520" cy="1234440"/>
          </a:xfrm>
          <a:prstGeom prst="roundRect">
            <a:avLst>
              <a:gd name="adj" fmla="val 5926"/>
            </a:avLst>
          </a:prstGeom>
          <a:solidFill>
            <a:srgbClr val="F3E8FD"/>
          </a:solidFill>
          <a:ln/>
        </p:spPr>
      </p:sp>
      <p:sp>
        <p:nvSpPr>
          <p:cNvPr id="17" name="text-580"/>
          <p:cNvSpPr txBox="1"/>
          <p:nvPr/>
        </p:nvSpPr>
        <p:spPr>
          <a:xfrm>
            <a:off x="731520" y="3154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WorkspacePM Library</a:t>
            </a:r>
            <a:endParaRPr lang="en-US" sz="1600" dirty="0"/>
          </a:p>
        </p:txBody>
      </p:sp>
      <p:sp>
        <p:nvSpPr>
          <p:cNvPr id="18" name="box-581"/>
          <p:cNvSpPr/>
          <p:nvPr/>
        </p:nvSpPr>
        <p:spPr>
          <a:xfrm>
            <a:off x="2606040" y="342900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text-582"/>
          <p:cNvSpPr txBox="1"/>
          <p:nvPr/>
        </p:nvSpPr>
        <p:spPr>
          <a:xfrm>
            <a:off x="2651760" y="34290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router</a:t>
            </a:r>
            <a:endParaRPr lang="en-US" sz="1200" dirty="0"/>
          </a:p>
        </p:txBody>
      </p:sp>
      <p:sp>
        <p:nvSpPr>
          <p:cNvPr id="20" name="box-583"/>
          <p:cNvSpPr/>
          <p:nvPr/>
        </p:nvSpPr>
        <p:spPr>
          <a:xfrm>
            <a:off x="3977640" y="342900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-584"/>
          <p:cNvSpPr txBox="1"/>
          <p:nvPr/>
        </p:nvSpPr>
        <p:spPr>
          <a:xfrm>
            <a:off x="4023360" y="34290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engines</a:t>
            </a:r>
            <a:endParaRPr lang="en-US" sz="1200" dirty="0"/>
          </a:p>
        </p:txBody>
      </p:sp>
      <p:sp>
        <p:nvSpPr>
          <p:cNvPr id="22" name="box-585"/>
          <p:cNvSpPr/>
          <p:nvPr/>
        </p:nvSpPr>
        <p:spPr>
          <a:xfrm>
            <a:off x="5349240" y="342900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3" name="text-586"/>
          <p:cNvSpPr txBox="1"/>
          <p:nvPr/>
        </p:nvSpPr>
        <p:spPr>
          <a:xfrm>
            <a:off x="5394960" y="34290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&amp; coverage</a:t>
            </a:r>
            <a:endParaRPr lang="en-US" sz="1200" dirty="0"/>
          </a:p>
        </p:txBody>
      </p:sp>
      <p:sp>
        <p:nvSpPr>
          <p:cNvPr id="24" name="box-587"/>
          <p:cNvSpPr/>
          <p:nvPr/>
        </p:nvSpPr>
        <p:spPr>
          <a:xfrm>
            <a:off x="6720840" y="342900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text-588"/>
          <p:cNvSpPr txBox="1"/>
          <p:nvPr/>
        </p:nvSpPr>
        <p:spPr>
          <a:xfrm>
            <a:off x="6766560" y="34290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200" dirty="0"/>
          </a:p>
        </p:txBody>
      </p:sp>
      <p:sp>
        <p:nvSpPr>
          <p:cNvPr id="26" name="arrow-589"/>
          <p:cNvSpPr/>
          <p:nvPr/>
        </p:nvSpPr>
        <p:spPr>
          <a:xfrm>
            <a:off x="4343400" y="4407408"/>
            <a:ext cx="914" cy="237744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  <a:tailEnd type="triangle"/>
          </a:ln>
        </p:spPr>
      </p:sp>
      <p:sp>
        <p:nvSpPr>
          <p:cNvPr id="27" name="arrow-590"/>
          <p:cNvSpPr/>
          <p:nvPr/>
        </p:nvSpPr>
        <p:spPr>
          <a:xfrm flipV="1">
            <a:off x="6172200" y="4407408"/>
            <a:ext cx="914" cy="237744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  <a:tailEnd type="triangle"/>
          </a:ln>
        </p:spPr>
      </p:sp>
      <p:sp>
        <p:nvSpPr>
          <p:cNvPr id="28" name="box-591"/>
          <p:cNvSpPr/>
          <p:nvPr/>
        </p:nvSpPr>
        <p:spPr>
          <a:xfrm>
            <a:off x="548640" y="4663440"/>
            <a:ext cx="7589520" cy="1234440"/>
          </a:xfrm>
          <a:prstGeom prst="roundRect">
            <a:avLst>
              <a:gd name="adj" fmla="val 5926"/>
            </a:avLst>
          </a:prstGeom>
          <a:solidFill>
            <a:srgbClr val="E8F0FE"/>
          </a:solidFill>
          <a:ln/>
        </p:spPr>
      </p:sp>
      <p:sp>
        <p:nvSpPr>
          <p:cNvPr id="29" name="text-592"/>
          <p:cNvSpPr txBox="1"/>
          <p:nvPr/>
        </p:nvSpPr>
        <p:spPr>
          <a:xfrm>
            <a:off x="731520" y="466344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6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services</a:t>
            </a:r>
            <a:endParaRPr lang="en-US" sz="1600" dirty="0"/>
          </a:p>
        </p:txBody>
      </p:sp>
      <p:sp>
        <p:nvSpPr>
          <p:cNvPr id="30" name="box-593"/>
          <p:cNvSpPr/>
          <p:nvPr/>
        </p:nvSpPr>
        <p:spPr>
          <a:xfrm>
            <a:off x="2606040" y="493776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1" name="text-594"/>
          <p:cNvSpPr txBox="1"/>
          <p:nvPr/>
        </p:nvSpPr>
        <p:spPr>
          <a:xfrm>
            <a:off x="2651760" y="49377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Sheets API v4</a:t>
            </a:r>
            <a:endParaRPr lang="en-US" sz="1200" dirty="0"/>
          </a:p>
        </p:txBody>
      </p:sp>
      <p:sp>
        <p:nvSpPr>
          <p:cNvPr id="32" name="box-595"/>
          <p:cNvSpPr/>
          <p:nvPr/>
        </p:nvSpPr>
        <p:spPr>
          <a:xfrm>
            <a:off x="3977640" y="493776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-596"/>
          <p:cNvSpPr txBox="1"/>
          <p:nvPr/>
        </p:nvSpPr>
        <p:spPr>
          <a:xfrm>
            <a:off x="4023360" y="49377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API</a:t>
            </a:r>
            <a:endParaRPr lang="en-US" sz="1200" dirty="0"/>
          </a:p>
        </p:txBody>
      </p:sp>
      <p:sp>
        <p:nvSpPr>
          <p:cNvPr id="34" name="box-597"/>
          <p:cNvSpPr/>
          <p:nvPr/>
        </p:nvSpPr>
        <p:spPr>
          <a:xfrm>
            <a:off x="5349240" y="493776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-598"/>
          <p:cNvSpPr txBox="1"/>
          <p:nvPr/>
        </p:nvSpPr>
        <p:spPr>
          <a:xfrm>
            <a:off x="5394960" y="49377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1200" dirty="0"/>
          </a:p>
        </p:txBody>
      </p:sp>
      <p:sp>
        <p:nvSpPr>
          <p:cNvPr id="36" name="box-599"/>
          <p:cNvSpPr/>
          <p:nvPr/>
        </p:nvSpPr>
        <p:spPr>
          <a:xfrm>
            <a:off x="6720840" y="493776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text-600"/>
          <p:cNvSpPr txBox="1"/>
          <p:nvPr/>
        </p:nvSpPr>
        <p:spPr>
          <a:xfrm>
            <a:off x="6766560" y="49377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· Lock · Properties</a:t>
            </a:r>
            <a:endParaRPr lang="en-US" sz="1200" dirty="0"/>
          </a:p>
        </p:txBody>
      </p:sp>
      <p:sp>
        <p:nvSpPr>
          <p:cNvPr id="38" name="text-601"/>
          <p:cNvSpPr txBox="1"/>
          <p:nvPr/>
        </p:nvSpPr>
        <p:spPr>
          <a:xfrm>
            <a:off x="850392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1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calls travel</a:t>
            </a:r>
            <a:endParaRPr lang="en-US" sz="1600" dirty="0"/>
          </a:p>
        </p:txBody>
      </p:sp>
      <p:sp>
        <p:nvSpPr>
          <p:cNvPr id="39" name="text-602"/>
          <p:cNvSpPr txBox="1"/>
          <p:nvPr/>
        </p:nvSpPr>
        <p:spPr>
          <a:xfrm>
            <a:off x="8503920" y="2057400"/>
            <a:ext cx="3108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and triggers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functions in Code.gs, which forward to WorkspacePM.&lt;function&gt;.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Sidebars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google.script.run, which reaches the sheet's script; a forwarder passes the call on.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and writes the tabs, using the Sheets API for native tables.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Google Tasks, Calendar and Gmail as the trigger owner.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tabs and document properties (tab IDs, flags, settings).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modules and what each owns</a:t>
            </a:r>
            <a:endParaRPr lang="en-US" sz="3200" dirty="0"/>
          </a:p>
        </p:txBody>
      </p:sp>
      <p:sp>
        <p:nvSpPr>
          <p:cNvPr id="3" name="pill-603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graphicFrame>
        <p:nvGraphicFramePr>
          <p:cNvPr id="32" name="table-6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&amp; orchestration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 actions, setupOrUpgrade, triggers, nightly job, edit router, Sync Lock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Schema.js · Tables.js · Init.js · Typography.js · Layout.js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 spec, table registry, table creation and migration, fonts, visible/hidden tabs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ValidationManager.js · ProtectionManager.js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fields and highlights; protections, admin list, warning snooze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&amp; presence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SyncEngine.js · MembersService.js · Sidebar.js · PresenceEngine.js · ViewBuilder.js · Locations.js · Holidays.js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from contracts, sidebars, Presence Log compile, Weekly Presence, locations, holidays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ProjectBackupEngine.js · BackupService.js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per day, In charge today, alerts; interim backup sidebar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Integrations &amp; reports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TaskSyncService.js · CalendarSyncService.js · Birthdays.js · KpiEngine.js · WorkspaceCheck.js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Tasks, Calendar, birthdays, KPI Data, Check Workspace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interface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BaselineSidebar · MembersSidebar · BackupSidebar · WorkspaceCheckDialog (.html)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four HTML panels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5" name="text-605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script files and 4 HTML files, about 12,500 lines; 214 automated tests run in Node with mocked Google services.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model: what people write, what the system derives</a:t>
            </a:r>
            <a:endParaRPr lang="en-US" sz="3200" dirty="0"/>
          </a:p>
        </p:txBody>
      </p:sp>
      <p:sp>
        <p:nvSpPr>
          <p:cNvPr id="3" name="pill-606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text-607"/>
          <p:cNvSpPr txBox="1"/>
          <p:nvPr/>
        </p:nvSpPr>
        <p:spPr>
          <a:xfrm>
            <a:off x="548640" y="1600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by people</a:t>
            </a:r>
            <a:endParaRPr lang="en-US" sz="1400" dirty="0"/>
          </a:p>
        </p:txBody>
      </p:sp>
      <p:sp>
        <p:nvSpPr>
          <p:cNvPr id="5" name="text-608"/>
          <p:cNvSpPr txBox="1"/>
          <p:nvPr/>
        </p:nvSpPr>
        <p:spPr>
          <a:xfrm>
            <a:off x="7406640" y="1600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by the Library</a:t>
            </a:r>
            <a:endParaRPr lang="en-US" sz="1400" dirty="0"/>
          </a:p>
        </p:txBody>
      </p:sp>
      <p:sp>
        <p:nvSpPr>
          <p:cNvPr id="6" name="box-609"/>
          <p:cNvSpPr/>
          <p:nvPr/>
        </p:nvSpPr>
        <p:spPr>
          <a:xfrm>
            <a:off x="548640" y="1965960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E6F4EA"/>
          </a:solidFill>
          <a:ln/>
        </p:spPr>
      </p:sp>
      <p:sp>
        <p:nvSpPr>
          <p:cNvPr id="7" name="text-610"/>
          <p:cNvSpPr txBox="1"/>
          <p:nvPr/>
        </p:nvSpPr>
        <p:spPr>
          <a:xfrm>
            <a:off x="731520" y="196596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member, role, department, dates, type, FTE</a:t>
            </a:r>
            <a:endParaRPr lang="en-US" sz="1400" dirty="0"/>
          </a:p>
        </p:txBody>
      </p:sp>
      <p:sp>
        <p:nvSpPr>
          <p:cNvPr id="8" name="box-611"/>
          <p:cNvSpPr/>
          <p:nvPr/>
        </p:nvSpPr>
        <p:spPr>
          <a:xfrm>
            <a:off x="548640" y="2679192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E6F4EA"/>
          </a:solidFill>
          <a:ln/>
        </p:spPr>
      </p:sp>
      <p:sp>
        <p:nvSpPr>
          <p:cNvPr id="9" name="text-612"/>
          <p:cNvSpPr txBox="1"/>
          <p:nvPr/>
        </p:nvSpPr>
        <p:spPr>
          <a:xfrm>
            <a:off x="731520" y="2679192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member, weekday, AM/PM, dates</a:t>
            </a:r>
            <a:endParaRPr lang="en-US" sz="1400" dirty="0"/>
          </a:p>
        </p:txBody>
      </p:sp>
      <p:sp>
        <p:nvSpPr>
          <p:cNvPr id="10" name="box-613"/>
          <p:cNvSpPr/>
          <p:nvPr/>
        </p:nvSpPr>
        <p:spPr>
          <a:xfrm>
            <a:off x="548640" y="3392424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E6F4EA"/>
          </a:solidFill>
          <a:ln/>
        </p:spPr>
      </p:sp>
      <p:sp>
        <p:nvSpPr>
          <p:cNvPr id="11" name="text-614"/>
          <p:cNvSpPr txBox="1"/>
          <p:nvPr/>
        </p:nvSpPr>
        <p:spPr>
          <a:xfrm>
            <a:off x="731520" y="339242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member, dates, half-days, type, status</a:t>
            </a:r>
            <a:endParaRPr lang="en-US" sz="1400" dirty="0"/>
          </a:p>
        </p:txBody>
      </p:sp>
      <p:sp>
        <p:nvSpPr>
          <p:cNvPr id="12" name="box-615"/>
          <p:cNvSpPr/>
          <p:nvPr/>
        </p:nvSpPr>
        <p:spPr>
          <a:xfrm>
            <a:off x="548640" y="4105656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E6F4EA"/>
          </a:solidFill>
          <a:ln/>
        </p:spPr>
      </p:sp>
      <p:sp>
        <p:nvSpPr>
          <p:cNvPr id="13" name="text-616"/>
          <p:cNvSpPr txBox="1"/>
          <p:nvPr/>
        </p:nvSpPr>
        <p:spPr>
          <a:xfrm>
            <a:off x="731520" y="4105656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· Backups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backup, interim cover</a:t>
            </a:r>
            <a:endParaRPr lang="en-US" sz="1400" dirty="0"/>
          </a:p>
        </p:txBody>
      </p:sp>
      <p:sp>
        <p:nvSpPr>
          <p:cNvPr id="14" name="box-617"/>
          <p:cNvSpPr/>
          <p:nvPr/>
        </p:nvSpPr>
        <p:spPr>
          <a:xfrm>
            <a:off x="548640" y="4818888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E6F4EA"/>
          </a:solidFill>
          <a:ln/>
        </p:spPr>
      </p:sp>
      <p:sp>
        <p:nvSpPr>
          <p:cNvPr id="15" name="text-618"/>
          <p:cNvSpPr txBox="1"/>
          <p:nvPr/>
        </p:nvSpPr>
        <p:spPr>
          <a:xfrm>
            <a:off x="731520" y="4818888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· Holidays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and non-working days</a:t>
            </a:r>
            <a:endParaRPr lang="en-US" sz="1400" dirty="0"/>
          </a:p>
        </p:txBody>
      </p:sp>
      <p:sp>
        <p:nvSpPr>
          <p:cNvPr id="16" name="box-619"/>
          <p:cNvSpPr/>
          <p:nvPr/>
        </p:nvSpPr>
        <p:spPr>
          <a:xfrm>
            <a:off x="548640" y="5532120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E6F4EA"/>
          </a:solidFill>
          <a:ln/>
        </p:spPr>
      </p:sp>
      <p:sp>
        <p:nvSpPr>
          <p:cNvPr id="17" name="text-620"/>
          <p:cNvSpPr txBox="1"/>
          <p:nvPr/>
        </p:nvSpPr>
        <p:spPr>
          <a:xfrm>
            <a:off x="731520" y="553212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· Events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items, gatherings</a:t>
            </a:r>
            <a:endParaRPr lang="en-US" sz="1400" dirty="0"/>
          </a:p>
        </p:txBody>
      </p:sp>
      <p:sp>
        <p:nvSpPr>
          <p:cNvPr id="18" name="box-621"/>
          <p:cNvSpPr/>
          <p:nvPr/>
        </p:nvSpPr>
        <p:spPr>
          <a:xfrm>
            <a:off x="7406640" y="1965960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F3E8FD"/>
          </a:solidFill>
          <a:ln/>
        </p:spPr>
      </p:sp>
      <p:sp>
        <p:nvSpPr>
          <p:cNvPr id="19" name="text-622"/>
          <p:cNvSpPr txBox="1"/>
          <p:nvPr/>
        </p:nvSpPr>
        <p:spPr>
          <a:xfrm>
            <a:off x="7589520" y="196596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Department, Status, Today</a:t>
            </a:r>
            <a:endParaRPr lang="en-US" sz="1400" dirty="0"/>
          </a:p>
        </p:txBody>
      </p:sp>
      <p:sp>
        <p:nvSpPr>
          <p:cNvPr id="20" name="box-623"/>
          <p:cNvSpPr/>
          <p:nvPr/>
        </p:nvSpPr>
        <p:spPr>
          <a:xfrm>
            <a:off x="7406640" y="2679192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F3E8FD"/>
          </a:solidFill>
          <a:ln/>
        </p:spPr>
      </p:sp>
      <p:sp>
        <p:nvSpPr>
          <p:cNvPr id="21" name="text-624"/>
          <p:cNvSpPr txBox="1"/>
          <p:nvPr/>
        </p:nvSpPr>
        <p:spPr>
          <a:xfrm>
            <a:off x="7589520" y="2679192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Log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Member per working day</a:t>
            </a:r>
            <a:endParaRPr lang="en-US" sz="1400" dirty="0"/>
          </a:p>
        </p:txBody>
      </p:sp>
      <p:sp>
        <p:nvSpPr>
          <p:cNvPr id="22" name="box-625"/>
          <p:cNvSpPr/>
          <p:nvPr/>
        </p:nvSpPr>
        <p:spPr>
          <a:xfrm>
            <a:off x="7406640" y="3392424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F3E8FD"/>
          </a:solidFill>
          <a:ln/>
        </p:spPr>
      </p:sp>
      <p:sp>
        <p:nvSpPr>
          <p:cNvPr id="23" name="text-626"/>
          <p:cNvSpPr txBox="1"/>
          <p:nvPr/>
        </p:nvSpPr>
        <p:spPr>
          <a:xfrm>
            <a:off x="7589520" y="339242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view of the Presence Log</a:t>
            </a:r>
            <a:endParaRPr lang="en-US" sz="1400" dirty="0"/>
          </a:p>
        </p:txBody>
      </p:sp>
      <p:sp>
        <p:nvSpPr>
          <p:cNvPr id="24" name="box-627"/>
          <p:cNvSpPr/>
          <p:nvPr/>
        </p:nvSpPr>
        <p:spPr>
          <a:xfrm>
            <a:off x="7406640" y="4105656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F3E8FD"/>
          </a:solidFill>
          <a:ln/>
        </p:spPr>
      </p:sp>
      <p:sp>
        <p:nvSpPr>
          <p:cNvPr id="25" name="text-628"/>
          <p:cNvSpPr txBox="1"/>
          <p:nvPr/>
        </p:nvSpPr>
        <p:spPr>
          <a:xfrm>
            <a:off x="7589520" y="4105656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charge today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result per project</a:t>
            </a:r>
            <a:endParaRPr lang="en-US" sz="1400" dirty="0"/>
          </a:p>
        </p:txBody>
      </p:sp>
      <p:sp>
        <p:nvSpPr>
          <p:cNvPr id="26" name="box-629"/>
          <p:cNvSpPr/>
          <p:nvPr/>
        </p:nvSpPr>
        <p:spPr>
          <a:xfrm>
            <a:off x="7406640" y="4818888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F3E8FD"/>
          </a:solidFill>
          <a:ln/>
        </p:spPr>
      </p:sp>
      <p:sp>
        <p:nvSpPr>
          <p:cNvPr id="27" name="text-630"/>
          <p:cNvSpPr txBox="1"/>
          <p:nvPr/>
        </p:nvSpPr>
        <p:spPr>
          <a:xfrm>
            <a:off x="7589520" y="4818888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Data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× day × half-day facts</a:t>
            </a:r>
            <a:endParaRPr lang="en-US" sz="1400" dirty="0"/>
          </a:p>
        </p:txBody>
      </p:sp>
      <p:sp>
        <p:nvSpPr>
          <p:cNvPr id="28" name="box-631"/>
          <p:cNvSpPr/>
          <p:nvPr/>
        </p:nvSpPr>
        <p:spPr>
          <a:xfrm>
            <a:off x="7406640" y="5532120"/>
            <a:ext cx="4206240" cy="603504"/>
          </a:xfrm>
          <a:prstGeom prst="roundRect">
            <a:avLst>
              <a:gd name="adj" fmla="val 12121"/>
            </a:avLst>
          </a:prstGeom>
          <a:solidFill>
            <a:srgbClr val="F3E8FD"/>
          </a:solidFill>
          <a:ln/>
        </p:spPr>
      </p:sp>
      <p:sp>
        <p:nvSpPr>
          <p:cNvPr id="29" name="text-632"/>
          <p:cNvSpPr txBox="1"/>
          <p:nvPr/>
        </p:nvSpPr>
        <p:spPr>
          <a:xfrm>
            <a:off x="7589520" y="5532120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Tasks · Calendar  </a:t>
            </a:r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copies with stored IDs</a:t>
            </a:r>
            <a:endParaRPr lang="en-US" sz="1400" dirty="0"/>
          </a:p>
        </p:txBody>
      </p:sp>
      <p:sp>
        <p:nvSpPr>
          <p:cNvPr id="30" name="box-633"/>
          <p:cNvSpPr/>
          <p:nvPr/>
        </p:nvSpPr>
        <p:spPr>
          <a:xfrm>
            <a:off x="5074920" y="1965960"/>
            <a:ext cx="2011680" cy="4169664"/>
          </a:xfrm>
          <a:prstGeom prst="roundRect">
            <a:avLst>
              <a:gd name="adj" fmla="val 3636"/>
            </a:avLst>
          </a:prstGeom>
          <a:solidFill>
            <a:srgbClr val="3B1E66"/>
          </a:solidFill>
          <a:ln/>
        </p:spPr>
      </p:sp>
      <p:sp>
        <p:nvSpPr>
          <p:cNvPr id="31" name="text-634"/>
          <p:cNvSpPr txBox="1"/>
          <p:nvPr/>
        </p:nvSpPr>
        <p:spPr>
          <a:xfrm>
            <a:off x="5074920" y="2148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</a:t>
            </a:r>
            <a:endParaRPr lang="en-US" sz="1600" dirty="0"/>
          </a:p>
        </p:txBody>
      </p:sp>
      <p:sp>
        <p:nvSpPr>
          <p:cNvPr id="32" name="text-635"/>
          <p:cNvSpPr txBox="1"/>
          <p:nvPr/>
        </p:nvSpPr>
        <p:spPr>
          <a:xfrm>
            <a:off x="5212080" y="2560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on the Member's people chip and the project ID</a:t>
            </a:r>
            <a:endParaRPr lang="en-US" sz="1200" dirty="0"/>
          </a:p>
        </p:txBody>
      </p:sp>
      <p:sp>
        <p:nvSpPr>
          <p:cNvPr id="33" name="text-636"/>
          <p:cNvSpPr txBox="1"/>
          <p:nvPr/>
        </p:nvSpPr>
        <p:spPr>
          <a:xfrm>
            <a:off x="5212080" y="49377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C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· compile · coverage · render</a:t>
            </a:r>
            <a:endParaRPr lang="en-US" sz="1200" dirty="0"/>
          </a:p>
        </p:txBody>
      </p:sp>
      <p:sp>
        <p:nvSpPr>
          <p:cNvPr id="34" name="arrow-637"/>
          <p:cNvSpPr/>
          <p:nvPr/>
        </p:nvSpPr>
        <p:spPr>
          <a:xfrm>
            <a:off x="4773168" y="2267712"/>
            <a:ext cx="283464" cy="914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35" name="arrow-638"/>
          <p:cNvSpPr/>
          <p:nvPr/>
        </p:nvSpPr>
        <p:spPr>
          <a:xfrm>
            <a:off x="7104888" y="2267712"/>
            <a:ext cx="283464" cy="914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36" name="arrow-639"/>
          <p:cNvSpPr/>
          <p:nvPr/>
        </p:nvSpPr>
        <p:spPr>
          <a:xfrm>
            <a:off x="4773168" y="2980944"/>
            <a:ext cx="283464" cy="914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37" name="arrow-640"/>
          <p:cNvSpPr/>
          <p:nvPr/>
        </p:nvSpPr>
        <p:spPr>
          <a:xfrm>
            <a:off x="7104888" y="2980944"/>
            <a:ext cx="283464" cy="914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38" name="arrow-641"/>
          <p:cNvSpPr/>
          <p:nvPr/>
        </p:nvSpPr>
        <p:spPr>
          <a:xfrm>
            <a:off x="4773168" y="3694176"/>
            <a:ext cx="283464" cy="914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39" name="arrow-642"/>
          <p:cNvSpPr/>
          <p:nvPr/>
        </p:nvSpPr>
        <p:spPr>
          <a:xfrm>
            <a:off x="7104888" y="3694176"/>
            <a:ext cx="283464" cy="914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40" name="arrow-643"/>
          <p:cNvSpPr/>
          <p:nvPr/>
        </p:nvSpPr>
        <p:spPr>
          <a:xfrm>
            <a:off x="4773168" y="4407408"/>
            <a:ext cx="283464" cy="914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41" name="arrow-644"/>
          <p:cNvSpPr/>
          <p:nvPr/>
        </p:nvSpPr>
        <p:spPr>
          <a:xfrm>
            <a:off x="7104888" y="4407408"/>
            <a:ext cx="283464" cy="914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42" name="arrow-645"/>
          <p:cNvSpPr/>
          <p:nvPr/>
        </p:nvSpPr>
        <p:spPr>
          <a:xfrm>
            <a:off x="4773168" y="5120640"/>
            <a:ext cx="283464" cy="914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43" name="arrow-646"/>
          <p:cNvSpPr/>
          <p:nvPr/>
        </p:nvSpPr>
        <p:spPr>
          <a:xfrm>
            <a:off x="7104888" y="5120640"/>
            <a:ext cx="283464" cy="914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44" name="arrow-647"/>
          <p:cNvSpPr/>
          <p:nvPr/>
        </p:nvSpPr>
        <p:spPr>
          <a:xfrm>
            <a:off x="4773168" y="5833872"/>
            <a:ext cx="283464" cy="914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45" name="arrow-648"/>
          <p:cNvSpPr/>
          <p:nvPr/>
        </p:nvSpPr>
        <p:spPr>
          <a:xfrm>
            <a:off x="7104888" y="5833872"/>
            <a:ext cx="283464" cy="914"/>
          </a:xfrm>
          <a:prstGeom prst="line">
            <a:avLst/>
          </a:prstGeom>
          <a:noFill/>
          <a:ln w="19050">
            <a:solidFill>
              <a:srgbClr val="7500C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 pipeline: what happens after you type</a:t>
            </a:r>
            <a:endParaRPr lang="en-US" sz="3200" dirty="0"/>
          </a:p>
        </p:txBody>
      </p:sp>
      <p:sp>
        <p:nvSpPr>
          <p:cNvPr id="3" name="pill-649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650"/>
          <p:cNvSpPr/>
          <p:nvPr/>
        </p:nvSpPr>
        <p:spPr>
          <a:xfrm>
            <a:off x="548640" y="164592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5F1FA"/>
          </a:solidFill>
          <a:ln/>
        </p:spPr>
      </p:sp>
      <p:sp>
        <p:nvSpPr>
          <p:cNvPr id="5" name="text-651"/>
          <p:cNvSpPr txBox="1"/>
          <p:nvPr/>
        </p:nvSpPr>
        <p:spPr>
          <a:xfrm>
            <a:off x="731520" y="17830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-652"/>
          <p:cNvSpPr txBox="1"/>
          <p:nvPr/>
        </p:nvSpPr>
        <p:spPr>
          <a:xfrm>
            <a:off x="1234440" y="1828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500" dirty="0"/>
          </a:p>
        </p:txBody>
      </p:sp>
      <p:sp>
        <p:nvSpPr>
          <p:cNvPr id="7" name="text-653"/>
          <p:cNvSpPr txBox="1"/>
          <p:nvPr/>
        </p:nvSpPr>
        <p:spPr>
          <a:xfrm>
            <a:off x="1234440" y="21488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cell changes in any tab</a:t>
            </a:r>
            <a:endParaRPr lang="en-US" sz="1200" dirty="0"/>
          </a:p>
        </p:txBody>
      </p:sp>
      <p:sp>
        <p:nvSpPr>
          <p:cNvPr id="8" name="box-654"/>
          <p:cNvSpPr/>
          <p:nvPr/>
        </p:nvSpPr>
        <p:spPr>
          <a:xfrm>
            <a:off x="4297680" y="164592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5F1FA"/>
          </a:solidFill>
          <a:ln/>
        </p:spPr>
      </p:sp>
      <p:sp>
        <p:nvSpPr>
          <p:cNvPr id="9" name="text-655"/>
          <p:cNvSpPr txBox="1"/>
          <p:nvPr/>
        </p:nvSpPr>
        <p:spPr>
          <a:xfrm>
            <a:off x="4480560" y="17830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-656"/>
          <p:cNvSpPr txBox="1"/>
          <p:nvPr/>
        </p:nvSpPr>
        <p:spPr>
          <a:xfrm>
            <a:off x="4983480" y="1828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run</a:t>
            </a:r>
            <a:endParaRPr lang="en-US" sz="1500" dirty="0"/>
          </a:p>
        </p:txBody>
      </p:sp>
      <p:sp>
        <p:nvSpPr>
          <p:cNvPr id="11" name="text-657"/>
          <p:cNvSpPr txBox="1"/>
          <p:nvPr/>
        </p:nvSpPr>
        <p:spPr>
          <a:xfrm>
            <a:off x="4983480" y="21488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onEdit steps aside when the installable trigger is active</a:t>
            </a:r>
            <a:endParaRPr lang="en-US" sz="1200" dirty="0"/>
          </a:p>
        </p:txBody>
      </p:sp>
      <p:sp>
        <p:nvSpPr>
          <p:cNvPr id="12" name="box-658"/>
          <p:cNvSpPr/>
          <p:nvPr/>
        </p:nvSpPr>
        <p:spPr>
          <a:xfrm>
            <a:off x="8046720" y="164592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5F1FA"/>
          </a:solidFill>
          <a:ln/>
        </p:spPr>
      </p:sp>
      <p:sp>
        <p:nvSpPr>
          <p:cNvPr id="13" name="text-659"/>
          <p:cNvSpPr txBox="1"/>
          <p:nvPr/>
        </p:nvSpPr>
        <p:spPr>
          <a:xfrm>
            <a:off x="8229600" y="17830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-660"/>
          <p:cNvSpPr txBox="1"/>
          <p:nvPr/>
        </p:nvSpPr>
        <p:spPr>
          <a:xfrm>
            <a:off x="8732520" y="1828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Lock</a:t>
            </a:r>
            <a:endParaRPr lang="en-US" sz="1500" dirty="0"/>
          </a:p>
        </p:txBody>
      </p:sp>
      <p:sp>
        <p:nvSpPr>
          <p:cNvPr id="15" name="text-661"/>
          <p:cNvSpPr txBox="1"/>
          <p:nvPr/>
        </p:nvSpPr>
        <p:spPr>
          <a:xfrm>
            <a:off x="8732520" y="21488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up to 10 s; if the nightly job holds it, a toast says “Sync in progress”</a:t>
            </a:r>
            <a:endParaRPr lang="en-US" sz="1200" dirty="0"/>
          </a:p>
        </p:txBody>
      </p:sp>
      <p:sp>
        <p:nvSpPr>
          <p:cNvPr id="16" name="box-662"/>
          <p:cNvSpPr/>
          <p:nvPr/>
        </p:nvSpPr>
        <p:spPr>
          <a:xfrm>
            <a:off x="548640" y="310896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3E8FD"/>
          </a:solidFill>
          <a:ln/>
        </p:spPr>
      </p:sp>
      <p:sp>
        <p:nvSpPr>
          <p:cNvPr id="17" name="text-663"/>
          <p:cNvSpPr txBox="1"/>
          <p:nvPr/>
        </p:nvSpPr>
        <p:spPr>
          <a:xfrm>
            <a:off x="731520" y="32461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-664"/>
          <p:cNvSpPr txBox="1"/>
          <p:nvPr/>
        </p:nvSpPr>
        <p:spPr>
          <a:xfrm>
            <a:off x="1234440" y="3291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by tab</a:t>
            </a:r>
            <a:endParaRPr lang="en-US" sz="1500" dirty="0"/>
          </a:p>
        </p:txBody>
      </p:sp>
      <p:sp>
        <p:nvSpPr>
          <p:cNvPr id="19" name="text-665"/>
          <p:cNvSpPr txBox="1"/>
          <p:nvPr/>
        </p:nvSpPr>
        <p:spPr>
          <a:xfrm>
            <a:off x="1234440" y="36118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found by stored ID, never by name</a:t>
            </a:r>
            <a:endParaRPr lang="en-US" sz="1200" dirty="0"/>
          </a:p>
        </p:txBody>
      </p:sp>
      <p:sp>
        <p:nvSpPr>
          <p:cNvPr id="20" name="box-666"/>
          <p:cNvSpPr/>
          <p:nvPr/>
        </p:nvSpPr>
        <p:spPr>
          <a:xfrm>
            <a:off x="4297680" y="310896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3E8FD"/>
          </a:solidFill>
          <a:ln/>
        </p:spPr>
      </p:sp>
      <p:sp>
        <p:nvSpPr>
          <p:cNvPr id="21" name="text-667"/>
          <p:cNvSpPr txBox="1"/>
          <p:nvPr/>
        </p:nvSpPr>
        <p:spPr>
          <a:xfrm>
            <a:off x="4480560" y="32461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-668"/>
          <p:cNvSpPr txBox="1"/>
          <p:nvPr/>
        </p:nvSpPr>
        <p:spPr>
          <a:xfrm>
            <a:off x="4983480" y="3291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handlers</a:t>
            </a:r>
            <a:endParaRPr lang="en-US" sz="1500" dirty="0"/>
          </a:p>
        </p:txBody>
      </p:sp>
      <p:sp>
        <p:nvSpPr>
          <p:cNvPr id="23" name="text-669"/>
          <p:cNvSpPr txBox="1"/>
          <p:nvPr/>
        </p:nvSpPr>
        <p:spPr>
          <a:xfrm>
            <a:off x="4983480" y="36118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 → Presence Log · Tasks → ID, Google Tasks · Events → ID, Calendar</a:t>
            </a:r>
            <a:endParaRPr lang="en-US" sz="1200" dirty="0"/>
          </a:p>
        </p:txBody>
      </p:sp>
      <p:sp>
        <p:nvSpPr>
          <p:cNvPr id="24" name="box-670"/>
          <p:cNvSpPr/>
          <p:nvPr/>
        </p:nvSpPr>
        <p:spPr>
          <a:xfrm>
            <a:off x="8046720" y="310896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3E8FD"/>
          </a:solidFill>
          <a:ln/>
        </p:spPr>
      </p:sp>
      <p:sp>
        <p:nvSpPr>
          <p:cNvPr id="25" name="text-671"/>
          <p:cNvSpPr txBox="1"/>
          <p:nvPr/>
        </p:nvSpPr>
        <p:spPr>
          <a:xfrm>
            <a:off x="8229600" y="32461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600" dirty="0"/>
          </a:p>
        </p:txBody>
      </p:sp>
      <p:sp>
        <p:nvSpPr>
          <p:cNvPr id="26" name="text-672"/>
          <p:cNvSpPr txBox="1"/>
          <p:nvPr/>
        </p:nvSpPr>
        <p:spPr>
          <a:xfrm>
            <a:off x="8732520" y="3291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500" dirty="0"/>
          </a:p>
        </p:txBody>
      </p:sp>
      <p:sp>
        <p:nvSpPr>
          <p:cNvPr id="27" name="text-673"/>
          <p:cNvSpPr txBox="1"/>
          <p:nvPr/>
        </p:nvSpPr>
        <p:spPr>
          <a:xfrm>
            <a:off x="8732520" y="36118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required fields named in a toast</a:t>
            </a:r>
            <a:endParaRPr lang="en-US" sz="1200" dirty="0"/>
          </a:p>
        </p:txBody>
      </p:sp>
      <p:sp>
        <p:nvSpPr>
          <p:cNvPr id="28" name="box-674"/>
          <p:cNvSpPr/>
          <p:nvPr/>
        </p:nvSpPr>
        <p:spPr>
          <a:xfrm>
            <a:off x="548640" y="457200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5F1FA"/>
          </a:solidFill>
          <a:ln/>
        </p:spPr>
      </p:sp>
      <p:sp>
        <p:nvSpPr>
          <p:cNvPr id="29" name="text-675"/>
          <p:cNvSpPr txBox="1"/>
          <p:nvPr/>
        </p:nvSpPr>
        <p:spPr>
          <a:xfrm>
            <a:off x="731520" y="47091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600" dirty="0"/>
          </a:p>
        </p:txBody>
      </p:sp>
      <p:sp>
        <p:nvSpPr>
          <p:cNvPr id="30" name="text-676"/>
          <p:cNvSpPr txBox="1"/>
          <p:nvPr/>
        </p:nvSpPr>
        <p:spPr>
          <a:xfrm>
            <a:off x="1234440" y="4754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check</a:t>
            </a:r>
            <a:endParaRPr lang="en-US" sz="1500" dirty="0"/>
          </a:p>
        </p:txBody>
      </p:sp>
      <p:sp>
        <p:nvSpPr>
          <p:cNvPr id="31" name="text-677"/>
          <p:cNvSpPr txBox="1"/>
          <p:nvPr/>
        </p:nvSpPr>
        <p:spPr>
          <a:xfrm>
            <a:off x="1234440" y="5074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dialog on protected cells (snooze 5 min)</a:t>
            </a:r>
            <a:endParaRPr lang="en-US" sz="1200" dirty="0"/>
          </a:p>
        </p:txBody>
      </p:sp>
      <p:sp>
        <p:nvSpPr>
          <p:cNvPr id="32" name="box-678"/>
          <p:cNvSpPr/>
          <p:nvPr/>
        </p:nvSpPr>
        <p:spPr>
          <a:xfrm>
            <a:off x="4297680" y="457200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5F1FA"/>
          </a:solidFill>
          <a:ln/>
        </p:spPr>
      </p:sp>
      <p:sp>
        <p:nvSpPr>
          <p:cNvPr id="33" name="text-679"/>
          <p:cNvSpPr txBox="1"/>
          <p:nvPr/>
        </p:nvSpPr>
        <p:spPr>
          <a:xfrm>
            <a:off x="4480560" y="47091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600" dirty="0"/>
          </a:p>
        </p:txBody>
      </p:sp>
      <p:sp>
        <p:nvSpPr>
          <p:cNvPr id="34" name="text-680"/>
          <p:cNvSpPr txBox="1"/>
          <p:nvPr/>
        </p:nvSpPr>
        <p:spPr>
          <a:xfrm>
            <a:off x="4983480" y="4754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Follow-ups</a:t>
            </a:r>
            <a:endParaRPr lang="en-US" sz="1500" dirty="0"/>
          </a:p>
        </p:txBody>
      </p:sp>
      <p:sp>
        <p:nvSpPr>
          <p:cNvPr id="35" name="text-681"/>
          <p:cNvSpPr txBox="1"/>
          <p:nvPr/>
        </p:nvSpPr>
        <p:spPr>
          <a:xfrm>
            <a:off x="4983480" y="5074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Members/Contracts light sync · Locations → dropdowns · Projects → backup prompt</a:t>
            </a:r>
            <a:endParaRPr lang="en-US" sz="1200" dirty="0"/>
          </a:p>
        </p:txBody>
      </p:sp>
      <p:sp>
        <p:nvSpPr>
          <p:cNvPr id="36" name="box-682"/>
          <p:cNvSpPr/>
          <p:nvPr/>
        </p:nvSpPr>
        <p:spPr>
          <a:xfrm>
            <a:off x="8046720" y="4572000"/>
            <a:ext cx="3474720" cy="1280160"/>
          </a:xfrm>
          <a:prstGeom prst="roundRect">
            <a:avLst>
              <a:gd name="adj" fmla="val 5714"/>
            </a:avLst>
          </a:prstGeom>
          <a:solidFill>
            <a:srgbClr val="F5F1FA"/>
          </a:solidFill>
          <a:ln/>
        </p:spPr>
      </p:sp>
      <p:sp>
        <p:nvSpPr>
          <p:cNvPr id="37" name="text-683"/>
          <p:cNvSpPr txBox="1"/>
          <p:nvPr/>
        </p:nvSpPr>
        <p:spPr>
          <a:xfrm>
            <a:off x="8229600" y="47091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38" name="text-684"/>
          <p:cNvSpPr txBox="1"/>
          <p:nvPr/>
        </p:nvSpPr>
        <p:spPr>
          <a:xfrm>
            <a:off x="8732520" y="4754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500" dirty="0"/>
          </a:p>
        </p:txBody>
      </p:sp>
      <p:sp>
        <p:nvSpPr>
          <p:cNvPr id="39" name="text-685"/>
          <p:cNvSpPr txBox="1"/>
          <p:nvPr/>
        </p:nvSpPr>
        <p:spPr>
          <a:xfrm>
            <a:off x="8732520" y="5074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Leaves or Backups edited → coverage re-checked</a:t>
            </a:r>
            <a:endParaRPr lang="en-US" sz="1200" dirty="0"/>
          </a:p>
        </p:txBody>
      </p:sp>
      <p:sp>
        <p:nvSpPr>
          <p:cNvPr id="40" name="text-686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isolated: an error is logged and the next step still runs. Edits slower than 3 s write an [edit timing] line to the execution log.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Presence compilation: from rules to a daily record</a:t>
            </a:r>
            <a:endParaRPr lang="en-US" sz="3200" dirty="0"/>
          </a:p>
        </p:txBody>
      </p:sp>
      <p:sp>
        <p:nvSpPr>
          <p:cNvPr id="3" name="pill-687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text-688"/>
          <p:cNvSpPr txBox="1"/>
          <p:nvPr/>
        </p:nvSpPr>
        <p:spPr>
          <a:xfrm>
            <a:off x="548640" y="1600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active Member and each working day up to today</a:t>
            </a:r>
            <a:endParaRPr lang="en-US" sz="1500" dirty="0"/>
          </a:p>
        </p:txBody>
      </p:sp>
      <p:sp>
        <p:nvSpPr>
          <p:cNvPr id="5" name="box-689"/>
          <p:cNvSpPr/>
          <p:nvPr/>
        </p:nvSpPr>
        <p:spPr>
          <a:xfrm>
            <a:off x="548640" y="2011680"/>
            <a:ext cx="5943600" cy="868680"/>
          </a:xfrm>
          <a:prstGeom prst="roundRect">
            <a:avLst>
              <a:gd name="adj" fmla="val 8421"/>
            </a:avLst>
          </a:prstGeom>
          <a:solidFill>
            <a:srgbClr val="E6F4EA"/>
          </a:solidFill>
          <a:ln/>
        </p:spPr>
      </p:sp>
      <p:sp>
        <p:nvSpPr>
          <p:cNvPr id="6" name="text-690"/>
          <p:cNvSpPr txBox="1"/>
          <p:nvPr/>
        </p:nvSpPr>
        <p:spPr>
          <a:xfrm>
            <a:off x="731520" y="2011680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-691"/>
          <p:cNvSpPr txBox="1"/>
          <p:nvPr/>
        </p:nvSpPr>
        <p:spPr>
          <a:xfrm>
            <a:off x="1188720" y="2103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already exists</a:t>
            </a:r>
            <a:endParaRPr lang="en-US" sz="1500" dirty="0"/>
          </a:p>
        </p:txBody>
      </p:sp>
      <p:sp>
        <p:nvSpPr>
          <p:cNvPr id="8" name="text-692"/>
          <p:cNvSpPr txBox="1"/>
          <p:nvPr/>
        </p:nvSpPr>
        <p:spPr>
          <a:xfrm>
            <a:off x="1188720" y="24414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as is: hand entries and earlier compiles are never overwritten.</a:t>
            </a:r>
            <a:endParaRPr lang="en-US" sz="1300" dirty="0"/>
          </a:p>
        </p:txBody>
      </p:sp>
      <p:sp>
        <p:nvSpPr>
          <p:cNvPr id="9" name="box-693"/>
          <p:cNvSpPr/>
          <p:nvPr/>
        </p:nvSpPr>
        <p:spPr>
          <a:xfrm>
            <a:off x="777240" y="2999232"/>
            <a:ext cx="5715000" cy="868680"/>
          </a:xfrm>
          <a:prstGeom prst="roundRect">
            <a:avLst>
              <a:gd name="adj" fmla="val 8421"/>
            </a:avLst>
          </a:prstGeom>
          <a:solidFill>
            <a:srgbClr val="FCE8E6"/>
          </a:solidFill>
          <a:ln/>
        </p:spPr>
      </p:sp>
      <p:sp>
        <p:nvSpPr>
          <p:cNvPr id="10" name="text-694"/>
          <p:cNvSpPr txBox="1"/>
          <p:nvPr/>
        </p:nvSpPr>
        <p:spPr>
          <a:xfrm>
            <a:off x="960120" y="2999232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-695"/>
          <p:cNvSpPr txBox="1"/>
          <p:nvPr/>
        </p:nvSpPr>
        <p:spPr>
          <a:xfrm>
            <a:off x="1417320" y="30906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approved leave covers the day</a:t>
            </a:r>
            <a:endParaRPr lang="en-US" sz="1500" dirty="0"/>
          </a:p>
        </p:txBody>
      </p:sp>
      <p:sp>
        <p:nvSpPr>
          <p:cNvPr id="12" name="text-696"/>
          <p:cNvSpPr txBox="1"/>
          <p:nvPr/>
        </p:nvSpPr>
        <p:spPr>
          <a:xfrm>
            <a:off x="1417320" y="34290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 written for AM, PM or both (half-day leaves split).</a:t>
            </a:r>
            <a:endParaRPr lang="en-US" sz="1300" dirty="0"/>
          </a:p>
        </p:txBody>
      </p:sp>
      <p:sp>
        <p:nvSpPr>
          <p:cNvPr id="13" name="box-697"/>
          <p:cNvSpPr/>
          <p:nvPr/>
        </p:nvSpPr>
        <p:spPr>
          <a:xfrm>
            <a:off x="1005840" y="3986784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3E8FD"/>
          </a:solidFill>
          <a:ln/>
        </p:spPr>
      </p:sp>
      <p:sp>
        <p:nvSpPr>
          <p:cNvPr id="14" name="text-698"/>
          <p:cNvSpPr txBox="1"/>
          <p:nvPr/>
        </p:nvSpPr>
        <p:spPr>
          <a:xfrm>
            <a:off x="1188720" y="3986784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-699"/>
          <p:cNvSpPr txBox="1"/>
          <p:nvPr/>
        </p:nvSpPr>
        <p:spPr>
          <a:xfrm>
            <a:off x="1645920" y="40782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routine matches the weekday</a:t>
            </a:r>
            <a:endParaRPr lang="en-US" sz="1500" dirty="0"/>
          </a:p>
        </p:txBody>
      </p:sp>
      <p:sp>
        <p:nvSpPr>
          <p:cNvPr id="16" name="text-700"/>
          <p:cNvSpPr txBox="1"/>
          <p:nvPr/>
        </p:nvSpPr>
        <p:spPr>
          <a:xfrm>
            <a:off x="1645920" y="4416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AM and PM locations are written.</a:t>
            </a:r>
            <a:endParaRPr lang="en-US" sz="1300" dirty="0"/>
          </a:p>
        </p:txBody>
      </p:sp>
      <p:sp>
        <p:nvSpPr>
          <p:cNvPr id="17" name="box-701"/>
          <p:cNvSpPr/>
          <p:nvPr/>
        </p:nvSpPr>
        <p:spPr>
          <a:xfrm>
            <a:off x="1234440" y="4974336"/>
            <a:ext cx="525780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/>
        </p:spPr>
      </p:sp>
      <p:sp>
        <p:nvSpPr>
          <p:cNvPr id="18" name="text-702"/>
          <p:cNvSpPr txBox="1"/>
          <p:nvPr/>
        </p:nvSpPr>
        <p:spPr>
          <a:xfrm>
            <a:off x="1417320" y="4974336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-703"/>
          <p:cNvSpPr txBox="1"/>
          <p:nvPr/>
        </p:nvSpPr>
        <p:spPr>
          <a:xfrm>
            <a:off x="1874520" y="5065776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applies</a:t>
            </a:r>
            <a:endParaRPr lang="en-US" sz="1500" dirty="0"/>
          </a:p>
        </p:txBody>
      </p:sp>
      <p:sp>
        <p:nvSpPr>
          <p:cNvPr id="20" name="text-704"/>
          <p:cNvSpPr txBox="1"/>
          <p:nvPr/>
        </p:nvSpPr>
        <p:spPr>
          <a:xfrm>
            <a:off x="1874520" y="540410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active Office location (OneRoof).</a:t>
            </a:r>
            <a:endParaRPr lang="en-US" sz="1300" dirty="0"/>
          </a:p>
        </p:txBody>
      </p:sp>
      <p:sp>
        <p:nvSpPr>
          <p:cNvPr id="21" name="text-705"/>
          <p:cNvSpPr txBox="1"/>
          <p:nvPr/>
        </p:nvSpPr>
        <p:spPr>
          <a:xfrm>
            <a:off x="694944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</a:t>
            </a:r>
            <a:endParaRPr lang="en-US" sz="1500" dirty="0"/>
          </a:p>
        </p:txBody>
      </p:sp>
      <p:sp>
        <p:nvSpPr>
          <p:cNvPr id="22" name="text-706"/>
          <p:cNvSpPr txBox="1"/>
          <p:nvPr/>
        </p:nvSpPr>
        <p:spPr>
          <a:xfrm>
            <a:off x="6949440" y="2011680"/>
            <a:ext cx="46634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today only.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Presence Log is history; the future is planned through routines and leaves.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Weekends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written only when a routine says the Member works or an approved leave covers them.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holidays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skipped unless someone types them in.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Departed Members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skipped; days outside every contract are not compiled.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column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Members shows the day's value, or Weekend, Public holiday or Not Logged.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runs: </a:t>
            </a:r>
            <a:pPr indent="0" marL="0">
              <a:spcAft>
                <a:spcPts val="7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nightly, after a routine or approved leave is saved, and from the migration command.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Coverage: who is in charge, day by day</a:t>
            </a:r>
            <a:endParaRPr lang="en-US" sz="3200" dirty="0"/>
          </a:p>
        </p:txBody>
      </p:sp>
      <p:sp>
        <p:nvSpPr>
          <p:cNvPr id="3" name="pill-707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708"/>
          <p:cNvSpPr/>
          <p:nvPr/>
        </p:nvSpPr>
        <p:spPr>
          <a:xfrm>
            <a:off x="548640" y="169164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5F1FA"/>
          </a:solidFill>
          <a:ln/>
        </p:spPr>
      </p:sp>
      <p:sp>
        <p:nvSpPr>
          <p:cNvPr id="5" name="text-709"/>
          <p:cNvSpPr txBox="1"/>
          <p:nvPr/>
        </p:nvSpPr>
        <p:spPr>
          <a:xfrm>
            <a:off x="731520" y="16916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present?</a:t>
            </a:r>
            <a:endParaRPr lang="en-US" sz="1400" dirty="0"/>
          </a:p>
        </p:txBody>
      </p:sp>
      <p:sp>
        <p:nvSpPr>
          <p:cNvPr id="6" name="arrow-710"/>
          <p:cNvSpPr/>
          <p:nvPr/>
        </p:nvSpPr>
        <p:spPr>
          <a:xfrm>
            <a:off x="3886200" y="2075688"/>
            <a:ext cx="640080" cy="914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7" name="text-711"/>
          <p:cNvSpPr txBox="1"/>
          <p:nvPr/>
        </p:nvSpPr>
        <p:spPr>
          <a:xfrm>
            <a:off x="3977640" y="1737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8" name="box-712"/>
          <p:cNvSpPr/>
          <p:nvPr/>
        </p:nvSpPr>
        <p:spPr>
          <a:xfrm>
            <a:off x="4572000" y="1801368"/>
            <a:ext cx="2103120" cy="548640"/>
          </a:xfrm>
          <a:prstGeom prst="roundRect">
            <a:avLst>
              <a:gd name="adj" fmla="val 33333"/>
            </a:avLst>
          </a:prstGeom>
          <a:solidFill>
            <a:srgbClr val="E6F4EA"/>
          </a:solidFill>
          <a:ln/>
        </p:spPr>
      </p:sp>
      <p:sp>
        <p:nvSpPr>
          <p:cNvPr id="9" name="text-713"/>
          <p:cNvSpPr txBox="1"/>
          <p:nvPr/>
        </p:nvSpPr>
        <p:spPr>
          <a:xfrm>
            <a:off x="4572000" y="1801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400" dirty="0"/>
          </a:p>
        </p:txBody>
      </p:sp>
      <p:sp>
        <p:nvSpPr>
          <p:cNvPr id="10" name="arrow-714"/>
          <p:cNvSpPr/>
          <p:nvPr/>
        </p:nvSpPr>
        <p:spPr>
          <a:xfrm>
            <a:off x="2194560" y="2487168"/>
            <a:ext cx="914" cy="210312"/>
          </a:xfrm>
          <a:prstGeom prst="line">
            <a:avLst/>
          </a:prstGeom>
          <a:noFill/>
          <a:ln w="19050">
            <a:solidFill>
              <a:srgbClr val="C5221F"/>
            </a:solidFill>
            <a:prstDash val="solid"/>
            <a:tailEnd type="triangle"/>
          </a:ln>
        </p:spPr>
      </p:sp>
      <p:sp>
        <p:nvSpPr>
          <p:cNvPr id="11" name="text-715"/>
          <p:cNvSpPr txBox="1"/>
          <p:nvPr/>
        </p:nvSpPr>
        <p:spPr>
          <a:xfrm>
            <a:off x="2286000" y="246888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2" name="box-716"/>
          <p:cNvSpPr/>
          <p:nvPr/>
        </p:nvSpPr>
        <p:spPr>
          <a:xfrm>
            <a:off x="548640" y="2715768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5F1FA"/>
          </a:solidFill>
          <a:ln/>
        </p:spPr>
      </p:sp>
      <p:sp>
        <p:nvSpPr>
          <p:cNvPr id="13" name="text-717"/>
          <p:cNvSpPr txBox="1"/>
          <p:nvPr/>
        </p:nvSpPr>
        <p:spPr>
          <a:xfrm>
            <a:off x="731520" y="2715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backup active and present?</a:t>
            </a:r>
            <a:endParaRPr lang="en-US" sz="1400" dirty="0"/>
          </a:p>
        </p:txBody>
      </p:sp>
      <p:sp>
        <p:nvSpPr>
          <p:cNvPr id="14" name="arrow-718"/>
          <p:cNvSpPr/>
          <p:nvPr/>
        </p:nvSpPr>
        <p:spPr>
          <a:xfrm>
            <a:off x="3886200" y="3099816"/>
            <a:ext cx="640080" cy="914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15" name="text-719"/>
          <p:cNvSpPr txBox="1"/>
          <p:nvPr/>
        </p:nvSpPr>
        <p:spPr>
          <a:xfrm>
            <a:off x="3977640" y="27614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6" name="box-720"/>
          <p:cNvSpPr/>
          <p:nvPr/>
        </p:nvSpPr>
        <p:spPr>
          <a:xfrm>
            <a:off x="4572000" y="2825496"/>
            <a:ext cx="2103120" cy="548640"/>
          </a:xfrm>
          <a:prstGeom prst="roundRect">
            <a:avLst>
              <a:gd name="adj" fmla="val 33333"/>
            </a:avLst>
          </a:prstGeom>
          <a:solidFill>
            <a:srgbClr val="E6F4EA"/>
          </a:solidFill>
          <a:ln/>
        </p:spPr>
      </p:sp>
      <p:sp>
        <p:nvSpPr>
          <p:cNvPr id="17" name="text-721"/>
          <p:cNvSpPr txBox="1"/>
          <p:nvPr/>
        </p:nvSpPr>
        <p:spPr>
          <a:xfrm>
            <a:off x="4572000" y="2825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(interim)</a:t>
            </a:r>
            <a:endParaRPr lang="en-US" sz="1400" dirty="0"/>
          </a:p>
        </p:txBody>
      </p:sp>
      <p:sp>
        <p:nvSpPr>
          <p:cNvPr id="18" name="arrow-722"/>
          <p:cNvSpPr/>
          <p:nvPr/>
        </p:nvSpPr>
        <p:spPr>
          <a:xfrm>
            <a:off x="2194560" y="3511296"/>
            <a:ext cx="914" cy="210312"/>
          </a:xfrm>
          <a:prstGeom prst="line">
            <a:avLst/>
          </a:prstGeom>
          <a:noFill/>
          <a:ln w="19050">
            <a:solidFill>
              <a:srgbClr val="C5221F"/>
            </a:solidFill>
            <a:prstDash val="solid"/>
            <a:tailEnd type="triangle"/>
          </a:ln>
        </p:spPr>
      </p:sp>
      <p:sp>
        <p:nvSpPr>
          <p:cNvPr id="19" name="text-723"/>
          <p:cNvSpPr txBox="1"/>
          <p:nvPr/>
        </p:nvSpPr>
        <p:spPr>
          <a:xfrm>
            <a:off x="2286000" y="34930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0" name="box-724"/>
          <p:cNvSpPr/>
          <p:nvPr/>
        </p:nvSpPr>
        <p:spPr>
          <a:xfrm>
            <a:off x="548640" y="3739896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5F1FA"/>
          </a:solidFill>
          <a:ln/>
        </p:spPr>
      </p:sp>
      <p:sp>
        <p:nvSpPr>
          <p:cNvPr id="21" name="text-725"/>
          <p:cNvSpPr txBox="1"/>
          <p:nvPr/>
        </p:nvSpPr>
        <p:spPr>
          <a:xfrm>
            <a:off x="731520" y="373989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Backup present?</a:t>
            </a:r>
            <a:endParaRPr lang="en-US" sz="1400" dirty="0"/>
          </a:p>
        </p:txBody>
      </p:sp>
      <p:sp>
        <p:nvSpPr>
          <p:cNvPr id="22" name="arrow-726"/>
          <p:cNvSpPr/>
          <p:nvPr/>
        </p:nvSpPr>
        <p:spPr>
          <a:xfrm>
            <a:off x="3886200" y="4123944"/>
            <a:ext cx="640080" cy="914"/>
          </a:xfrm>
          <a:prstGeom prst="line">
            <a:avLst/>
          </a:prstGeom>
          <a:noFill/>
          <a:ln w="19050">
            <a:solidFill>
              <a:srgbClr val="137333"/>
            </a:solidFill>
            <a:prstDash val="solid"/>
            <a:tailEnd type="triangle"/>
          </a:ln>
        </p:spPr>
      </p:sp>
      <p:sp>
        <p:nvSpPr>
          <p:cNvPr id="23" name="text-727"/>
          <p:cNvSpPr txBox="1"/>
          <p:nvPr/>
        </p:nvSpPr>
        <p:spPr>
          <a:xfrm>
            <a:off x="3977640" y="37856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24" name="box-728"/>
          <p:cNvSpPr/>
          <p:nvPr/>
        </p:nvSpPr>
        <p:spPr>
          <a:xfrm>
            <a:off x="4572000" y="3849624"/>
            <a:ext cx="2103120" cy="548640"/>
          </a:xfrm>
          <a:prstGeom prst="roundRect">
            <a:avLst>
              <a:gd name="adj" fmla="val 33333"/>
            </a:avLst>
          </a:prstGeom>
          <a:solidFill>
            <a:srgbClr val="E6F4EA"/>
          </a:solidFill>
          <a:ln/>
        </p:spPr>
      </p:sp>
      <p:sp>
        <p:nvSpPr>
          <p:cNvPr id="25" name="text-729"/>
          <p:cNvSpPr txBox="1"/>
          <p:nvPr/>
        </p:nvSpPr>
        <p:spPr>
          <a:xfrm>
            <a:off x="4572000" y="38496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(backup)</a:t>
            </a:r>
            <a:endParaRPr lang="en-US" sz="1400" dirty="0"/>
          </a:p>
        </p:txBody>
      </p:sp>
      <p:sp>
        <p:nvSpPr>
          <p:cNvPr id="26" name="arrow-730"/>
          <p:cNvSpPr/>
          <p:nvPr/>
        </p:nvSpPr>
        <p:spPr>
          <a:xfrm>
            <a:off x="2194560" y="4535424"/>
            <a:ext cx="914" cy="210312"/>
          </a:xfrm>
          <a:prstGeom prst="line">
            <a:avLst/>
          </a:prstGeom>
          <a:noFill/>
          <a:ln w="19050">
            <a:solidFill>
              <a:srgbClr val="C5221F"/>
            </a:solidFill>
            <a:prstDash val="solid"/>
            <a:tailEnd type="triangle"/>
          </a:ln>
        </p:spPr>
      </p:sp>
      <p:sp>
        <p:nvSpPr>
          <p:cNvPr id="27" name="text-731"/>
          <p:cNvSpPr txBox="1"/>
          <p:nvPr/>
        </p:nvSpPr>
        <p:spPr>
          <a:xfrm>
            <a:off x="2286000" y="451713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8" name="box-732"/>
          <p:cNvSpPr/>
          <p:nvPr/>
        </p:nvSpPr>
        <p:spPr>
          <a:xfrm>
            <a:off x="548640" y="4764024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FCE8E6"/>
          </a:solidFill>
          <a:ln/>
        </p:spPr>
      </p:sp>
      <p:sp>
        <p:nvSpPr>
          <p:cNvPr id="29" name="text-733"/>
          <p:cNvSpPr txBox="1"/>
          <p:nvPr/>
        </p:nvSpPr>
        <p:spPr>
          <a:xfrm>
            <a:off x="731520" y="476402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Nobody available</a:t>
            </a:r>
            <a:endParaRPr lang="en-US" sz="1500" dirty="0"/>
          </a:p>
        </p:txBody>
      </p:sp>
      <p:sp>
        <p:nvSpPr>
          <p:cNvPr id="30" name="text-734"/>
          <p:cNvSpPr txBox="1"/>
          <p:nvPr/>
        </p:nvSpPr>
        <p:spPr>
          <a:xfrm>
            <a:off x="7132320" y="1645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500" dirty="0"/>
          </a:p>
        </p:txBody>
      </p:sp>
      <p:sp>
        <p:nvSpPr>
          <p:cNvPr id="31" name="text-735"/>
          <p:cNvSpPr txBox="1"/>
          <p:nvPr/>
        </p:nvSpPr>
        <p:spPr>
          <a:xfrm>
            <a:off x="7132320" y="2011680"/>
            <a:ext cx="4480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checked: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working day from today to the last relevant leave, at most 366 days; weekends and public holidays skipped.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means: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approved or requested leave, outside every contract, or (today only) absent in the Today column.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only approved absences are involved; warning if a requested leave is.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days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grouped into periods across weekends.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Project's Backup column is mirrored as the open row in Backups; changing it ends the old row yesterday.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edits to Projects, Leaves and Backups, after leave declarations, compile and nightly. Interim Backups and Check Workspace never email.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nightly job, step by step</a:t>
            </a:r>
            <a:endParaRPr lang="en-US" sz="3200" dirty="0"/>
          </a:p>
        </p:txBody>
      </p:sp>
      <p:sp>
        <p:nvSpPr>
          <p:cNvPr id="3" name="pill-736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737"/>
          <p:cNvSpPr/>
          <p:nvPr/>
        </p:nvSpPr>
        <p:spPr>
          <a:xfrm>
            <a:off x="548640" y="16459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3E8FD"/>
          </a:solidFill>
          <a:ln/>
        </p:spPr>
      </p:sp>
      <p:sp>
        <p:nvSpPr>
          <p:cNvPr id="5" name="text-738"/>
          <p:cNvSpPr txBox="1"/>
          <p:nvPr/>
        </p:nvSpPr>
        <p:spPr>
          <a:xfrm>
            <a:off x="685800" y="1755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-739"/>
          <p:cNvSpPr txBox="1"/>
          <p:nvPr/>
        </p:nvSpPr>
        <p:spPr>
          <a:xfrm>
            <a:off x="685800" y="21488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restore</a:t>
            </a:r>
            <a:endParaRPr lang="en-US" sz="1400" dirty="0"/>
          </a:p>
        </p:txBody>
      </p:sp>
      <p:sp>
        <p:nvSpPr>
          <p:cNvPr id="7" name="text-740"/>
          <p:cNvSpPr txBox="1"/>
          <p:nvPr/>
        </p:nvSpPr>
        <p:spPr>
          <a:xfrm>
            <a:off x="685800" y="24688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repair</a:t>
            </a:r>
            <a:endParaRPr lang="en-US" sz="1200" dirty="0"/>
          </a:p>
        </p:txBody>
      </p:sp>
      <p:sp>
        <p:nvSpPr>
          <p:cNvPr id="8" name="box-741"/>
          <p:cNvSpPr/>
          <p:nvPr/>
        </p:nvSpPr>
        <p:spPr>
          <a:xfrm>
            <a:off x="2798064" y="16459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3E8FD"/>
          </a:solidFill>
          <a:ln/>
        </p:spPr>
      </p:sp>
      <p:sp>
        <p:nvSpPr>
          <p:cNvPr id="9" name="text-742"/>
          <p:cNvSpPr txBox="1"/>
          <p:nvPr/>
        </p:nvSpPr>
        <p:spPr>
          <a:xfrm>
            <a:off x="2935224" y="1755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pill-743"/>
          <p:cNvSpPr/>
          <p:nvPr/>
        </p:nvSpPr>
        <p:spPr>
          <a:xfrm>
            <a:off x="4078224" y="1783080"/>
            <a:ext cx="685800" cy="292608"/>
          </a:xfrm>
          <a:prstGeom prst="roundRect">
            <a:avLst>
              <a:gd name="adj" fmla="val 15625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</a:t>
            </a:r>
            <a:endParaRPr lang="en-US" sz="1100" dirty="0"/>
          </a:p>
        </p:txBody>
      </p:sp>
      <p:sp>
        <p:nvSpPr>
          <p:cNvPr id="11" name="text-744"/>
          <p:cNvSpPr txBox="1"/>
          <p:nvPr/>
        </p:nvSpPr>
        <p:spPr>
          <a:xfrm>
            <a:off x="2935224" y="21488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sync</a:t>
            </a:r>
            <a:endParaRPr lang="en-US" sz="1400" dirty="0"/>
          </a:p>
        </p:txBody>
      </p:sp>
      <p:sp>
        <p:nvSpPr>
          <p:cNvPr id="12" name="text-745"/>
          <p:cNvSpPr txBox="1"/>
          <p:nvPr/>
        </p:nvSpPr>
        <p:spPr>
          <a:xfrm>
            <a:off x="2935224" y="24688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from Contracts, protections</a:t>
            </a:r>
            <a:endParaRPr lang="en-US" sz="1200" dirty="0"/>
          </a:p>
        </p:txBody>
      </p:sp>
      <p:sp>
        <p:nvSpPr>
          <p:cNvPr id="13" name="box-746"/>
          <p:cNvSpPr/>
          <p:nvPr/>
        </p:nvSpPr>
        <p:spPr>
          <a:xfrm>
            <a:off x="5047488" y="16459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3E8FD"/>
          </a:solidFill>
          <a:ln/>
        </p:spPr>
      </p:sp>
      <p:sp>
        <p:nvSpPr>
          <p:cNvPr id="14" name="text-747"/>
          <p:cNvSpPr txBox="1"/>
          <p:nvPr/>
        </p:nvSpPr>
        <p:spPr>
          <a:xfrm>
            <a:off x="5184648" y="1755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pill-748"/>
          <p:cNvSpPr/>
          <p:nvPr/>
        </p:nvSpPr>
        <p:spPr>
          <a:xfrm>
            <a:off x="6327648" y="1783080"/>
            <a:ext cx="685800" cy="292608"/>
          </a:xfrm>
          <a:prstGeom prst="roundRect">
            <a:avLst>
              <a:gd name="adj" fmla="val 15625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</a:t>
            </a:r>
            <a:endParaRPr lang="en-US" sz="1100" dirty="0"/>
          </a:p>
        </p:txBody>
      </p:sp>
      <p:sp>
        <p:nvSpPr>
          <p:cNvPr id="16" name="text-749"/>
          <p:cNvSpPr txBox="1"/>
          <p:nvPr/>
        </p:nvSpPr>
        <p:spPr>
          <a:xfrm>
            <a:off x="5184648" y="21488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compile</a:t>
            </a:r>
            <a:endParaRPr lang="en-US" sz="1400" dirty="0"/>
          </a:p>
        </p:txBody>
      </p:sp>
      <p:sp>
        <p:nvSpPr>
          <p:cNvPr id="17" name="text-750"/>
          <p:cNvSpPr txBox="1"/>
          <p:nvPr/>
        </p:nvSpPr>
        <p:spPr>
          <a:xfrm>
            <a:off x="5184648" y="24688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today</a:t>
            </a:r>
            <a:endParaRPr lang="en-US" sz="1200" dirty="0"/>
          </a:p>
        </p:txBody>
      </p:sp>
      <p:sp>
        <p:nvSpPr>
          <p:cNvPr id="18" name="box-751"/>
          <p:cNvSpPr/>
          <p:nvPr/>
        </p:nvSpPr>
        <p:spPr>
          <a:xfrm>
            <a:off x="7296912" y="16459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3E8FD"/>
          </a:solidFill>
          <a:ln/>
        </p:spPr>
      </p:sp>
      <p:sp>
        <p:nvSpPr>
          <p:cNvPr id="19" name="text-752"/>
          <p:cNvSpPr txBox="1"/>
          <p:nvPr/>
        </p:nvSpPr>
        <p:spPr>
          <a:xfrm>
            <a:off x="7434072" y="1755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-753"/>
          <p:cNvSpPr txBox="1"/>
          <p:nvPr/>
        </p:nvSpPr>
        <p:spPr>
          <a:xfrm>
            <a:off x="7434072" y="21488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Presence</a:t>
            </a:r>
            <a:endParaRPr lang="en-US" sz="1400" dirty="0"/>
          </a:p>
        </p:txBody>
      </p:sp>
      <p:sp>
        <p:nvSpPr>
          <p:cNvPr id="21" name="text-754"/>
          <p:cNvSpPr txBox="1"/>
          <p:nvPr/>
        </p:nvSpPr>
        <p:spPr>
          <a:xfrm>
            <a:off x="7434072" y="24688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 grid</a:t>
            </a:r>
            <a:endParaRPr lang="en-US" sz="1200" dirty="0"/>
          </a:p>
        </p:txBody>
      </p:sp>
      <p:sp>
        <p:nvSpPr>
          <p:cNvPr id="22" name="box-755"/>
          <p:cNvSpPr/>
          <p:nvPr/>
        </p:nvSpPr>
        <p:spPr>
          <a:xfrm>
            <a:off x="9546336" y="16459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3E8FD"/>
          </a:solidFill>
          <a:ln/>
        </p:spPr>
      </p:sp>
      <p:sp>
        <p:nvSpPr>
          <p:cNvPr id="23" name="text-756"/>
          <p:cNvSpPr txBox="1"/>
          <p:nvPr/>
        </p:nvSpPr>
        <p:spPr>
          <a:xfrm>
            <a:off x="9683496" y="17556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4" name="text-757"/>
          <p:cNvSpPr txBox="1"/>
          <p:nvPr/>
        </p:nvSpPr>
        <p:spPr>
          <a:xfrm>
            <a:off x="9683496" y="21488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Data</a:t>
            </a:r>
            <a:endParaRPr lang="en-US" sz="1400" dirty="0"/>
          </a:p>
        </p:txBody>
      </p:sp>
      <p:sp>
        <p:nvSpPr>
          <p:cNvPr id="25" name="text-758"/>
          <p:cNvSpPr txBox="1"/>
          <p:nvPr/>
        </p:nvSpPr>
        <p:spPr>
          <a:xfrm>
            <a:off x="9683496" y="24688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 fact table</a:t>
            </a:r>
            <a:endParaRPr lang="en-US" sz="1200" dirty="0"/>
          </a:p>
        </p:txBody>
      </p:sp>
      <p:sp>
        <p:nvSpPr>
          <p:cNvPr id="26" name="box-759"/>
          <p:cNvSpPr/>
          <p:nvPr/>
        </p:nvSpPr>
        <p:spPr>
          <a:xfrm>
            <a:off x="548640" y="32461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27" name="text-760"/>
          <p:cNvSpPr txBox="1"/>
          <p:nvPr/>
        </p:nvSpPr>
        <p:spPr>
          <a:xfrm>
            <a:off x="685800" y="33558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28" name="text-761"/>
          <p:cNvSpPr txBox="1"/>
          <p:nvPr/>
        </p:nvSpPr>
        <p:spPr>
          <a:xfrm>
            <a:off x="685800" y="37490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400" dirty="0"/>
          </a:p>
        </p:txBody>
      </p:sp>
      <p:sp>
        <p:nvSpPr>
          <p:cNvPr id="29" name="text-762"/>
          <p:cNvSpPr txBox="1"/>
          <p:nvPr/>
        </p:nvSpPr>
        <p:spPr>
          <a:xfrm>
            <a:off x="685800" y="40690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 and tasks for new gaps</a:t>
            </a:r>
            <a:endParaRPr lang="en-US" sz="1200" dirty="0"/>
          </a:p>
        </p:txBody>
      </p:sp>
      <p:sp>
        <p:nvSpPr>
          <p:cNvPr id="30" name="box-763"/>
          <p:cNvSpPr/>
          <p:nvPr/>
        </p:nvSpPr>
        <p:spPr>
          <a:xfrm>
            <a:off x="2798064" y="32461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31" name="text-764"/>
          <p:cNvSpPr txBox="1"/>
          <p:nvPr/>
        </p:nvSpPr>
        <p:spPr>
          <a:xfrm>
            <a:off x="2935224" y="33558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  <p:sp>
        <p:nvSpPr>
          <p:cNvPr id="32" name="text-765"/>
          <p:cNvSpPr txBox="1"/>
          <p:nvPr/>
        </p:nvSpPr>
        <p:spPr>
          <a:xfrm>
            <a:off x="2935224" y="37490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Tasks</a:t>
            </a:r>
            <a:endParaRPr lang="en-US" sz="1400" dirty="0"/>
          </a:p>
        </p:txBody>
      </p:sp>
      <p:sp>
        <p:nvSpPr>
          <p:cNvPr id="33" name="text-766"/>
          <p:cNvSpPr txBox="1"/>
          <p:nvPr/>
        </p:nvSpPr>
        <p:spPr>
          <a:xfrm>
            <a:off x="2935224" y="40690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new, pull completions</a:t>
            </a:r>
            <a:endParaRPr lang="en-US" sz="1200" dirty="0"/>
          </a:p>
        </p:txBody>
      </p:sp>
      <p:sp>
        <p:nvSpPr>
          <p:cNvPr id="34" name="box-767"/>
          <p:cNvSpPr/>
          <p:nvPr/>
        </p:nvSpPr>
        <p:spPr>
          <a:xfrm>
            <a:off x="5047488" y="32461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35" name="text-768"/>
          <p:cNvSpPr txBox="1"/>
          <p:nvPr/>
        </p:nvSpPr>
        <p:spPr>
          <a:xfrm>
            <a:off x="5184648" y="33558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800" dirty="0"/>
          </a:p>
        </p:txBody>
      </p:sp>
      <p:sp>
        <p:nvSpPr>
          <p:cNvPr id="36" name="text-769"/>
          <p:cNvSpPr txBox="1"/>
          <p:nvPr/>
        </p:nvSpPr>
        <p:spPr>
          <a:xfrm>
            <a:off x="5184648" y="37490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1400" dirty="0"/>
          </a:p>
        </p:txBody>
      </p:sp>
      <p:sp>
        <p:nvSpPr>
          <p:cNvPr id="37" name="text-770"/>
          <p:cNvSpPr txBox="1"/>
          <p:nvPr/>
        </p:nvSpPr>
        <p:spPr>
          <a:xfrm>
            <a:off x="5184648" y="40690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update events</a:t>
            </a:r>
            <a:endParaRPr lang="en-US" sz="1200" dirty="0"/>
          </a:p>
        </p:txBody>
      </p:sp>
      <p:sp>
        <p:nvSpPr>
          <p:cNvPr id="38" name="box-771"/>
          <p:cNvSpPr/>
          <p:nvPr/>
        </p:nvSpPr>
        <p:spPr>
          <a:xfrm>
            <a:off x="7296912" y="32461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39" name="text-772"/>
          <p:cNvSpPr txBox="1"/>
          <p:nvPr/>
        </p:nvSpPr>
        <p:spPr>
          <a:xfrm>
            <a:off x="7434072" y="33558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800" dirty="0"/>
          </a:p>
        </p:txBody>
      </p:sp>
      <p:sp>
        <p:nvSpPr>
          <p:cNvPr id="40" name="text-773"/>
          <p:cNvSpPr txBox="1"/>
          <p:nvPr/>
        </p:nvSpPr>
        <p:spPr>
          <a:xfrm>
            <a:off x="7434072" y="37490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Holidays</a:t>
            </a:r>
            <a:endParaRPr lang="en-US" sz="1400" dirty="0"/>
          </a:p>
        </p:txBody>
      </p:sp>
      <p:sp>
        <p:nvSpPr>
          <p:cNvPr id="41" name="text-774"/>
          <p:cNvSpPr txBox="1"/>
          <p:nvPr/>
        </p:nvSpPr>
        <p:spPr>
          <a:xfrm>
            <a:off x="7434072" y="40690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next year's once</a:t>
            </a:r>
            <a:endParaRPr lang="en-US" sz="1200" dirty="0"/>
          </a:p>
        </p:txBody>
      </p:sp>
      <p:sp>
        <p:nvSpPr>
          <p:cNvPr id="42" name="box-775"/>
          <p:cNvSpPr/>
          <p:nvPr/>
        </p:nvSpPr>
        <p:spPr>
          <a:xfrm>
            <a:off x="9546336" y="3246120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F5F1FA"/>
          </a:solidFill>
          <a:ln/>
        </p:spPr>
      </p:sp>
      <p:sp>
        <p:nvSpPr>
          <p:cNvPr id="43" name="text-776"/>
          <p:cNvSpPr txBox="1"/>
          <p:nvPr/>
        </p:nvSpPr>
        <p:spPr>
          <a:xfrm>
            <a:off x="9683496" y="335584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  <p:sp>
        <p:nvSpPr>
          <p:cNvPr id="44" name="text-777"/>
          <p:cNvSpPr txBox="1"/>
          <p:nvPr/>
        </p:nvSpPr>
        <p:spPr>
          <a:xfrm>
            <a:off x="9683496" y="374904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Birthday calendar</a:t>
            </a:r>
            <a:endParaRPr lang="en-US" sz="1400" dirty="0"/>
          </a:p>
        </p:txBody>
      </p:sp>
      <p:sp>
        <p:nvSpPr>
          <p:cNvPr id="45" name="text-778"/>
          <p:cNvSpPr txBox="1"/>
          <p:nvPr/>
        </p:nvSpPr>
        <p:spPr>
          <a:xfrm>
            <a:off x="9683496" y="40690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and sharing</a:t>
            </a:r>
            <a:endParaRPr lang="en-US" sz="1200" dirty="0"/>
          </a:p>
        </p:txBody>
      </p:sp>
      <p:sp>
        <p:nvSpPr>
          <p:cNvPr id="46" name="text-779"/>
          <p:cNvSpPr txBox="1"/>
          <p:nvPr/>
        </p:nvSpPr>
        <p:spPr>
          <a:xfrm>
            <a:off x="548640" y="498348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~70 s</a:t>
            </a:r>
            <a:endParaRPr lang="en-US" sz="3200" dirty="0"/>
          </a:p>
        </p:txBody>
      </p:sp>
      <p:sp>
        <p:nvSpPr>
          <p:cNvPr id="47" name="text-780"/>
          <p:cNvSpPr txBox="1"/>
          <p:nvPr/>
        </p:nvSpPr>
        <p:spPr>
          <a:xfrm>
            <a:off x="548640" y="5577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on the test sheet</a:t>
            </a:r>
            <a:endParaRPr lang="en-US" sz="1300" dirty="0"/>
          </a:p>
        </p:txBody>
      </p:sp>
      <p:sp>
        <p:nvSpPr>
          <p:cNvPr id="48" name="text-781"/>
          <p:cNvSpPr txBox="1"/>
          <p:nvPr/>
        </p:nvSpPr>
        <p:spPr>
          <a:xfrm>
            <a:off x="4297680" y="498348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</a:t>
            </a:r>
            <a:endParaRPr lang="en-US" sz="3200" dirty="0"/>
          </a:p>
        </p:txBody>
      </p:sp>
      <p:sp>
        <p:nvSpPr>
          <p:cNvPr id="49" name="text-782"/>
          <p:cNvSpPr txBox="1"/>
          <p:nvPr/>
        </p:nvSpPr>
        <p:spPr>
          <a:xfrm>
            <a:off x="4297680" y="5577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the Sync Lock, else skip the night</a:t>
            </a:r>
            <a:endParaRPr lang="en-US" sz="1300" dirty="0"/>
          </a:p>
        </p:txBody>
      </p:sp>
      <p:sp>
        <p:nvSpPr>
          <p:cNvPr id="50" name="text-783"/>
          <p:cNvSpPr txBox="1"/>
          <p:nvPr/>
        </p:nvSpPr>
        <p:spPr>
          <a:xfrm>
            <a:off x="8046720" y="498348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3200" dirty="0"/>
          </a:p>
        </p:txBody>
      </p:sp>
      <p:sp>
        <p:nvSpPr>
          <p:cNvPr id="51" name="text-784"/>
          <p:cNvSpPr txBox="1"/>
          <p:nvPr/>
        </p:nvSpPr>
        <p:spPr>
          <a:xfrm>
            <a:off x="8046720" y="5577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budget; remaining steps are skipped and logged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registry and safe schema migrations</a:t>
            </a:r>
            <a:endParaRPr lang="en-US" sz="3200" dirty="0"/>
          </a:p>
        </p:txBody>
      </p:sp>
      <p:sp>
        <p:nvSpPr>
          <p:cNvPr id="3" name="pill-785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box-786"/>
          <p:cNvSpPr/>
          <p:nvPr/>
        </p:nvSpPr>
        <p:spPr>
          <a:xfrm>
            <a:off x="548640" y="164592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5F1FA"/>
          </a:solidFill>
          <a:ln/>
        </p:spPr>
      </p:sp>
      <p:sp>
        <p:nvSpPr>
          <p:cNvPr id="5" name="iconbg-787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78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85162"/>
            <a:ext cx="281635" cy="281635"/>
          </a:xfrm>
          <a:prstGeom prst="rect">
            <a:avLst/>
          </a:prstGeom>
        </p:spPr>
      </p:pic>
      <p:sp>
        <p:nvSpPr>
          <p:cNvPr id="7" name="text-789"/>
          <p:cNvSpPr txBox="1"/>
          <p:nvPr/>
        </p:nvSpPr>
        <p:spPr>
          <a:xfrm>
            <a:off x="1417320" y="1892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Tabs are found by ID, not by name</a:t>
            </a:r>
            <a:endParaRPr lang="en-US" sz="1600" dirty="0"/>
          </a:p>
        </p:txBody>
      </p:sp>
      <p:sp>
        <p:nvSpPr>
          <p:cNvPr id="8" name="text-790"/>
          <p:cNvSpPr txBox="1"/>
          <p:nvPr/>
        </p:nvSpPr>
        <p:spPr>
          <a:xfrm>
            <a:off x="1417320" y="2276856"/>
            <a:ext cx="4389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src/Tables.js maps a stable key to each tab: members → Members, tenures → Contracts, baselines → Routines, weeklyMatrix → Weekly Presence …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order: stored sheet ID (document property SHEET_ID_&lt;key&gt;), then readable name, then former technical name.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team can rename a tab without breaking anything.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lookups accept the internal key or the readable label (“accenture_email” or “Accenture email”).</a:t>
            </a:r>
            <a:endParaRPr lang="en-US" sz="1400" dirty="0"/>
          </a:p>
        </p:txBody>
      </p:sp>
      <p:sp>
        <p:nvSpPr>
          <p:cNvPr id="9" name="box-791"/>
          <p:cNvSpPr/>
          <p:nvPr/>
        </p:nvSpPr>
        <p:spPr>
          <a:xfrm>
            <a:off x="6172200" y="164592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F5F1FA"/>
          </a:solidFill>
          <a:ln/>
        </p:spPr>
      </p:sp>
      <p:sp>
        <p:nvSpPr>
          <p:cNvPr id="10" name="iconbg-792"/>
          <p:cNvSpPr/>
          <p:nvPr/>
        </p:nvSpPr>
        <p:spPr>
          <a:xfrm>
            <a:off x="640080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7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42" y="1985162"/>
            <a:ext cx="281635" cy="281635"/>
          </a:xfrm>
          <a:prstGeom prst="rect">
            <a:avLst/>
          </a:prstGeom>
        </p:spPr>
      </p:pic>
      <p:sp>
        <p:nvSpPr>
          <p:cNvPr id="12" name="text-794"/>
          <p:cNvSpPr txBox="1"/>
          <p:nvPr/>
        </p:nvSpPr>
        <p:spPr>
          <a:xfrm>
            <a:off x="7040880" y="18928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Upgrades only add</a:t>
            </a:r>
            <a:endParaRPr lang="en-US" sz="1600" dirty="0"/>
          </a:p>
        </p:txBody>
      </p:sp>
      <p:sp>
        <p:nvSpPr>
          <p:cNvPr id="13" name="text-795"/>
          <p:cNvSpPr txBox="1"/>
          <p:nvPr/>
        </p:nvSpPr>
        <p:spPr>
          <a:xfrm>
            <a:off x="7040880" y="2276856"/>
            <a:ext cx="4389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SCHEMA_SPEC lists every column with its type, required or optional status, protection and dropdown values.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column widens the existing native table; data is never moved or deleted.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replaced, not stacked: required-cell highlights, colour rules, dropdowns.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table names must be unique; a clash with an archived tab is renamed archived_&lt;name&gt;_&lt;id&gt;.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fixed for users: column changes go through the maintainer and an ADR.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Sync Lock keeps scripts from colliding</a:t>
            </a:r>
            <a:endParaRPr lang="en-US" sz="3200" dirty="0"/>
          </a:p>
        </p:txBody>
      </p:sp>
      <p:sp>
        <p:nvSpPr>
          <p:cNvPr id="3" name="pill-796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text-79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can always type; the lock only stops two scripts writing from stale snapshots at the same time.</a:t>
            </a:r>
            <a:endParaRPr lang="en-US" sz="1500" dirty="0"/>
          </a:p>
        </p:txBody>
      </p:sp>
      <p:sp>
        <p:nvSpPr>
          <p:cNvPr id="5" name="box-798"/>
          <p:cNvSpPr/>
          <p:nvPr/>
        </p:nvSpPr>
        <p:spPr>
          <a:xfrm>
            <a:off x="548640" y="2286000"/>
            <a:ext cx="11064240" cy="73152"/>
          </a:xfrm>
          <a:prstGeom prst="rect">
            <a:avLst>
              <a:gd name="adj" fmla="val 100000"/>
            </a:avLst>
          </a:prstGeom>
          <a:solidFill>
            <a:srgbClr val="DADCE0"/>
          </a:solidFill>
          <a:ln/>
        </p:spPr>
      </p:sp>
      <p:sp>
        <p:nvSpPr>
          <p:cNvPr id="6" name="box-799"/>
          <p:cNvSpPr/>
          <p:nvPr/>
        </p:nvSpPr>
        <p:spPr>
          <a:xfrm>
            <a:off x="2926080" y="2148840"/>
            <a:ext cx="5029200" cy="347472"/>
          </a:xfrm>
          <a:prstGeom prst="roundRect">
            <a:avLst>
              <a:gd name="adj" fmla="val 52632"/>
            </a:avLst>
          </a:prstGeom>
          <a:solidFill>
            <a:srgbClr val="7500C0"/>
          </a:solidFill>
          <a:ln/>
        </p:spPr>
      </p:sp>
      <p:sp>
        <p:nvSpPr>
          <p:cNvPr id="7" name="text-800"/>
          <p:cNvSpPr txBox="1"/>
          <p:nvPr/>
        </p:nvSpPr>
        <p:spPr>
          <a:xfrm>
            <a:off x="2926080" y="214884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job holds the lock (≈ 70 s)</a:t>
            </a:r>
            <a:endParaRPr lang="en-US" sz="1300" dirty="0"/>
          </a:p>
        </p:txBody>
      </p:sp>
      <p:sp>
        <p:nvSpPr>
          <p:cNvPr id="8" name="box-801"/>
          <p:cNvSpPr/>
          <p:nvPr/>
        </p:nvSpPr>
        <p:spPr>
          <a:xfrm>
            <a:off x="914400" y="2148840"/>
            <a:ext cx="1463040" cy="347472"/>
          </a:xfrm>
          <a:prstGeom prst="roundRect">
            <a:avLst>
              <a:gd name="adj" fmla="val 52632"/>
            </a:avLst>
          </a:prstGeom>
          <a:solidFill>
            <a:srgbClr val="137333"/>
          </a:solidFill>
          <a:ln/>
        </p:spPr>
      </p:sp>
      <p:sp>
        <p:nvSpPr>
          <p:cNvPr id="9" name="text-802"/>
          <p:cNvSpPr txBox="1"/>
          <p:nvPr/>
        </p:nvSpPr>
        <p:spPr>
          <a:xfrm>
            <a:off x="914400" y="21488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Edit: runs</a:t>
            </a:r>
            <a:endParaRPr lang="en-US" sz="1300" dirty="0"/>
          </a:p>
        </p:txBody>
      </p:sp>
      <p:sp>
        <p:nvSpPr>
          <p:cNvPr id="10" name="box-803"/>
          <p:cNvSpPr/>
          <p:nvPr/>
        </p:nvSpPr>
        <p:spPr>
          <a:xfrm>
            <a:off x="8412480" y="2148840"/>
            <a:ext cx="2834640" cy="347472"/>
          </a:xfrm>
          <a:prstGeom prst="roundRect">
            <a:avLst>
              <a:gd name="adj" fmla="val 52632"/>
            </a:avLst>
          </a:prstGeom>
          <a:solidFill>
            <a:srgbClr val="137333"/>
          </a:solidFill>
          <a:ln/>
        </p:spPr>
      </p:sp>
      <p:sp>
        <p:nvSpPr>
          <p:cNvPr id="11" name="text-804"/>
          <p:cNvSpPr txBox="1"/>
          <p:nvPr/>
        </p:nvSpPr>
        <p:spPr>
          <a:xfrm>
            <a:off x="8412480" y="21488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run normally again</a:t>
            </a:r>
            <a:endParaRPr lang="en-US" sz="1300" dirty="0"/>
          </a:p>
        </p:txBody>
      </p:sp>
      <p:sp>
        <p:nvSpPr>
          <p:cNvPr id="12" name="box-805"/>
          <p:cNvSpPr/>
          <p:nvPr/>
        </p:nvSpPr>
        <p:spPr>
          <a:xfrm>
            <a:off x="548640" y="2926080"/>
            <a:ext cx="3474720" cy="3154680"/>
          </a:xfrm>
          <a:prstGeom prst="roundRect">
            <a:avLst>
              <a:gd name="adj" fmla="val 2319"/>
            </a:avLst>
          </a:prstGeom>
          <a:solidFill>
            <a:srgbClr val="F5F1FA"/>
          </a:solidFill>
          <a:ln/>
        </p:spPr>
      </p:sp>
      <p:sp>
        <p:nvSpPr>
          <p:cNvPr id="13" name="iconbg-806"/>
          <p:cNvSpPr/>
          <p:nvPr/>
        </p:nvSpPr>
        <p:spPr>
          <a:xfrm>
            <a:off x="777240" y="31546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con-80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3265322"/>
            <a:ext cx="281635" cy="281635"/>
          </a:xfrm>
          <a:prstGeom prst="rect">
            <a:avLst/>
          </a:prstGeom>
        </p:spPr>
      </p:pic>
      <p:sp>
        <p:nvSpPr>
          <p:cNvPr id="15" name="text-808"/>
          <p:cNvSpPr txBox="1"/>
          <p:nvPr/>
        </p:nvSpPr>
        <p:spPr>
          <a:xfrm>
            <a:off x="777240" y="37947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600" dirty="0"/>
          </a:p>
        </p:txBody>
      </p:sp>
      <p:sp>
        <p:nvSpPr>
          <p:cNvPr id="16" name="text-809"/>
          <p:cNvSpPr txBox="1"/>
          <p:nvPr/>
        </p:nvSpPr>
        <p:spPr>
          <a:xfrm>
            <a:off x="777240" y="4178808"/>
            <a:ext cx="306324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LockService document lock per team sheet. Not a script lock: the Library is shared, and a script lock would make every team's 2:00 job queue behind the others.</a:t>
            </a:r>
            <a:endParaRPr lang="en-US" sz="1300" dirty="0"/>
          </a:p>
        </p:txBody>
      </p:sp>
      <p:sp>
        <p:nvSpPr>
          <p:cNvPr id="17" name="box-810"/>
          <p:cNvSpPr/>
          <p:nvPr/>
        </p:nvSpPr>
        <p:spPr>
          <a:xfrm>
            <a:off x="4297680" y="2926080"/>
            <a:ext cx="3474720" cy="3154680"/>
          </a:xfrm>
          <a:prstGeom prst="roundRect">
            <a:avLst>
              <a:gd name="adj" fmla="val 2319"/>
            </a:avLst>
          </a:prstGeom>
          <a:solidFill>
            <a:srgbClr val="F5F1FA"/>
          </a:solidFill>
          <a:ln/>
        </p:spPr>
      </p:sp>
      <p:sp>
        <p:nvSpPr>
          <p:cNvPr id="18" name="iconbg-811"/>
          <p:cNvSpPr/>
          <p:nvPr/>
        </p:nvSpPr>
        <p:spPr>
          <a:xfrm>
            <a:off x="4526280" y="31546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con-81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922" y="3265322"/>
            <a:ext cx="281635" cy="281635"/>
          </a:xfrm>
          <a:prstGeom prst="rect">
            <a:avLst/>
          </a:prstGeom>
        </p:spPr>
      </p:pic>
      <p:sp>
        <p:nvSpPr>
          <p:cNvPr id="20" name="text-813"/>
          <p:cNvSpPr txBox="1"/>
          <p:nvPr/>
        </p:nvSpPr>
        <p:spPr>
          <a:xfrm>
            <a:off x="4526280" y="37947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waits</a:t>
            </a:r>
            <a:endParaRPr lang="en-US" sz="1600" dirty="0"/>
          </a:p>
        </p:txBody>
      </p:sp>
      <p:sp>
        <p:nvSpPr>
          <p:cNvPr id="21" name="text-814"/>
          <p:cNvSpPr txBox="1"/>
          <p:nvPr/>
        </p:nvSpPr>
        <p:spPr>
          <a:xfrm>
            <a:off x="4526280" y="4178808"/>
            <a:ext cx="306324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job waits up to 30 s, otherwise skips that night. An edit waits up to 10 s; if it times out the typed value stays, the follow-up writes are skipped and a toast says “Sync in progress”.</a:t>
            </a:r>
            <a:endParaRPr lang="en-US" sz="1300" dirty="0"/>
          </a:p>
        </p:txBody>
      </p:sp>
      <p:sp>
        <p:nvSpPr>
          <p:cNvPr id="22" name="box-815"/>
          <p:cNvSpPr/>
          <p:nvPr/>
        </p:nvSpPr>
        <p:spPr>
          <a:xfrm>
            <a:off x="8046720" y="2926080"/>
            <a:ext cx="3474720" cy="3154680"/>
          </a:xfrm>
          <a:prstGeom prst="roundRect">
            <a:avLst>
              <a:gd name="adj" fmla="val 2319"/>
            </a:avLst>
          </a:prstGeom>
          <a:solidFill>
            <a:srgbClr val="F5F1FA"/>
          </a:solidFill>
          <a:ln/>
        </p:spPr>
      </p:sp>
      <p:sp>
        <p:nvSpPr>
          <p:cNvPr id="23" name="iconbg-816"/>
          <p:cNvSpPr/>
          <p:nvPr/>
        </p:nvSpPr>
        <p:spPr>
          <a:xfrm>
            <a:off x="8275320" y="31546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8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962" y="3265322"/>
            <a:ext cx="281635" cy="281635"/>
          </a:xfrm>
          <a:prstGeom prst="rect">
            <a:avLst/>
          </a:prstGeom>
        </p:spPr>
      </p:pic>
      <p:sp>
        <p:nvSpPr>
          <p:cNvPr id="25" name="text-818"/>
          <p:cNvSpPr txBox="1"/>
          <p:nvPr/>
        </p:nvSpPr>
        <p:spPr>
          <a:xfrm>
            <a:off x="8275320" y="37947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catches up</a:t>
            </a:r>
            <a:endParaRPr lang="en-US" sz="1600" dirty="0"/>
          </a:p>
        </p:txBody>
      </p:sp>
      <p:sp>
        <p:nvSpPr>
          <p:cNvPr id="26" name="text-819"/>
          <p:cNvSpPr txBox="1"/>
          <p:nvPr/>
        </p:nvSpPr>
        <p:spPr>
          <a:xfrm>
            <a:off x="8275320" y="4178808"/>
            <a:ext cx="306324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and events without an external ID are pushed on the next run. A Weekly Presence entry typed during the sync may be redrawn away and must be typed again.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Data feeds Looker Studio</a:t>
            </a:r>
            <a:endParaRPr lang="en-US" sz="3200" dirty="0"/>
          </a:p>
        </p:txBody>
      </p:sp>
      <p:sp>
        <p:nvSpPr>
          <p:cNvPr id="3" name="pill-820"/>
          <p:cNvSpPr/>
          <p:nvPr/>
        </p:nvSpPr>
        <p:spPr>
          <a:xfrm>
            <a:off x="548640" y="274320"/>
            <a:ext cx="184251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 the cover</a:t>
            </a:r>
            <a:endParaRPr lang="en-US" sz="1100" dirty="0"/>
          </a:p>
        </p:txBody>
      </p:sp>
      <p:sp>
        <p:nvSpPr>
          <p:cNvPr id="4" name="text-821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Member × date × half-day. No totals in the sheet: Looker aggregates, so nothing is counted twice.</a:t>
            </a:r>
            <a:endParaRPr lang="en-US" sz="1500" dirty="0"/>
          </a:p>
        </p:txBody>
      </p:sp>
      <p:sp>
        <p:nvSpPr>
          <p:cNvPr id="5" name="box-822"/>
          <p:cNvSpPr/>
          <p:nvPr/>
        </p:nvSpPr>
        <p:spPr>
          <a:xfrm>
            <a:off x="548640" y="214884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6" name="text-823"/>
          <p:cNvSpPr txBox="1"/>
          <p:nvPr/>
        </p:nvSpPr>
        <p:spPr>
          <a:xfrm>
            <a:off x="548640" y="214884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endParaRPr lang="en-US" sz="1200" dirty="0"/>
          </a:p>
        </p:txBody>
      </p:sp>
      <p:sp>
        <p:nvSpPr>
          <p:cNvPr id="7" name="box-824"/>
          <p:cNvSpPr/>
          <p:nvPr/>
        </p:nvSpPr>
        <p:spPr>
          <a:xfrm>
            <a:off x="1938528" y="214884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8" name="text-825"/>
          <p:cNvSpPr txBox="1"/>
          <p:nvPr/>
        </p:nvSpPr>
        <p:spPr>
          <a:xfrm>
            <a:off x="1938528" y="214884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</a:t>
            </a:r>
            <a:endParaRPr lang="en-US" sz="1200" dirty="0"/>
          </a:p>
        </p:txBody>
      </p:sp>
      <p:sp>
        <p:nvSpPr>
          <p:cNvPr id="9" name="box-826"/>
          <p:cNvSpPr/>
          <p:nvPr/>
        </p:nvSpPr>
        <p:spPr>
          <a:xfrm>
            <a:off x="3328416" y="214884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10" name="text-827"/>
          <p:cNvSpPr txBox="1"/>
          <p:nvPr/>
        </p:nvSpPr>
        <p:spPr>
          <a:xfrm>
            <a:off x="3328416" y="214884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iso_week</a:t>
            </a:r>
            <a:endParaRPr lang="en-US" sz="1200" dirty="0"/>
          </a:p>
        </p:txBody>
      </p:sp>
      <p:sp>
        <p:nvSpPr>
          <p:cNvPr id="11" name="box-828"/>
          <p:cNvSpPr/>
          <p:nvPr/>
        </p:nvSpPr>
        <p:spPr>
          <a:xfrm>
            <a:off x="4718304" y="214884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12" name="text-829"/>
          <p:cNvSpPr txBox="1"/>
          <p:nvPr/>
        </p:nvSpPr>
        <p:spPr>
          <a:xfrm>
            <a:off x="4718304" y="214884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weekday</a:t>
            </a:r>
            <a:endParaRPr lang="en-US" sz="1200" dirty="0"/>
          </a:p>
        </p:txBody>
      </p:sp>
      <p:sp>
        <p:nvSpPr>
          <p:cNvPr id="13" name="box-830"/>
          <p:cNvSpPr/>
          <p:nvPr/>
        </p:nvSpPr>
        <p:spPr>
          <a:xfrm>
            <a:off x="6108192" y="214884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14" name="text-831"/>
          <p:cNvSpPr txBox="1"/>
          <p:nvPr/>
        </p:nvSpPr>
        <p:spPr>
          <a:xfrm>
            <a:off x="6108192" y="214884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is_weekend</a:t>
            </a:r>
            <a:endParaRPr lang="en-US" sz="1200" dirty="0"/>
          </a:p>
        </p:txBody>
      </p:sp>
      <p:sp>
        <p:nvSpPr>
          <p:cNvPr id="15" name="box-832"/>
          <p:cNvSpPr/>
          <p:nvPr/>
        </p:nvSpPr>
        <p:spPr>
          <a:xfrm>
            <a:off x="7498080" y="214884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16" name="text-833"/>
          <p:cNvSpPr txBox="1"/>
          <p:nvPr/>
        </p:nvSpPr>
        <p:spPr>
          <a:xfrm>
            <a:off x="7498080" y="214884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</a:t>
            </a:r>
            <a:endParaRPr lang="en-US" sz="1200" dirty="0"/>
          </a:p>
        </p:txBody>
      </p:sp>
      <p:sp>
        <p:nvSpPr>
          <p:cNvPr id="17" name="box-834"/>
          <p:cNvSpPr/>
          <p:nvPr/>
        </p:nvSpPr>
        <p:spPr>
          <a:xfrm>
            <a:off x="8887968" y="214884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18" name="text-835"/>
          <p:cNvSpPr txBox="1"/>
          <p:nvPr/>
        </p:nvSpPr>
        <p:spPr>
          <a:xfrm>
            <a:off x="8887968" y="214884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</a:t>
            </a:r>
            <a:endParaRPr lang="en-US" sz="1200" dirty="0"/>
          </a:p>
        </p:txBody>
      </p:sp>
      <p:sp>
        <p:nvSpPr>
          <p:cNvPr id="19" name="box-836"/>
          <p:cNvSpPr/>
          <p:nvPr/>
        </p:nvSpPr>
        <p:spPr>
          <a:xfrm>
            <a:off x="10277856" y="214884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20" name="text-837"/>
          <p:cNvSpPr txBox="1"/>
          <p:nvPr/>
        </p:nvSpPr>
        <p:spPr>
          <a:xfrm>
            <a:off x="10277856" y="214884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endParaRPr lang="en-US" sz="1200" dirty="0"/>
          </a:p>
        </p:txBody>
      </p:sp>
      <p:sp>
        <p:nvSpPr>
          <p:cNvPr id="21" name="box-838"/>
          <p:cNvSpPr/>
          <p:nvPr/>
        </p:nvSpPr>
        <p:spPr>
          <a:xfrm>
            <a:off x="548640" y="265176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22" name="text-839"/>
          <p:cNvSpPr txBox="1"/>
          <p:nvPr/>
        </p:nvSpPr>
        <p:spPr>
          <a:xfrm>
            <a:off x="548640" y="265176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fte_rate</a:t>
            </a:r>
            <a:endParaRPr lang="en-US" sz="1200" dirty="0"/>
          </a:p>
        </p:txBody>
      </p:sp>
      <p:sp>
        <p:nvSpPr>
          <p:cNvPr id="23" name="box-840"/>
          <p:cNvSpPr/>
          <p:nvPr/>
        </p:nvSpPr>
        <p:spPr>
          <a:xfrm>
            <a:off x="1938528" y="265176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24" name="text-841"/>
          <p:cNvSpPr txBox="1"/>
          <p:nvPr/>
        </p:nvSpPr>
        <p:spPr>
          <a:xfrm>
            <a:off x="1938528" y="265176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endParaRPr lang="en-US" sz="1200" dirty="0"/>
          </a:p>
        </p:txBody>
      </p:sp>
      <p:sp>
        <p:nvSpPr>
          <p:cNvPr id="25" name="box-842"/>
          <p:cNvSpPr/>
          <p:nvPr/>
        </p:nvSpPr>
        <p:spPr>
          <a:xfrm>
            <a:off x="3328416" y="265176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26" name="text-843"/>
          <p:cNvSpPr txBox="1"/>
          <p:nvPr/>
        </p:nvSpPr>
        <p:spPr>
          <a:xfrm>
            <a:off x="3328416" y="265176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</a:t>
            </a:r>
            <a:endParaRPr lang="en-US" sz="1200" dirty="0"/>
          </a:p>
        </p:txBody>
      </p:sp>
      <p:sp>
        <p:nvSpPr>
          <p:cNvPr id="27" name="box-844"/>
          <p:cNvSpPr/>
          <p:nvPr/>
        </p:nvSpPr>
        <p:spPr>
          <a:xfrm>
            <a:off x="4718304" y="265176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3E8FD"/>
          </a:solidFill>
          <a:ln/>
        </p:spPr>
      </p:sp>
      <p:sp>
        <p:nvSpPr>
          <p:cNvPr id="28" name="text-845"/>
          <p:cNvSpPr txBox="1"/>
          <p:nvPr/>
        </p:nvSpPr>
        <p:spPr>
          <a:xfrm>
            <a:off x="4718304" y="265176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1200" dirty="0"/>
          </a:p>
        </p:txBody>
      </p:sp>
      <p:sp>
        <p:nvSpPr>
          <p:cNvPr id="29" name="box-846"/>
          <p:cNvSpPr/>
          <p:nvPr/>
        </p:nvSpPr>
        <p:spPr>
          <a:xfrm>
            <a:off x="6108192" y="265176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3E8FD"/>
          </a:solidFill>
          <a:ln/>
        </p:spPr>
      </p:sp>
      <p:sp>
        <p:nvSpPr>
          <p:cNvPr id="30" name="text-847"/>
          <p:cNvSpPr txBox="1"/>
          <p:nvPr/>
        </p:nvSpPr>
        <p:spPr>
          <a:xfrm>
            <a:off x="6108192" y="265176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worked_days</a:t>
            </a:r>
            <a:endParaRPr lang="en-US" sz="1200" dirty="0"/>
          </a:p>
        </p:txBody>
      </p:sp>
      <p:sp>
        <p:nvSpPr>
          <p:cNvPr id="31" name="box-848"/>
          <p:cNvSpPr/>
          <p:nvPr/>
        </p:nvSpPr>
        <p:spPr>
          <a:xfrm>
            <a:off x="7498080" y="265176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3E8FD"/>
          </a:solidFill>
          <a:ln/>
        </p:spPr>
      </p:sp>
      <p:sp>
        <p:nvSpPr>
          <p:cNvPr id="32" name="text-849"/>
          <p:cNvSpPr txBox="1"/>
          <p:nvPr/>
        </p:nvSpPr>
        <p:spPr>
          <a:xfrm>
            <a:off x="7498080" y="265176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leave_days</a:t>
            </a:r>
            <a:endParaRPr lang="en-US" sz="1200" dirty="0"/>
          </a:p>
        </p:txBody>
      </p:sp>
      <p:sp>
        <p:nvSpPr>
          <p:cNvPr id="33" name="box-850"/>
          <p:cNvSpPr/>
          <p:nvPr/>
        </p:nvSpPr>
        <p:spPr>
          <a:xfrm>
            <a:off x="8887968" y="265176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3E8FD"/>
          </a:solidFill>
          <a:ln/>
        </p:spPr>
      </p:sp>
      <p:sp>
        <p:nvSpPr>
          <p:cNvPr id="34" name="text-851"/>
          <p:cNvSpPr txBox="1"/>
          <p:nvPr/>
        </p:nvSpPr>
        <p:spPr>
          <a:xfrm>
            <a:off x="8887968" y="265176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capacity_days</a:t>
            </a:r>
            <a:endParaRPr lang="en-US" sz="1200" dirty="0"/>
          </a:p>
        </p:txBody>
      </p:sp>
      <p:sp>
        <p:nvSpPr>
          <p:cNvPr id="35" name="box-852"/>
          <p:cNvSpPr/>
          <p:nvPr/>
        </p:nvSpPr>
        <p:spPr>
          <a:xfrm>
            <a:off x="10277856" y="2651760"/>
            <a:ext cx="1298448" cy="384048"/>
          </a:xfrm>
          <a:prstGeom prst="roundRect">
            <a:avLst>
              <a:gd name="adj" fmla="val 47619"/>
            </a:avLst>
          </a:prstGeom>
          <a:solidFill>
            <a:srgbClr val="F1F3F4"/>
          </a:solidFill>
          <a:ln/>
        </p:spPr>
      </p:sp>
      <p:sp>
        <p:nvSpPr>
          <p:cNvPr id="36" name="text-853"/>
          <p:cNvSpPr txBox="1"/>
          <p:nvPr/>
        </p:nvSpPr>
        <p:spPr>
          <a:xfrm>
            <a:off x="10277856" y="265176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is_public_holiday</a:t>
            </a:r>
            <a:endParaRPr lang="en-US" sz="1000" dirty="0"/>
          </a:p>
        </p:txBody>
      </p:sp>
      <p:graphicFrame>
        <p:nvGraphicFramePr>
          <p:cNvPr id="40" name="table-8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7498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669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office, client_site or remote from the location's Type; or leave, off, not_logged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worked_days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per half-day at an office, client site or remote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leave_days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per half-day on leave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capacity_days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× FTE per half-day on a working day inside a contract; 0 on weekends and public holidays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fte_rate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 and 80 both mean 80 %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38" name="box-855"/>
          <p:cNvSpPr/>
          <p:nvPr/>
        </p:nvSpPr>
        <p:spPr>
          <a:xfrm>
            <a:off x="8366760" y="333756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3B1E66"/>
          </a:solidFill>
          <a:ln/>
        </p:spPr>
      </p:sp>
      <p:sp>
        <p:nvSpPr>
          <p:cNvPr id="39" name="text-856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measures in Looker</a:t>
            </a:r>
            <a:endParaRPr lang="en-US" sz="1400" dirty="0"/>
          </a:p>
        </p:txBody>
      </p:sp>
      <p:sp>
        <p:nvSpPr>
          <p:cNvPr id="40" name="text-857"/>
          <p:cNvSpPr txBox="1"/>
          <p:nvPr/>
        </p:nvSpPr>
        <p:spPr>
          <a:xfrm>
            <a:off x="8595360" y="388620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rate = remote worked / worked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presence by department and month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days vs. capacity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Not-logged half-days per week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858"/>
          <p:cNvSpPr/>
          <p:nvPr/>
        </p:nvSpPr>
        <p:spPr>
          <a:xfrm>
            <a:off x="731520" y="1325880"/>
            <a:ext cx="1188720" cy="329184"/>
          </a:xfrm>
          <a:prstGeom prst="roundRect">
            <a:avLst>
              <a:gd name="adj" fmla="val 138889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flexibility-to-integrity ratio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3832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The sheet is designed to stay a spreadsheet: people can type almost anywhere. Integrity is enforced only where a wrong value would silently corrupt something derived from it.</a:t>
            </a:r>
            <a:endParaRPr lang="en-US" sz="1800" dirty="0"/>
          </a:p>
        </p:txBody>
      </p:sp>
      <p:sp>
        <p:nvSpPr>
          <p:cNvPr id="5" name="box-859"/>
          <p:cNvSpPr/>
          <p:nvPr/>
        </p:nvSpPr>
        <p:spPr>
          <a:xfrm>
            <a:off x="7680960" y="1325880"/>
            <a:ext cx="3931920" cy="4206240"/>
          </a:xfrm>
          <a:prstGeom prst="roundRect">
            <a:avLst>
              <a:gd name="adj" fmla="val 1395"/>
            </a:avLst>
          </a:prstGeom>
          <a:solidFill>
            <a:srgbClr val="2A2640"/>
          </a:solidFill>
          <a:ln/>
        </p:spPr>
      </p:sp>
      <p:sp>
        <p:nvSpPr>
          <p:cNvPr id="6" name="text-860"/>
          <p:cNvSpPr txBox="1"/>
          <p:nvPr/>
        </p:nvSpPr>
        <p:spPr>
          <a:xfrm>
            <a:off x="800100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861"/>
          <p:cNvSpPr txBox="1"/>
          <p:nvPr/>
        </p:nvSpPr>
        <p:spPr>
          <a:xfrm>
            <a:off x="8001000" y="20116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principle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ratio, in numbers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by table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layers of guards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or sidebar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flexibility costs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Principle: maximum flexibility, guards where it counts</a:t>
            </a:r>
            <a:endParaRPr lang="en-US" sz="3200" dirty="0"/>
          </a:p>
        </p:txBody>
      </p:sp>
      <p:sp>
        <p:nvSpPr>
          <p:cNvPr id="3" name="pill-862"/>
          <p:cNvSpPr/>
          <p:nvPr/>
        </p:nvSpPr>
        <p:spPr>
          <a:xfrm>
            <a:off x="548640" y="274320"/>
            <a:ext cx="300837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sp>
        <p:nvSpPr>
          <p:cNvPr id="4" name="box-863"/>
          <p:cNvSpPr/>
          <p:nvPr/>
        </p:nvSpPr>
        <p:spPr>
          <a:xfrm>
            <a:off x="548640" y="1645920"/>
            <a:ext cx="5120640" cy="4434840"/>
          </a:xfrm>
          <a:prstGeom prst="roundRect">
            <a:avLst>
              <a:gd name="adj" fmla="val 1649"/>
            </a:avLst>
          </a:prstGeom>
          <a:solidFill>
            <a:srgbClr val="F5F1FA"/>
          </a:solidFill>
          <a:ln/>
        </p:spPr>
      </p:sp>
      <p:sp>
        <p:nvSpPr>
          <p:cNvPr id="5" name="text-864"/>
          <p:cNvSpPr txBox="1"/>
          <p:nvPr/>
        </p:nvSpPr>
        <p:spPr>
          <a:xfrm>
            <a:off x="82296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Flexibility</a:t>
            </a:r>
            <a:endParaRPr lang="en-US" sz="2000" dirty="0"/>
          </a:p>
        </p:txBody>
      </p:sp>
      <p:sp>
        <p:nvSpPr>
          <p:cNvPr id="6" name="text-865"/>
          <p:cNvSpPr txBox="1"/>
          <p:nvPr/>
        </p:nvSpPr>
        <p:spPr>
          <a:xfrm>
            <a:off x="822960" y="2331720"/>
            <a:ext cx="4617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visible grid stays editable, Weekly Presence included.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tabs are hidden for tidiness, never locked.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Sidebars are an extra path, not a gate.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transparency: no privacy model, everyone sees every profile.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ended or cancelled, not erased, so mistakes can be traced.</a:t>
            </a:r>
            <a:endParaRPr lang="en-US" sz="1500" dirty="0"/>
          </a:p>
        </p:txBody>
      </p:sp>
      <p:sp>
        <p:nvSpPr>
          <p:cNvPr id="7" name="box-866"/>
          <p:cNvSpPr/>
          <p:nvPr/>
        </p:nvSpPr>
        <p:spPr>
          <a:xfrm>
            <a:off x="6492240" y="1645920"/>
            <a:ext cx="5120640" cy="4434840"/>
          </a:xfrm>
          <a:prstGeom prst="roundRect">
            <a:avLst>
              <a:gd name="adj" fmla="val 1649"/>
            </a:avLst>
          </a:prstGeom>
          <a:solidFill>
            <a:srgbClr val="F3E8FD"/>
          </a:solidFill>
          <a:ln/>
        </p:spPr>
      </p:sp>
      <p:sp>
        <p:nvSpPr>
          <p:cNvPr id="8" name="text-867"/>
          <p:cNvSpPr txBox="1"/>
          <p:nvPr/>
        </p:nvSpPr>
        <p:spPr>
          <a:xfrm>
            <a:off x="676656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</a:t>
            </a:r>
            <a:endParaRPr lang="en-US" sz="2000" dirty="0"/>
          </a:p>
        </p:txBody>
      </p:sp>
      <p:sp>
        <p:nvSpPr>
          <p:cNvPr id="9" name="text-868"/>
          <p:cNvSpPr txBox="1"/>
          <p:nvPr/>
        </p:nvSpPr>
        <p:spPr>
          <a:xfrm>
            <a:off x="6766560" y="2331720"/>
            <a:ext cx="4617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Machine-owned values (IDs, timestamps, derived columns, Google links) are locked.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other rows depend on ask for confirmation before a change.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dropdowns and chips shape input; required fields are flagged.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never write over each other (Sync Lock).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nightly job reconciles; Check Workspace reports what is off.</a:t>
            </a:r>
            <a:endParaRPr lang="en-US" sz="1500" dirty="0"/>
          </a:p>
        </p:txBody>
      </p:sp>
      <p:sp>
        <p:nvSpPr>
          <p:cNvPr id="10" name="balance"/>
          <p:cNvSpPr/>
          <p:nvPr/>
        </p:nvSpPr>
        <p:spPr>
          <a:xfrm>
            <a:off x="5669280" y="3429000"/>
            <a:ext cx="822960" cy="822960"/>
          </a:xfrm>
          <a:prstGeom prst="ellipse">
            <a:avLst/>
          </a:prstGeom>
          <a:solidFill>
            <a:srgbClr val="1E1B2E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1" name="balanc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3611880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editable columns for every locked one</a:t>
            </a:r>
            <a:endParaRPr lang="en-US" sz="3200" dirty="0"/>
          </a:p>
        </p:txBody>
      </p:sp>
      <p:sp>
        <p:nvSpPr>
          <p:cNvPr id="3" name="pill-869"/>
          <p:cNvSpPr/>
          <p:nvPr/>
        </p:nvSpPr>
        <p:spPr>
          <a:xfrm>
            <a:off x="548640" y="274320"/>
            <a:ext cx="300837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sp>
        <p:nvSpPr>
          <p:cNvPr id="4" name="box-870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1F3F4"/>
          </a:solidFill>
          <a:ln/>
        </p:spPr>
      </p:sp>
      <p:sp>
        <p:nvSpPr>
          <p:cNvPr id="5" name="text-871"/>
          <p:cNvSpPr txBox="1"/>
          <p:nvPr/>
        </p:nvSpPr>
        <p:spPr>
          <a:xfrm>
            <a:off x="777240" y="1737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5400" dirty="0"/>
          </a:p>
        </p:txBody>
      </p:sp>
      <p:sp>
        <p:nvSpPr>
          <p:cNvPr id="6" name="text-872"/>
          <p:cNvSpPr txBox="1"/>
          <p:nvPr/>
        </p:nvSpPr>
        <p:spPr>
          <a:xfrm>
            <a:off x="777240" y="2697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across the 11 managed tables</a:t>
            </a:r>
            <a:endParaRPr lang="en-US" sz="1400" dirty="0"/>
          </a:p>
        </p:txBody>
      </p:sp>
      <p:sp>
        <p:nvSpPr>
          <p:cNvPr id="7" name="box-873"/>
          <p:cNvSpPr/>
          <p:nvPr/>
        </p:nvSpPr>
        <p:spPr>
          <a:xfrm>
            <a:off x="3364992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5F1FA"/>
          </a:solidFill>
          <a:ln/>
        </p:spPr>
      </p:sp>
      <p:sp>
        <p:nvSpPr>
          <p:cNvPr id="8" name="text-874"/>
          <p:cNvSpPr txBox="1"/>
          <p:nvPr/>
        </p:nvSpPr>
        <p:spPr>
          <a:xfrm>
            <a:off x="3593592" y="1737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5400" dirty="0"/>
          </a:p>
        </p:txBody>
      </p:sp>
      <p:sp>
        <p:nvSpPr>
          <p:cNvPr id="9" name="text-875"/>
          <p:cNvSpPr txBox="1"/>
          <p:nvPr/>
        </p:nvSpPr>
        <p:spPr>
          <a:xfrm>
            <a:off x="3593592" y="2697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edit · 61 %</a:t>
            </a:r>
            <a:endParaRPr lang="en-US" sz="1400" dirty="0"/>
          </a:p>
        </p:txBody>
      </p:sp>
      <p:sp>
        <p:nvSpPr>
          <p:cNvPr id="10" name="box-876"/>
          <p:cNvSpPr/>
          <p:nvPr/>
        </p:nvSpPr>
        <p:spPr>
          <a:xfrm>
            <a:off x="6181344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5F1FA"/>
          </a:solidFill>
          <a:ln/>
        </p:spPr>
      </p:sp>
      <p:sp>
        <p:nvSpPr>
          <p:cNvPr id="11" name="text-877"/>
          <p:cNvSpPr txBox="1"/>
          <p:nvPr/>
        </p:nvSpPr>
        <p:spPr>
          <a:xfrm>
            <a:off x="6409944" y="1737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5400" dirty="0"/>
          </a:p>
        </p:txBody>
      </p:sp>
      <p:sp>
        <p:nvSpPr>
          <p:cNvPr id="12" name="text-878"/>
          <p:cNvSpPr txBox="1"/>
          <p:nvPr/>
        </p:nvSpPr>
        <p:spPr>
          <a:xfrm>
            <a:off x="6409944" y="2697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after a confirmation · 17 %</a:t>
            </a:r>
            <a:endParaRPr lang="en-US" sz="1400" dirty="0"/>
          </a:p>
        </p:txBody>
      </p:sp>
      <p:sp>
        <p:nvSpPr>
          <p:cNvPr id="13" name="box-879"/>
          <p:cNvSpPr/>
          <p:nvPr/>
        </p:nvSpPr>
        <p:spPr>
          <a:xfrm>
            <a:off x="8997696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5F1FA"/>
          </a:solidFill>
          <a:ln/>
        </p:spPr>
      </p:sp>
      <p:sp>
        <p:nvSpPr>
          <p:cNvPr id="14" name="text-880"/>
          <p:cNvSpPr txBox="1"/>
          <p:nvPr/>
        </p:nvSpPr>
        <p:spPr>
          <a:xfrm>
            <a:off x="9226296" y="17373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750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5400" dirty="0"/>
          </a:p>
        </p:txBody>
      </p:sp>
      <p:sp>
        <p:nvSpPr>
          <p:cNvPr id="15" name="text-881"/>
          <p:cNvSpPr txBox="1"/>
          <p:nvPr/>
        </p:nvSpPr>
        <p:spPr>
          <a:xfrm>
            <a:off x="9226296" y="2697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for non-admins · 22 %</a:t>
            </a:r>
            <a:endParaRPr lang="en-US" sz="1400" dirty="0"/>
          </a:p>
        </p:txBody>
      </p:sp>
      <p:sp>
        <p:nvSpPr>
          <p:cNvPr id="16" name="box-882"/>
          <p:cNvSpPr/>
          <p:nvPr/>
        </p:nvSpPr>
        <p:spPr>
          <a:xfrm>
            <a:off x="548640" y="3657600"/>
            <a:ext cx="6761480" cy="548640"/>
          </a:xfrm>
          <a:prstGeom prst="rect">
            <a:avLst>
              <a:gd name="adj" fmla="val 13333"/>
            </a:avLst>
          </a:prstGeom>
          <a:solidFill>
            <a:srgbClr val="137333"/>
          </a:solidFill>
          <a:ln/>
        </p:spPr>
      </p:sp>
      <p:sp>
        <p:nvSpPr>
          <p:cNvPr id="17" name="text-883"/>
          <p:cNvSpPr txBox="1"/>
          <p:nvPr/>
        </p:nvSpPr>
        <p:spPr>
          <a:xfrm>
            <a:off x="548640" y="3657600"/>
            <a:ext cx="676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44</a:t>
            </a:r>
            <a:endParaRPr lang="en-US" sz="1400" dirty="0"/>
          </a:p>
        </p:txBody>
      </p:sp>
      <p:sp>
        <p:nvSpPr>
          <p:cNvPr id="18" name="box-884"/>
          <p:cNvSpPr/>
          <p:nvPr/>
        </p:nvSpPr>
        <p:spPr>
          <a:xfrm>
            <a:off x="7310120" y="3657600"/>
            <a:ext cx="1844040" cy="548640"/>
          </a:xfrm>
          <a:prstGeom prst="rect">
            <a:avLst>
              <a:gd name="adj" fmla="val 13333"/>
            </a:avLst>
          </a:prstGeom>
          <a:solidFill>
            <a:srgbClr val="B06000"/>
          </a:solidFill>
          <a:ln/>
        </p:spPr>
      </p:sp>
      <p:sp>
        <p:nvSpPr>
          <p:cNvPr id="19" name="text-885"/>
          <p:cNvSpPr txBox="1"/>
          <p:nvPr/>
        </p:nvSpPr>
        <p:spPr>
          <a:xfrm>
            <a:off x="7310120" y="3657600"/>
            <a:ext cx="1844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12</a:t>
            </a:r>
            <a:endParaRPr lang="en-US" sz="1400" dirty="0"/>
          </a:p>
        </p:txBody>
      </p:sp>
      <p:sp>
        <p:nvSpPr>
          <p:cNvPr id="20" name="box-886"/>
          <p:cNvSpPr/>
          <p:nvPr/>
        </p:nvSpPr>
        <p:spPr>
          <a:xfrm>
            <a:off x="9154160" y="3657600"/>
            <a:ext cx="2458720" cy="548640"/>
          </a:xfrm>
          <a:prstGeom prst="rect">
            <a:avLst>
              <a:gd name="adj" fmla="val 13333"/>
            </a:avLst>
          </a:prstGeom>
          <a:solidFill>
            <a:srgbClr val="7500C0"/>
          </a:solidFill>
          <a:ln/>
        </p:spPr>
      </p:sp>
      <p:sp>
        <p:nvSpPr>
          <p:cNvPr id="21" name="text-887"/>
          <p:cNvSpPr txBox="1"/>
          <p:nvPr/>
        </p:nvSpPr>
        <p:spPr>
          <a:xfrm>
            <a:off x="9154160" y="3657600"/>
            <a:ext cx="245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16</a:t>
            </a:r>
            <a:endParaRPr lang="en-US" sz="1400" dirty="0"/>
          </a:p>
        </p:txBody>
      </p:sp>
      <p:sp>
        <p:nvSpPr>
          <p:cNvPr id="22" name="text-888"/>
          <p:cNvSpPr txBox="1"/>
          <p:nvPr/>
        </p:nvSpPr>
        <p:spPr>
          <a:xfrm>
            <a:off x="548640" y="4480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500" dirty="0"/>
          </a:p>
        </p:txBody>
      </p:sp>
      <p:sp>
        <p:nvSpPr>
          <p:cNvPr id="23" name="text-889"/>
          <p:cNvSpPr txBox="1"/>
          <p:nvPr/>
        </p:nvSpPr>
        <p:spPr>
          <a:xfrm>
            <a:off x="548640" y="484632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: locked = 56 : 16 ≈ 3.5 : 1.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: guarded = 44 : 28 ≈ 1.6 : 1.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of the 16 locked columns are written by the system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(IDs, timestamps, derived values, Google links). The 16th is the Member chip in Members, the identity everything hangs on.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cover rows already created,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new entries never need an admin, except in Members, where the five derived columns are locked on every row: people join through a contract.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by table: where the balance sits</a:t>
            </a:r>
            <a:endParaRPr lang="en-US" sz="3200" dirty="0"/>
          </a:p>
        </p:txBody>
      </p:sp>
      <p:sp>
        <p:nvSpPr>
          <p:cNvPr id="3" name="pill-890"/>
          <p:cNvSpPr/>
          <p:nvPr/>
        </p:nvSpPr>
        <p:spPr>
          <a:xfrm>
            <a:off x="548640" y="274320"/>
            <a:ext cx="300837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graphicFrame>
        <p:nvGraphicFramePr>
          <p:cNvPr id="4" name="ratio-chart" descr=""/>
          <p:cNvGraphicFramePr/>
          <p:nvPr/>
        </p:nvGraphicFramePr>
        <p:xfrm>
          <a:off x="548640" y="155448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-891"/>
          <p:cNvSpPr txBox="1"/>
          <p:nvPr/>
        </p:nvSpPr>
        <p:spPr>
          <a:xfrm>
            <a:off x="786384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chart</a:t>
            </a:r>
            <a:endParaRPr lang="en-US" sz="1500" dirty="0"/>
          </a:p>
        </p:txBody>
      </p:sp>
      <p:sp>
        <p:nvSpPr>
          <p:cNvPr id="6" name="text-892"/>
          <p:cNvSpPr txBox="1"/>
          <p:nvPr/>
        </p:nvSpPr>
        <p:spPr>
          <a:xfrm>
            <a:off x="7863840" y="2057400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tables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(Locations, Holidays) are fully free: they only feed dropdowns and calendars.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freest data table: only its ID and Google link are locked, because people also edit tasks in Google Tasks.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Log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most guarded: it is the record KPIs and Weekly Presence read.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mostly derived: change the contract, not the row.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layers of guards, from nudge to lock</a:t>
            </a:r>
            <a:endParaRPr lang="en-US" sz="3200" dirty="0"/>
          </a:p>
        </p:txBody>
      </p:sp>
      <p:sp>
        <p:nvSpPr>
          <p:cNvPr id="3" name="pill-893"/>
          <p:cNvSpPr/>
          <p:nvPr/>
        </p:nvSpPr>
        <p:spPr>
          <a:xfrm>
            <a:off x="548640" y="274320"/>
            <a:ext cx="300837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sp>
        <p:nvSpPr>
          <p:cNvPr id="4" name="box-894"/>
          <p:cNvSpPr/>
          <p:nvPr/>
        </p:nvSpPr>
        <p:spPr>
          <a:xfrm>
            <a:off x="548640" y="1600200"/>
            <a:ext cx="3840480" cy="548640"/>
          </a:xfrm>
          <a:prstGeom prst="roundRect">
            <a:avLst>
              <a:gd name="adj" fmla="val 25000"/>
            </a:avLst>
          </a:prstGeom>
          <a:solidFill>
            <a:srgbClr val="137333"/>
          </a:solidFill>
          <a:ln/>
        </p:spPr>
      </p:sp>
      <p:sp>
        <p:nvSpPr>
          <p:cNvPr id="5" name="text-895"/>
          <p:cNvSpPr txBox="1"/>
          <p:nvPr/>
        </p:nvSpPr>
        <p:spPr>
          <a:xfrm>
            <a:off x="731520" y="1600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Shape</a:t>
            </a:r>
            <a:endParaRPr lang="en-US" sz="1500" dirty="0"/>
          </a:p>
        </p:txBody>
      </p:sp>
      <p:sp>
        <p:nvSpPr>
          <p:cNvPr id="6" name="text-896"/>
          <p:cNvSpPr txBox="1"/>
          <p:nvPr/>
        </p:nvSpPr>
        <p:spPr>
          <a:xfrm>
            <a:off x="4572000" y="160020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types, dropdowns, people chips and placeholders prevent most typos.</a:t>
            </a:r>
            <a:endParaRPr lang="en-US" sz="1300" dirty="0"/>
          </a:p>
        </p:txBody>
      </p:sp>
      <p:sp>
        <p:nvSpPr>
          <p:cNvPr id="7" name="box-897"/>
          <p:cNvSpPr/>
          <p:nvPr/>
        </p:nvSpPr>
        <p:spPr>
          <a:xfrm>
            <a:off x="548640" y="2240280"/>
            <a:ext cx="4160520" cy="548640"/>
          </a:xfrm>
          <a:prstGeom prst="roundRect">
            <a:avLst>
              <a:gd name="adj" fmla="val 25000"/>
            </a:avLst>
          </a:prstGeom>
          <a:solidFill>
            <a:srgbClr val="137333"/>
          </a:solidFill>
          <a:ln/>
        </p:spPr>
      </p:sp>
      <p:sp>
        <p:nvSpPr>
          <p:cNvPr id="8" name="text-898"/>
          <p:cNvSpPr txBox="1"/>
          <p:nvPr/>
        </p:nvSpPr>
        <p:spPr>
          <a:xfrm>
            <a:off x="731520" y="2240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Signal</a:t>
            </a:r>
            <a:endParaRPr lang="en-US" sz="1500" dirty="0"/>
          </a:p>
        </p:txBody>
      </p:sp>
      <p:sp>
        <p:nvSpPr>
          <p:cNvPr id="9" name="text-899"/>
          <p:cNvSpPr txBox="1"/>
          <p:nvPr/>
        </p:nvSpPr>
        <p:spPr>
          <a:xfrm>
            <a:off x="4892040" y="2240280"/>
            <a:ext cx="6720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required cells turn red; a toast names the missing fields.</a:t>
            </a:r>
            <a:endParaRPr lang="en-US" sz="1300" dirty="0"/>
          </a:p>
        </p:txBody>
      </p:sp>
      <p:sp>
        <p:nvSpPr>
          <p:cNvPr id="10" name="box-900"/>
          <p:cNvSpPr/>
          <p:nvPr/>
        </p:nvSpPr>
        <p:spPr>
          <a:xfrm>
            <a:off x="548640" y="2880360"/>
            <a:ext cx="4480560" cy="548640"/>
          </a:xfrm>
          <a:prstGeom prst="roundRect">
            <a:avLst>
              <a:gd name="adj" fmla="val 25000"/>
            </a:avLst>
          </a:prstGeom>
          <a:solidFill>
            <a:srgbClr val="1967D2"/>
          </a:solidFill>
          <a:ln/>
        </p:spPr>
      </p:sp>
      <p:sp>
        <p:nvSpPr>
          <p:cNvPr id="11" name="text-901"/>
          <p:cNvSpPr txBox="1"/>
          <p:nvPr/>
        </p:nvSpPr>
        <p:spPr>
          <a:xfrm>
            <a:off x="731520" y="2880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Guide</a:t>
            </a:r>
            <a:endParaRPr lang="en-US" sz="1500" dirty="0"/>
          </a:p>
        </p:txBody>
      </p:sp>
      <p:sp>
        <p:nvSpPr>
          <p:cNvPr id="12" name="text-902"/>
          <p:cNvSpPr txBox="1"/>
          <p:nvPr/>
        </p:nvSpPr>
        <p:spPr>
          <a:xfrm>
            <a:off x="5212080" y="2880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Sidebars refuse overlapping contracts, report gaps, propose ending an old routine, refuse a lead as their own interim.</a:t>
            </a:r>
            <a:endParaRPr lang="en-US" sz="1300" dirty="0"/>
          </a:p>
        </p:txBody>
      </p:sp>
      <p:sp>
        <p:nvSpPr>
          <p:cNvPr id="13" name="box-903"/>
          <p:cNvSpPr/>
          <p:nvPr/>
        </p:nvSpPr>
        <p:spPr>
          <a:xfrm>
            <a:off x="548640" y="3520440"/>
            <a:ext cx="4800600" cy="548640"/>
          </a:xfrm>
          <a:prstGeom prst="roundRect">
            <a:avLst>
              <a:gd name="adj" fmla="val 25000"/>
            </a:avLst>
          </a:prstGeom>
          <a:solidFill>
            <a:srgbClr val="B06000"/>
          </a:solidFill>
          <a:ln/>
        </p:spPr>
      </p:sp>
      <p:sp>
        <p:nvSpPr>
          <p:cNvPr id="14" name="text-904"/>
          <p:cNvSpPr txBox="1"/>
          <p:nvPr/>
        </p:nvSpPr>
        <p:spPr>
          <a:xfrm>
            <a:off x="731520" y="35204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Confirm</a:t>
            </a:r>
            <a:endParaRPr lang="en-US" sz="1500" dirty="0"/>
          </a:p>
        </p:txBody>
      </p:sp>
      <p:sp>
        <p:nvSpPr>
          <p:cNvPr id="15" name="text-905"/>
          <p:cNvSpPr txBox="1"/>
          <p:nvPr/>
        </p:nvSpPr>
        <p:spPr>
          <a:xfrm>
            <a:off x="5532120" y="3520440"/>
            <a:ext cx="6080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other rows rely on (contract start, leave type, project lead …) ask for confirmation.</a:t>
            </a:r>
            <a:endParaRPr lang="en-US" sz="1300" dirty="0"/>
          </a:p>
        </p:txBody>
      </p:sp>
      <p:sp>
        <p:nvSpPr>
          <p:cNvPr id="16" name="box-906"/>
          <p:cNvSpPr/>
          <p:nvPr/>
        </p:nvSpPr>
        <p:spPr>
          <a:xfrm>
            <a:off x="548640" y="4160520"/>
            <a:ext cx="5120640" cy="548640"/>
          </a:xfrm>
          <a:prstGeom prst="roundRect">
            <a:avLst>
              <a:gd name="adj" fmla="val 25000"/>
            </a:avLst>
          </a:prstGeom>
          <a:solidFill>
            <a:srgbClr val="7500C0"/>
          </a:solidFill>
          <a:ln/>
        </p:spPr>
      </p:sp>
      <p:sp>
        <p:nvSpPr>
          <p:cNvPr id="17" name="text-907"/>
          <p:cNvSpPr txBox="1"/>
          <p:nvPr/>
        </p:nvSpPr>
        <p:spPr>
          <a:xfrm>
            <a:off x="731520" y="4160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Lock</a:t>
            </a:r>
            <a:endParaRPr lang="en-US" sz="1500" dirty="0"/>
          </a:p>
        </p:txBody>
      </p:sp>
      <p:sp>
        <p:nvSpPr>
          <p:cNvPr id="18" name="text-908"/>
          <p:cNvSpPr txBox="1"/>
          <p:nvPr/>
        </p:nvSpPr>
        <p:spPr>
          <a:xfrm>
            <a:off x="5852160" y="416052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and derived columns: only the owner and ADMIN_EMAILS can edit; they get a warning, snoozable for 5 min.</a:t>
            </a:r>
            <a:endParaRPr lang="en-US" sz="1300" dirty="0"/>
          </a:p>
        </p:txBody>
      </p:sp>
      <p:sp>
        <p:nvSpPr>
          <p:cNvPr id="19" name="box-909"/>
          <p:cNvSpPr/>
          <p:nvPr/>
        </p:nvSpPr>
        <p:spPr>
          <a:xfrm>
            <a:off x="548640" y="4800600"/>
            <a:ext cx="5440680" cy="548640"/>
          </a:xfrm>
          <a:prstGeom prst="roundRect">
            <a:avLst>
              <a:gd name="adj" fmla="val 25000"/>
            </a:avLst>
          </a:prstGeom>
          <a:solidFill>
            <a:srgbClr val="7500C0"/>
          </a:solidFill>
          <a:ln/>
        </p:spPr>
      </p:sp>
      <p:sp>
        <p:nvSpPr>
          <p:cNvPr id="20" name="text-910"/>
          <p:cNvSpPr txBox="1"/>
          <p:nvPr/>
        </p:nvSpPr>
        <p:spPr>
          <a:xfrm>
            <a:off x="731520" y="48006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Serialise</a:t>
            </a:r>
            <a:endParaRPr lang="en-US" sz="1500" dirty="0"/>
          </a:p>
        </p:txBody>
      </p:sp>
      <p:sp>
        <p:nvSpPr>
          <p:cNvPr id="21" name="text-911"/>
          <p:cNvSpPr txBox="1"/>
          <p:nvPr/>
        </p:nvSpPr>
        <p:spPr>
          <a:xfrm>
            <a:off x="6172200" y="4800600"/>
            <a:ext cx="5440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Sync Lock stops scripts writing from stale snapshots.</a:t>
            </a:r>
            <a:endParaRPr lang="en-US" sz="1300" dirty="0"/>
          </a:p>
        </p:txBody>
      </p:sp>
      <p:sp>
        <p:nvSpPr>
          <p:cNvPr id="22" name="box-912"/>
          <p:cNvSpPr/>
          <p:nvPr/>
        </p:nvSpPr>
        <p:spPr>
          <a:xfrm>
            <a:off x="548640" y="5440680"/>
            <a:ext cx="5760720" cy="548640"/>
          </a:xfrm>
          <a:prstGeom prst="roundRect">
            <a:avLst>
              <a:gd name="adj" fmla="val 25000"/>
            </a:avLst>
          </a:prstGeom>
          <a:solidFill>
            <a:srgbClr val="3B1E66"/>
          </a:solidFill>
          <a:ln/>
        </p:spPr>
      </p:sp>
      <p:sp>
        <p:nvSpPr>
          <p:cNvPr id="23" name="text-913"/>
          <p:cNvSpPr txBox="1"/>
          <p:nvPr/>
        </p:nvSpPr>
        <p:spPr>
          <a:xfrm>
            <a:off x="731520" y="5440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Reconcile</a:t>
            </a:r>
            <a:endParaRPr lang="en-US" sz="1500" dirty="0"/>
          </a:p>
        </p:txBody>
      </p:sp>
      <p:sp>
        <p:nvSpPr>
          <p:cNvPr id="24" name="text-914"/>
          <p:cNvSpPr txBox="1"/>
          <p:nvPr/>
        </p:nvSpPr>
        <p:spPr>
          <a:xfrm>
            <a:off x="6492240" y="54406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sync rewrites derived values; compile is idempotent; Check Workspace reports drift.</a:t>
            </a:r>
            <a:endParaRPr lang="en-US" sz="1300" dirty="0"/>
          </a:p>
        </p:txBody>
      </p:sp>
      <p:sp>
        <p:nvSpPr>
          <p:cNvPr id="25" name="text-915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Softer layers act on every edit; harder ones only on the few columns where an error would spread into derived data.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or sidebar: speed versus guidance</a:t>
            </a:r>
            <a:endParaRPr lang="en-US" sz="3200" dirty="0"/>
          </a:p>
        </p:txBody>
      </p:sp>
      <p:sp>
        <p:nvSpPr>
          <p:cNvPr id="3" name="pill-916"/>
          <p:cNvSpPr/>
          <p:nvPr/>
        </p:nvSpPr>
        <p:spPr>
          <a:xfrm>
            <a:off x="548640" y="274320"/>
            <a:ext cx="300837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graphicFrame>
        <p:nvGraphicFramePr>
          <p:cNvPr id="46" name="table-9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4846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grid (fast, free)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a sidebar (checked)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person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the name in Members (admins only: the column is locked)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&amp; Contracts: first contract form, open to everyone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a contract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Unhide Contracts and type a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contract: ends the current one, refuses overlaps, reports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 week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Unhide Routines and type rows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 Baseline: presets, overlap prompt, history kept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Presence cell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Unhide Leaves and type a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 Leave: half-days, quick ranges, compiled at once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an absence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Unhide Backups and type a row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Interim Backups: shows gaps, flags the person's leaves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Tasks, Events, settings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grid is the only path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5" name="text-918"/>
          <p:cNvSpPr txBox="1"/>
          <p:nvPr/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paths write the same tables and pass the same validation, protections and nightly reconciliation. The sidebar adds checks across rows (overlaps, gaps) that a single cell edit cannot see.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flexibility costs, and how it is caught</a:t>
            </a:r>
            <a:endParaRPr lang="en-US" sz="3200" dirty="0"/>
          </a:p>
        </p:txBody>
      </p:sp>
      <p:sp>
        <p:nvSpPr>
          <p:cNvPr id="3" name="pill-919"/>
          <p:cNvSpPr/>
          <p:nvPr/>
        </p:nvSpPr>
        <p:spPr>
          <a:xfrm>
            <a:off x="548640" y="274320"/>
            <a:ext cx="3008376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Flexibility vs. data integrity</a:t>
            </a:r>
            <a:endParaRPr lang="en-US" sz="1100" dirty="0"/>
          </a:p>
        </p:txBody>
      </p:sp>
      <p:graphicFrame>
        <p:nvGraphicFramePr>
          <p:cNvPr id="47" name="table-9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Trade-off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can go wrong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 entries win in the Presence 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day typed before a leave was approved keeps the typed location (also in KPIs)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reads Leaves directly; fix the day in Weekly Presence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tabs stay editable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row typed there skips the sidebar's cross-row checks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required cells, protection at the next nightly run, Check Workspace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Admins can edit locked columns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derived value is overwritten by hand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 toast; the next sync rewrites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Edits during the 2:00 sync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writes are skipped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“Sync in progress” toast; the next run catches 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privacy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 sees every contract and contact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Birthdays store day and month only; data stays inside the shared sheet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Requested leaves are not compiled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Presence shows a routine for a day that may become a leave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 coverage warning before approval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921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 for maintainers: add a guard only when a wrong value would silently spread into derived data; otherwise prefer a signal (toast, highlight, Check Workspace) over a lock.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922"/>
          <p:cNvSpPr/>
          <p:nvPr/>
        </p:nvSpPr>
        <p:spPr>
          <a:xfrm>
            <a:off x="731520" y="1325880"/>
            <a:ext cx="1188720" cy="329184"/>
          </a:xfrm>
          <a:prstGeom prst="roundRect">
            <a:avLst>
              <a:gd name="adj" fmla="val 138889"/>
            </a:avLst>
          </a:prstGeom>
          <a:solidFill>
            <a:srgbClr val="7500C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 &amp; reference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3832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Common symptoms and their fixes, performance figures and limits, and where to find the detail.</a:t>
            </a:r>
            <a:endParaRPr lang="en-US" sz="1800" dirty="0"/>
          </a:p>
        </p:txBody>
      </p:sp>
      <p:sp>
        <p:nvSpPr>
          <p:cNvPr id="5" name="box-923"/>
          <p:cNvSpPr/>
          <p:nvPr/>
        </p:nvSpPr>
        <p:spPr>
          <a:xfrm>
            <a:off x="7680960" y="1325880"/>
            <a:ext cx="3931920" cy="4206240"/>
          </a:xfrm>
          <a:prstGeom prst="roundRect">
            <a:avLst>
              <a:gd name="adj" fmla="val 1395"/>
            </a:avLst>
          </a:prstGeom>
          <a:solidFill>
            <a:srgbClr val="2A2640"/>
          </a:solidFill>
          <a:ln/>
        </p:spPr>
      </p:sp>
      <p:sp>
        <p:nvSpPr>
          <p:cNvPr id="6" name="text-924"/>
          <p:cNvSpPr txBox="1"/>
          <p:nvPr/>
        </p:nvSpPr>
        <p:spPr>
          <a:xfrm>
            <a:off x="800100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section</a:t>
            </a:r>
            <a:endParaRPr lang="en-US" sz="1200" dirty="0"/>
          </a:p>
        </p:txBody>
      </p:sp>
      <p:sp>
        <p:nvSpPr>
          <p:cNvPr id="7" name="text-925"/>
          <p:cNvSpPr txBox="1"/>
          <p:nvPr/>
        </p:nvSpPr>
        <p:spPr>
          <a:xfrm>
            <a:off x="8001000" y="20116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and fixes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limits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8F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Symptoms and fixes</a:t>
            </a:r>
            <a:endParaRPr lang="en-US" sz="3200" dirty="0"/>
          </a:p>
        </p:txBody>
      </p:sp>
      <p:sp>
        <p:nvSpPr>
          <p:cNvPr id="3" name="pill-926"/>
          <p:cNvSpPr/>
          <p:nvPr/>
        </p:nvSpPr>
        <p:spPr>
          <a:xfrm>
            <a:off x="548640" y="274320"/>
            <a:ext cx="2775204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Troubleshooting &amp; reference</a:t>
            </a:r>
            <a:endParaRPr lang="en-US" sz="1100" dirty="0"/>
          </a:p>
        </p:txBody>
      </p:sp>
      <p:graphicFrame>
        <p:nvGraphicFramePr>
          <p:cNvPr id="49" name="table-9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023360"/>
                <a:gridCol w="40233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cause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Project Management menu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Sheet opened before the script loaded, or Library not linked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Reload; check Libraries → WorkspacePM in Apps Script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“Sync in progress” toast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nightly job holds the Sync Lock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a minute; retype a Weekly Presence entry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says No Contract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Member has no contract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&amp; Contracts → first contract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says Not Logged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Presence Log row for today yet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today in Weekly Presence or wait for the next compile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value in Role, Status or Today changed back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Derived columns are rewritten from contracts and presence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the contract or the presence instead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location is refused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retired (Active unticked) or not listed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Locations: add it or tick Active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row red or orange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coverage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Interim Backups, or change the backup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not in my Google Tasks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uses the account that runs it, for its own tasks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Assigned to; run the nightly sync as that account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 steps skipped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Five-minute budget reached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Apps Script → Executions; they run next night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and platform limits</a:t>
            </a:r>
            <a:endParaRPr lang="en-US" sz="3200" dirty="0"/>
          </a:p>
        </p:txBody>
      </p:sp>
      <p:sp>
        <p:nvSpPr>
          <p:cNvPr id="3" name="pill-928"/>
          <p:cNvSpPr/>
          <p:nvPr/>
        </p:nvSpPr>
        <p:spPr>
          <a:xfrm>
            <a:off x="548640" y="274320"/>
            <a:ext cx="2775204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Troubleshooting &amp; reference</a:t>
            </a:r>
            <a:endParaRPr lang="en-US" sz="1100" dirty="0"/>
          </a:p>
        </p:txBody>
      </p:sp>
      <p:graphicFrame>
        <p:nvGraphicFramePr>
          <p:cNvPr id="50" name="table-9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the test sheet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E6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 edit (sync + protections)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Initialize / Upgrade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~110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 job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~70 s (directory 29 s, compile 19 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Workspace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Interim Backups sidebar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1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edits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1 s for the simple trigger, a few seconds for the handler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930"/>
          <p:cNvSpPr txBox="1"/>
          <p:nvPr/>
        </p:nvSpPr>
        <p:spPr>
          <a:xfrm>
            <a:off x="676656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1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limits the design respects</a:t>
            </a:r>
            <a:endParaRPr lang="en-US" sz="1500" dirty="0"/>
          </a:p>
        </p:txBody>
      </p:sp>
      <p:sp>
        <p:nvSpPr>
          <p:cNvPr id="6" name="text-931"/>
          <p:cNvSpPr txBox="1"/>
          <p:nvPr/>
        </p:nvSpPr>
        <p:spPr>
          <a:xfrm>
            <a:off x="6766560" y="2057400"/>
            <a:ext cx="48463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execution: the nightly job stops at 5 and logs what it skipped.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seconds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simple triggers: heavy work runs in the installable trigger.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go to the last row with data,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fixed cap, so the Presence Log can grow without duplicates.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table columns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 number formats; dates use the table's DATE type.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Looker's cache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about 15 minutes; KPI Data refreshes nightly.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3200" dirty="0"/>
          </a:p>
        </p:txBody>
      </p:sp>
      <p:sp>
        <p:nvSpPr>
          <p:cNvPr id="3" name="pill-932"/>
          <p:cNvSpPr/>
          <p:nvPr/>
        </p:nvSpPr>
        <p:spPr>
          <a:xfrm>
            <a:off x="548640" y="274320"/>
            <a:ext cx="2775204" cy="292608"/>
          </a:xfrm>
          <a:prstGeom prst="roundRect">
            <a:avLst>
              <a:gd name="adj" fmla="val 156250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Troubleshooting &amp; reference</a:t>
            </a:r>
            <a:endParaRPr lang="en-US" sz="1100" dirty="0"/>
          </a:p>
        </p:txBody>
      </p:sp>
      <p:sp>
        <p:nvSpPr>
          <p:cNvPr id="4" name="box-933"/>
          <p:cNvSpPr/>
          <p:nvPr/>
        </p:nvSpPr>
        <p:spPr>
          <a:xfrm>
            <a:off x="548640" y="164592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5" name="iconbg-934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93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985162"/>
            <a:ext cx="281635" cy="281635"/>
          </a:xfrm>
          <a:prstGeom prst="rect">
            <a:avLst/>
          </a:prstGeom>
        </p:spPr>
      </p:pic>
      <p:sp>
        <p:nvSpPr>
          <p:cNvPr id="7" name="text-936"/>
          <p:cNvSpPr txBox="1"/>
          <p:nvPr/>
        </p:nvSpPr>
        <p:spPr>
          <a:xfrm>
            <a:off x="1417320" y="18928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GLOSSARY.md</a:t>
            </a:r>
            <a:endParaRPr lang="en-US" sz="1500" dirty="0"/>
          </a:p>
        </p:txBody>
      </p:sp>
      <p:sp>
        <p:nvSpPr>
          <p:cNvPr id="8" name="text-937"/>
          <p:cNvSpPr txBox="1"/>
          <p:nvPr/>
        </p:nvSpPr>
        <p:spPr>
          <a:xfrm>
            <a:off x="1417320" y="227685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domain term and the words to avoid.</a:t>
            </a:r>
            <a:endParaRPr lang="en-US" sz="1400" dirty="0"/>
          </a:p>
        </p:txBody>
      </p:sp>
      <p:sp>
        <p:nvSpPr>
          <p:cNvPr id="9" name="box-938"/>
          <p:cNvSpPr/>
          <p:nvPr/>
        </p:nvSpPr>
        <p:spPr>
          <a:xfrm>
            <a:off x="4297680" y="164592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10" name="iconbg-939"/>
          <p:cNvSpPr/>
          <p:nvPr/>
        </p:nvSpPr>
        <p:spPr>
          <a:xfrm>
            <a:off x="452628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94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922" y="1985162"/>
            <a:ext cx="281635" cy="281635"/>
          </a:xfrm>
          <a:prstGeom prst="rect">
            <a:avLst/>
          </a:prstGeom>
        </p:spPr>
      </p:pic>
      <p:sp>
        <p:nvSpPr>
          <p:cNvPr id="12" name="text-941"/>
          <p:cNvSpPr txBox="1"/>
          <p:nvPr/>
        </p:nvSpPr>
        <p:spPr>
          <a:xfrm>
            <a:off x="5166360" y="18928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docs/adr/0001–0044</a:t>
            </a:r>
            <a:endParaRPr lang="en-US" sz="1500" dirty="0"/>
          </a:p>
        </p:txBody>
      </p:sp>
      <p:sp>
        <p:nvSpPr>
          <p:cNvPr id="13" name="text-942"/>
          <p:cNvSpPr txBox="1"/>
          <p:nvPr/>
        </p:nvSpPr>
        <p:spPr>
          <a:xfrm>
            <a:off x="5166360" y="227685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decisions, one per change; the latest are 0036–0044.</a:t>
            </a:r>
            <a:endParaRPr lang="en-US" sz="1400" dirty="0"/>
          </a:p>
        </p:txBody>
      </p:sp>
      <p:sp>
        <p:nvSpPr>
          <p:cNvPr id="14" name="box-943"/>
          <p:cNvSpPr/>
          <p:nvPr/>
        </p:nvSpPr>
        <p:spPr>
          <a:xfrm>
            <a:off x="8046720" y="164592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15" name="iconbg-944"/>
          <p:cNvSpPr/>
          <p:nvPr/>
        </p:nvSpPr>
        <p:spPr>
          <a:xfrm>
            <a:off x="8275320" y="1874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9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962" y="1985162"/>
            <a:ext cx="281635" cy="281635"/>
          </a:xfrm>
          <a:prstGeom prst="rect">
            <a:avLst/>
          </a:prstGeom>
        </p:spPr>
      </p:pic>
      <p:sp>
        <p:nvSpPr>
          <p:cNvPr id="17" name="text-946"/>
          <p:cNvSpPr txBox="1"/>
          <p:nvPr/>
        </p:nvSpPr>
        <p:spPr>
          <a:xfrm>
            <a:off x="8915400" y="18928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500" dirty="0"/>
          </a:p>
        </p:txBody>
      </p:sp>
      <p:sp>
        <p:nvSpPr>
          <p:cNvPr id="18" name="text-947"/>
          <p:cNvSpPr txBox="1"/>
          <p:nvPr/>
        </p:nvSpPr>
        <p:spPr>
          <a:xfrm>
            <a:off x="8915400" y="227685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facts and rules for maintainers.</a:t>
            </a:r>
            <a:endParaRPr lang="en-US" sz="1400" dirty="0"/>
          </a:p>
        </p:txBody>
      </p:sp>
      <p:sp>
        <p:nvSpPr>
          <p:cNvPr id="19" name="box-948"/>
          <p:cNvSpPr/>
          <p:nvPr/>
        </p:nvSpPr>
        <p:spPr>
          <a:xfrm>
            <a:off x="548640" y="388620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20" name="iconbg-949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con-95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882" y="4225442"/>
            <a:ext cx="281635" cy="281635"/>
          </a:xfrm>
          <a:prstGeom prst="rect">
            <a:avLst/>
          </a:prstGeom>
        </p:spPr>
      </p:pic>
      <p:sp>
        <p:nvSpPr>
          <p:cNvPr id="22" name="text-951"/>
          <p:cNvSpPr txBox="1"/>
          <p:nvPr/>
        </p:nvSpPr>
        <p:spPr>
          <a:xfrm>
            <a:off x="1417320" y="413308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consumer/Code.js</a:t>
            </a:r>
            <a:endParaRPr lang="en-US" sz="1500" dirty="0"/>
          </a:p>
        </p:txBody>
      </p:sp>
      <p:sp>
        <p:nvSpPr>
          <p:cNvPr id="23" name="text-952"/>
          <p:cNvSpPr txBox="1"/>
          <p:nvPr/>
        </p:nvSpPr>
        <p:spPr>
          <a:xfrm>
            <a:off x="1417320" y="451713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wrapper to paste into each team sheet.</a:t>
            </a:r>
            <a:endParaRPr lang="en-US" sz="1400" dirty="0"/>
          </a:p>
        </p:txBody>
      </p:sp>
      <p:sp>
        <p:nvSpPr>
          <p:cNvPr id="24" name="box-953"/>
          <p:cNvSpPr/>
          <p:nvPr/>
        </p:nvSpPr>
        <p:spPr>
          <a:xfrm>
            <a:off x="4297680" y="388620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25" name="iconbg-954"/>
          <p:cNvSpPr/>
          <p:nvPr/>
        </p:nvSpPr>
        <p:spPr>
          <a:xfrm>
            <a:off x="4526280" y="4114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con-95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922" y="4225442"/>
            <a:ext cx="281635" cy="281635"/>
          </a:xfrm>
          <a:prstGeom prst="rect">
            <a:avLst/>
          </a:prstGeom>
        </p:spPr>
      </p:pic>
      <p:sp>
        <p:nvSpPr>
          <p:cNvPr id="27" name="text-956"/>
          <p:cNvSpPr txBox="1"/>
          <p:nvPr/>
        </p:nvSpPr>
        <p:spPr>
          <a:xfrm>
            <a:off x="5166360" y="413308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src/Schema.js</a:t>
            </a:r>
            <a:endParaRPr lang="en-US" sz="1500" dirty="0"/>
          </a:p>
        </p:txBody>
      </p:sp>
      <p:sp>
        <p:nvSpPr>
          <p:cNvPr id="28" name="text-957"/>
          <p:cNvSpPr txBox="1"/>
          <p:nvPr/>
        </p:nvSpPr>
        <p:spPr>
          <a:xfrm>
            <a:off x="5166360" y="451713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column: type, required, protection, dropdown values.</a:t>
            </a:r>
            <a:endParaRPr lang="en-US" sz="1400" dirty="0"/>
          </a:p>
        </p:txBody>
      </p:sp>
      <p:sp>
        <p:nvSpPr>
          <p:cNvPr id="29" name="box-958"/>
          <p:cNvSpPr/>
          <p:nvPr/>
        </p:nvSpPr>
        <p:spPr>
          <a:xfrm>
            <a:off x="8046720" y="388620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5F1FA"/>
          </a:solidFill>
          <a:ln/>
        </p:spPr>
      </p:sp>
      <p:sp>
        <p:nvSpPr>
          <p:cNvPr id="30" name="iconbg-959"/>
          <p:cNvSpPr/>
          <p:nvPr/>
        </p:nvSpPr>
        <p:spPr>
          <a:xfrm>
            <a:off x="8275320" y="4114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con-96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962" y="4225442"/>
            <a:ext cx="281635" cy="281635"/>
          </a:xfrm>
          <a:prstGeom prst="rect">
            <a:avLst/>
          </a:prstGeom>
        </p:spPr>
      </p:pic>
      <p:sp>
        <p:nvSpPr>
          <p:cNvPr id="32" name="text-961"/>
          <p:cNvSpPr txBox="1"/>
          <p:nvPr/>
        </p:nvSpPr>
        <p:spPr>
          <a:xfrm>
            <a:off x="8915400" y="413308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test/</a:t>
            </a:r>
            <a:endParaRPr lang="en-US" sz="1500" dirty="0"/>
          </a:p>
        </p:txBody>
      </p:sp>
      <p:sp>
        <p:nvSpPr>
          <p:cNvPr id="33" name="text-962"/>
          <p:cNvSpPr txBox="1"/>
          <p:nvPr/>
        </p:nvSpPr>
        <p:spPr>
          <a:xfrm>
            <a:off x="8915400" y="4517136"/>
            <a:ext cx="24231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0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 Node tests; run node --test test/*.js.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0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or changes?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CCF0"/>
                </a:solidFill>
              </a:rPr>
              <a:t>Run Check Workspace first; most issues come with a link to their fix. Schema changes and new features go through the maintainer and land as an ADR.</a:t>
            </a:r>
            <a:endParaRPr lang="en-US" sz="2000" dirty="0"/>
          </a:p>
        </p:txBody>
      </p:sp>
      <p:sp>
        <p:nvSpPr>
          <p:cNvPr id="4" name="pill-963"/>
          <p:cNvSpPr/>
          <p:nvPr/>
        </p:nvSpPr>
        <p:spPr>
          <a:xfrm>
            <a:off x="731520" y="4983480"/>
            <a:ext cx="832104" cy="329184"/>
          </a:xfrm>
          <a:prstGeom prst="roundRect">
            <a:avLst>
              <a:gd name="adj" fmla="val 138889"/>
            </a:avLst>
          </a:prstGeom>
          <a:solidFill>
            <a:srgbClr val="F3E8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0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</a:t>
            </a:r>
            <a:endParaRPr lang="en-US" sz="1200" dirty="0"/>
          </a:p>
        </p:txBody>
      </p:sp>
      <p:sp>
        <p:nvSpPr>
          <p:cNvPr id="5" name="pill-964"/>
          <p:cNvSpPr/>
          <p:nvPr/>
        </p:nvSpPr>
        <p:spPr>
          <a:xfrm>
            <a:off x="1700784" y="4983480"/>
            <a:ext cx="1220724" cy="329184"/>
          </a:xfrm>
          <a:prstGeom prst="roundRect">
            <a:avLst>
              <a:gd name="adj" fmla="val 138889"/>
            </a:avLst>
          </a:prstGeom>
          <a:solidFill>
            <a:srgbClr val="E8F0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6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site</a:t>
            </a:r>
            <a:endParaRPr lang="en-US" sz="1200" dirty="0"/>
          </a:p>
        </p:txBody>
      </p:sp>
      <p:sp>
        <p:nvSpPr>
          <p:cNvPr id="6" name="pill-965"/>
          <p:cNvSpPr/>
          <p:nvPr/>
        </p:nvSpPr>
        <p:spPr>
          <a:xfrm>
            <a:off x="3058668" y="4983480"/>
            <a:ext cx="832104" cy="329184"/>
          </a:xfrm>
          <a:prstGeom prst="roundRect">
            <a:avLst>
              <a:gd name="adj" fmla="val 138889"/>
            </a:avLst>
          </a:prstGeom>
          <a:solidFill>
            <a:srgbClr val="E6F4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1200" dirty="0"/>
          </a:p>
        </p:txBody>
      </p:sp>
      <p:sp>
        <p:nvSpPr>
          <p:cNvPr id="7" name="pill-966"/>
          <p:cNvSpPr/>
          <p:nvPr/>
        </p:nvSpPr>
        <p:spPr>
          <a:xfrm>
            <a:off x="4027932" y="4983480"/>
            <a:ext cx="822960" cy="329184"/>
          </a:xfrm>
          <a:prstGeom prst="roundRect">
            <a:avLst>
              <a:gd name="adj" fmla="val 138889"/>
            </a:avLst>
          </a:prstGeom>
          <a:solidFill>
            <a:srgbClr val="FCE8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</a:t>
            </a:r>
            <a:endParaRPr lang="en-US" sz="1200" dirty="0"/>
          </a:p>
        </p:txBody>
      </p:sp>
      <p:sp>
        <p:nvSpPr>
          <p:cNvPr id="8" name="pill-967"/>
          <p:cNvSpPr/>
          <p:nvPr/>
        </p:nvSpPr>
        <p:spPr>
          <a:xfrm>
            <a:off x="4988052" y="4983480"/>
            <a:ext cx="822960" cy="329184"/>
          </a:xfrm>
          <a:prstGeom prst="roundRect">
            <a:avLst>
              <a:gd name="adj" fmla="val 138889"/>
            </a:avLst>
          </a:prstGeom>
          <a:solidFill>
            <a:srgbClr val="F1F3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1200" dirty="0"/>
          </a:p>
        </p:txBody>
      </p:sp>
      <p:sp>
        <p:nvSpPr>
          <p:cNvPr id="9" name="pill-968"/>
          <p:cNvSpPr/>
          <p:nvPr/>
        </p:nvSpPr>
        <p:spPr>
          <a:xfrm>
            <a:off x="5948172" y="4983480"/>
            <a:ext cx="1143000" cy="329184"/>
          </a:xfrm>
          <a:prstGeom prst="roundRect">
            <a:avLst>
              <a:gd name="adj" fmla="val 138889"/>
            </a:avLst>
          </a:prstGeom>
          <a:solidFill>
            <a:srgbClr val="FEF7E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Logged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spacePM">
  <a:themeElements>
    <a:clrScheme name="WorkspacePM">
      <a:dk1>
        <a:srgbClr val="1E1B2E"/>
      </a:dk1>
      <a:lt1>
        <a:srgbClr val="FFFFFF"/>
      </a:lt1>
      <a:dk2>
        <a:srgbClr val="3B1E66"/>
      </a:dk2>
      <a:lt2>
        <a:srgbClr val="F5F1FA"/>
      </a:lt2>
      <a:accent1>
        <a:srgbClr val="7500C0"/>
      </a:accent1>
      <a:accent2>
        <a:srgbClr val="1967D2"/>
      </a:accent2>
      <a:accent3>
        <a:srgbClr val="137333"/>
      </a:accent3>
      <a:accent4>
        <a:srgbClr val="C5221F"/>
      </a:accent4>
      <a:accent5>
        <a:srgbClr val="B06000"/>
      </a:accent5>
      <a:accent6>
        <a:srgbClr val="5F6368"/>
      </a:accent6>
      <a:hlink>
        <a:srgbClr val="1967D2"/>
      </a:hlink>
      <a:folHlink>
        <a:srgbClr val="7500C0"/>
      </a:folHlink>
    </a:clrScheme>
    <a:fontScheme name="WorkspaceP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WorkspacePM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WorkspacePM User Guide</dc:title>
  <dc:subject>PptxGenJS Presentation</dc:subject>
  <dc:creator>Hugo</dc:creator>
  <cp:lastModifiedBy>Hugo</cp:lastModifiedBy>
  <cp:revision>1</cp:revision>
  <dcterms:created xsi:type="dcterms:W3CDTF">2026-10-12T06:26:00Z</dcterms:created>
  <dcterms:modified xsi:type="dcterms:W3CDTF">2026-10-12T06:26:00Z</dcterms:modified>
</cp:coreProperties>
</file>