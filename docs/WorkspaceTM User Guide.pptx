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532e483-61ba-e836-d0d5-e7e8b73e586c}">
          <p14:sldIdLst>
            <p14:sldId id="256"/>
            <p14:sldId id="257"/>
          </p14:sldIdLst>
        </p14:section>
        <p14:section name="1 · What the system does" id="{6f32509b-42e6-0157-a9f4-0820d116e65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 · Using it day to day" id="{0e3ac351-6d73-061b-2a71-2982266f773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3 · Setting it up" id="{472a64cc-9950-43ff-ee3e-277a9bbe6b5f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 · Under the cover" id="{5f8255fd-8e62-b789-f9e7-7880610f4ae6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 · Flexibility vs. data integrity" id="{834b4c41-0018-f5a1-a9c2-378dac9c8a07}">
          <p14:sldIdLst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6 · Troubleshooting &amp; reference" id="{e9d87027-ee16-9502-99f0-0c405d1f60b8}">
          <p14:sldIdLst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1B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E1B2E"/>
                </a:solidFill>
                <a:latin typeface="+mn-lt"/>
              </a:rPr>
              <a:t>Columns per table by edit freedom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</c:v>
                </c:pt>
              </c:strCache>
            </c:strRef>
          </c:tx>
          <c:spPr>
            <a:solidFill>
              <a:srgbClr val="137333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2</c:v>
                </c:pt>
                <c:pt idx="10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 first</c:v>
                </c:pt>
              </c:strCache>
            </c:strRef>
          </c:tx>
          <c:spPr>
            <a:solidFill>
              <a:srgbClr val="B06000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Locked</c:v>
                </c:pt>
              </c:strCache>
            </c:strRef>
          </c:tx>
          <c:spPr>
            <a:solidFill>
              <a:srgbClr val="7500C0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C404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9525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6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C404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</a:rPr>
              <a:t>WorkspaceTM User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"/>
          <p:cNvSpPr/>
          <p:nvPr/>
        </p:nvSpPr>
        <p:spPr>
          <a:xfrm>
            <a:off x="731520" y="1371600"/>
            <a:ext cx="3828288" cy="347472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WorkspaceTM · Google Sheets + Apps Script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WorkspaceTM User Guide</a:t>
            </a:r>
            <a:endParaRPr lang="en-US" sz="5400" dirty="0"/>
          </a:p>
        </p:txBody>
      </p:sp>
      <p:sp>
        <p:nvSpPr>
          <p:cNvPr id="4" name="text-2"/>
          <p:cNvSpPr txBox="1"/>
          <p:nvPr/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presence, contracts, projects and coverage in one Google Sheet: what it does, how to set it up, and how it works under the cover.</a:t>
            </a:r>
            <a:endParaRPr lang="en-US" sz="2000" dirty="0"/>
          </a:p>
        </p:txBody>
      </p:sp>
      <p:sp>
        <p:nvSpPr>
          <p:cNvPr id="5" name="pill-3"/>
          <p:cNvSpPr/>
          <p:nvPr/>
        </p:nvSpPr>
        <p:spPr>
          <a:xfrm>
            <a:off x="73152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300" dirty="0"/>
          </a:p>
        </p:txBody>
      </p:sp>
      <p:sp>
        <p:nvSpPr>
          <p:cNvPr id="6" name="pill-4"/>
          <p:cNvSpPr/>
          <p:nvPr/>
        </p:nvSpPr>
        <p:spPr>
          <a:xfrm>
            <a:off x="1752600" y="4526280"/>
            <a:ext cx="1346200" cy="34747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site</a:t>
            </a:r>
            <a:endParaRPr lang="en-US" sz="1300" dirty="0"/>
          </a:p>
        </p:txBody>
      </p:sp>
      <p:sp>
        <p:nvSpPr>
          <p:cNvPr id="7" name="pill-5"/>
          <p:cNvSpPr/>
          <p:nvPr/>
        </p:nvSpPr>
        <p:spPr>
          <a:xfrm>
            <a:off x="323596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8" name="pill-6"/>
          <p:cNvSpPr/>
          <p:nvPr/>
        </p:nvSpPr>
        <p:spPr>
          <a:xfrm>
            <a:off x="4257040" y="4526280"/>
            <a:ext cx="791464" cy="347472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9" name="pill-7"/>
          <p:cNvSpPr/>
          <p:nvPr/>
        </p:nvSpPr>
        <p:spPr>
          <a:xfrm>
            <a:off x="5185664" y="4526280"/>
            <a:ext cx="606552" cy="347472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10" name="pill-8"/>
          <p:cNvSpPr/>
          <p:nvPr/>
        </p:nvSpPr>
        <p:spPr>
          <a:xfrm>
            <a:off x="5929376" y="4526280"/>
            <a:ext cx="1253744" cy="347472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</a:t>
            </a:r>
            <a:endParaRPr lang="en-US" sz="1300" dirty="0"/>
          </a:p>
        </p:txBody>
      </p:sp>
      <p:sp>
        <p:nvSpPr>
          <p:cNvPr id="11" name="text-9"/>
          <p:cNvSpPr txBox="1"/>
          <p:nvPr/>
        </p:nvSpPr>
        <p:spPr>
          <a:xfrm>
            <a:off x="73152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of 12 October 2026 · Library build deploy-20261012-0813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guide is for, and where to look</a:t>
            </a:r>
            <a:endParaRPr lang="en-US" sz="3200" dirty="0"/>
          </a:p>
        </p:txBody>
      </p:sp>
      <p:sp>
        <p:nvSpPr>
          <p:cNvPr id="3" name="pill-10"/>
          <p:cNvSpPr/>
          <p:nvPr/>
        </p:nvSpPr>
        <p:spPr>
          <a:xfrm>
            <a:off x="548640" y="274320"/>
            <a:ext cx="1111504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4" name="box-11"/>
          <p:cNvSpPr/>
          <p:nvPr/>
        </p:nvSpPr>
        <p:spPr>
          <a:xfrm>
            <a:off x="548640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5" name="iconbg-1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923898"/>
            <a:ext cx="358445" cy="358445"/>
          </a:xfrm>
          <a:prstGeom prst="rect">
            <a:avLst/>
          </a:prstGeom>
        </p:spPr>
      </p:pic>
      <p:sp>
        <p:nvSpPr>
          <p:cNvPr id="7" name="pill-14"/>
          <p:cNvSpPr/>
          <p:nvPr/>
        </p:nvSpPr>
        <p:spPr>
          <a:xfrm>
            <a:off x="2481986" y="1956816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1–2</a:t>
            </a:r>
            <a:endParaRPr lang="en-US" sz="1200" dirty="0"/>
          </a:p>
        </p:txBody>
      </p:sp>
      <p:sp>
        <p:nvSpPr>
          <p:cNvPr id="8" name="text-15"/>
          <p:cNvSpPr txBox="1"/>
          <p:nvPr/>
        </p:nvSpPr>
        <p:spPr>
          <a:xfrm>
            <a:off x="777240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9" name="text-16"/>
          <p:cNvSpPr txBox="1"/>
          <p:nvPr/>
        </p:nvSpPr>
        <p:spPr>
          <a:xfrm>
            <a:off x="777240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sheet shows, how to declare your week and leaves, how projects stay covered, which emails you will get.</a:t>
            </a:r>
            <a:endParaRPr lang="en-US" sz="1500" dirty="0"/>
          </a:p>
        </p:txBody>
      </p:sp>
      <p:sp>
        <p:nvSpPr>
          <p:cNvPr id="10" name="box-17"/>
          <p:cNvSpPr/>
          <p:nvPr/>
        </p:nvSpPr>
        <p:spPr>
          <a:xfrm>
            <a:off x="4338218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11" name="iconbg-18"/>
          <p:cNvSpPr/>
          <p:nvPr/>
        </p:nvSpPr>
        <p:spPr>
          <a:xfrm>
            <a:off x="4566818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6" y="1923898"/>
            <a:ext cx="358445" cy="358445"/>
          </a:xfrm>
          <a:prstGeom prst="rect">
            <a:avLst/>
          </a:prstGeom>
        </p:spPr>
      </p:pic>
      <p:sp>
        <p:nvSpPr>
          <p:cNvPr id="13" name="pill-20"/>
          <p:cNvSpPr/>
          <p:nvPr/>
        </p:nvSpPr>
        <p:spPr>
          <a:xfrm>
            <a:off x="6527597" y="19568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14" name="text-21"/>
          <p:cNvSpPr txBox="1"/>
          <p:nvPr/>
        </p:nvSpPr>
        <p:spPr>
          <a:xfrm>
            <a:off x="4566818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1900" dirty="0"/>
          </a:p>
        </p:txBody>
      </p:sp>
      <p:sp>
        <p:nvSpPr>
          <p:cNvPr id="15" name="text-22"/>
          <p:cNvSpPr txBox="1"/>
          <p:nvPr/>
        </p:nvSpPr>
        <p:spPr>
          <a:xfrm>
            <a:off x="4566818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the Library, running Initialize / Upgrade, configuring locations, holidays and settings, maintaining triggers.</a:t>
            </a:r>
            <a:endParaRPr lang="en-US" sz="1500" dirty="0"/>
          </a:p>
        </p:txBody>
      </p:sp>
      <p:sp>
        <p:nvSpPr>
          <p:cNvPr id="16" name="box-23"/>
          <p:cNvSpPr/>
          <p:nvPr/>
        </p:nvSpPr>
        <p:spPr>
          <a:xfrm>
            <a:off x="8127797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17" name="iconbg-24"/>
          <p:cNvSpPr/>
          <p:nvPr/>
        </p:nvSpPr>
        <p:spPr>
          <a:xfrm>
            <a:off x="8356397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-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214" y="1923898"/>
            <a:ext cx="358445" cy="358445"/>
          </a:xfrm>
          <a:prstGeom prst="rect">
            <a:avLst/>
          </a:prstGeom>
        </p:spPr>
      </p:pic>
      <p:sp>
        <p:nvSpPr>
          <p:cNvPr id="19" name="pill-26"/>
          <p:cNvSpPr/>
          <p:nvPr/>
        </p:nvSpPr>
        <p:spPr>
          <a:xfrm>
            <a:off x="10061143" y="1956816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4–6</a:t>
            </a:r>
            <a:endParaRPr lang="en-US" sz="1200" dirty="0"/>
          </a:p>
        </p:txBody>
      </p:sp>
      <p:sp>
        <p:nvSpPr>
          <p:cNvPr id="20" name="text-27"/>
          <p:cNvSpPr txBox="1"/>
          <p:nvPr/>
        </p:nvSpPr>
        <p:spPr>
          <a:xfrm>
            <a:off x="8356397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Maintainers</a:t>
            </a:r>
            <a:endParaRPr lang="en-US" sz="1900" dirty="0"/>
          </a:p>
        </p:txBody>
      </p:sp>
      <p:sp>
        <p:nvSpPr>
          <p:cNvPr id="21" name="text-28"/>
          <p:cNvSpPr txBox="1"/>
          <p:nvPr/>
        </p:nvSpPr>
        <p:spPr>
          <a:xfrm>
            <a:off x="8356397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flows, the nightly job, the Sync Lock, the flexibility-to-integrity ratio and troubleshooting.</a:t>
            </a:r>
            <a:endParaRPr lang="en-US" sz="1500" dirty="0"/>
          </a:p>
        </p:txBody>
      </p:sp>
      <p:sp>
        <p:nvSpPr>
          <p:cNvPr id="22" name="text-29"/>
          <p:cNvSpPr txBox="1"/>
          <p:nvPr/>
        </p:nvSpPr>
        <p:spPr>
          <a:xfrm>
            <a:off x="548640" y="4800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sections</a:t>
            </a:r>
            <a:endParaRPr lang="en-US" sz="1600" dirty="0"/>
          </a:p>
        </p:txBody>
      </p:sp>
      <p:sp>
        <p:nvSpPr>
          <p:cNvPr id="23" name="num-30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4" name="text-31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-32"/>
          <p:cNvSpPr txBox="1"/>
          <p:nvPr/>
        </p:nvSpPr>
        <p:spPr>
          <a:xfrm>
            <a:off x="1051560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600" dirty="0"/>
          </a:p>
        </p:txBody>
      </p:sp>
      <p:sp>
        <p:nvSpPr>
          <p:cNvPr id="26" name="num-33"/>
          <p:cNvSpPr/>
          <p:nvPr/>
        </p:nvSpPr>
        <p:spPr>
          <a:xfrm>
            <a:off x="4338218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7" name="text-34"/>
          <p:cNvSpPr txBox="1"/>
          <p:nvPr/>
        </p:nvSpPr>
        <p:spPr>
          <a:xfrm>
            <a:off x="4338218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-35"/>
          <p:cNvSpPr txBox="1"/>
          <p:nvPr/>
        </p:nvSpPr>
        <p:spPr>
          <a:xfrm>
            <a:off x="4841138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day to day</a:t>
            </a:r>
            <a:endParaRPr lang="en-US" sz="1600" dirty="0"/>
          </a:p>
        </p:txBody>
      </p:sp>
      <p:sp>
        <p:nvSpPr>
          <p:cNvPr id="29" name="num-36"/>
          <p:cNvSpPr/>
          <p:nvPr/>
        </p:nvSpPr>
        <p:spPr>
          <a:xfrm>
            <a:off x="8127797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0" name="text-37"/>
          <p:cNvSpPr txBox="1"/>
          <p:nvPr/>
        </p:nvSpPr>
        <p:spPr>
          <a:xfrm>
            <a:off x="8127797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-38"/>
          <p:cNvSpPr txBox="1"/>
          <p:nvPr/>
        </p:nvSpPr>
        <p:spPr>
          <a:xfrm>
            <a:off x="8630717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it up</a:t>
            </a:r>
            <a:endParaRPr lang="en-US" sz="1600" dirty="0"/>
          </a:p>
        </p:txBody>
      </p:sp>
      <p:sp>
        <p:nvSpPr>
          <p:cNvPr id="32" name="num-39"/>
          <p:cNvSpPr/>
          <p:nvPr/>
        </p:nvSpPr>
        <p:spPr>
          <a:xfrm>
            <a:off x="548640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3" name="text-40"/>
          <p:cNvSpPr txBox="1"/>
          <p:nvPr/>
        </p:nvSpPr>
        <p:spPr>
          <a:xfrm>
            <a:off x="5486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-41"/>
          <p:cNvSpPr txBox="1"/>
          <p:nvPr/>
        </p:nvSpPr>
        <p:spPr>
          <a:xfrm>
            <a:off x="1051560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cover</a:t>
            </a:r>
            <a:endParaRPr lang="en-US" sz="1600" dirty="0"/>
          </a:p>
        </p:txBody>
      </p:sp>
      <p:sp>
        <p:nvSpPr>
          <p:cNvPr id="35" name="num-42"/>
          <p:cNvSpPr/>
          <p:nvPr/>
        </p:nvSpPr>
        <p:spPr>
          <a:xfrm>
            <a:off x="4338218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6" name="text-43"/>
          <p:cNvSpPr txBox="1"/>
          <p:nvPr/>
        </p:nvSpPr>
        <p:spPr>
          <a:xfrm>
            <a:off x="4338218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-44"/>
          <p:cNvSpPr txBox="1"/>
          <p:nvPr/>
        </p:nvSpPr>
        <p:spPr>
          <a:xfrm>
            <a:off x="4841138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vs. data integrity</a:t>
            </a:r>
            <a:endParaRPr lang="en-US" sz="1600" dirty="0"/>
          </a:p>
        </p:txBody>
      </p:sp>
      <p:sp>
        <p:nvSpPr>
          <p:cNvPr id="38" name="num-45"/>
          <p:cNvSpPr/>
          <p:nvPr/>
        </p:nvSpPr>
        <p:spPr>
          <a:xfrm>
            <a:off x="8127797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9" name="text-46"/>
          <p:cNvSpPr txBox="1"/>
          <p:nvPr/>
        </p:nvSpPr>
        <p:spPr>
          <a:xfrm>
            <a:off x="8127797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-47"/>
          <p:cNvSpPr txBox="1"/>
          <p:nvPr/>
        </p:nvSpPr>
        <p:spPr>
          <a:xfrm>
            <a:off x="8630717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reference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48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4400" dirty="0"/>
          </a:p>
        </p:txBody>
      </p:sp>
      <p:sp>
        <p:nvSpPr>
          <p:cNvPr id="4" name="text-49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Google Sheet becomes the team's operating picture: who works where, under which contract, who covers which project, and what is due.</a:t>
            </a:r>
            <a:endParaRPr lang="en-US" sz="1800" dirty="0"/>
          </a:p>
        </p:txBody>
      </p:sp>
      <p:sp>
        <p:nvSpPr>
          <p:cNvPr id="5" name="box-50"/>
          <p:cNvSpPr/>
          <p:nvPr/>
        </p:nvSpPr>
        <p:spPr>
          <a:xfrm>
            <a:off x="7680960" y="1325880"/>
            <a:ext cx="3959352" cy="3068320"/>
          </a:xfrm>
          <a:prstGeom prst="roundRect">
            <a:avLst>
              <a:gd name="adj" fmla="val 1788"/>
            </a:avLst>
          </a:prstGeom>
          <a:solidFill>
            <a:srgbClr val="2A2640"/>
          </a:solidFill>
          <a:ln/>
        </p:spPr>
      </p:sp>
      <p:sp>
        <p:nvSpPr>
          <p:cNvPr id="6" name="text-51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52"/>
          <p:cNvSpPr txBox="1"/>
          <p:nvPr/>
        </p:nvSpPr>
        <p:spPr>
          <a:xfrm>
            <a:off x="8001000" y="2103120"/>
            <a:ext cx="3291840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jobs in one sheet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visible tabs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legend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automatically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Google Sheet runs the team's day to day</a:t>
            </a:r>
            <a:endParaRPr lang="en-US" sz="3200" dirty="0"/>
          </a:p>
        </p:txBody>
      </p:sp>
      <p:sp>
        <p:nvSpPr>
          <p:cNvPr id="3" name="pill-53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text-54"/>
          <p:cNvSpPr txBox="1"/>
          <p:nvPr/>
        </p:nvSpPr>
        <p:spPr>
          <a:xfrm>
            <a:off x="548640" y="1554480"/>
            <a:ext cx="110944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WorkspaceTM is a Google Apps Script Library behind a normal Google Sheet. People type in grids or use guided sidebars; the Library keeps every table consistent and talks to Google Tasks, Calendar and Gmail.</a:t>
            </a:r>
            <a:endParaRPr lang="en-US" sz="1700" dirty="0"/>
          </a:p>
        </p:txBody>
      </p:sp>
      <p:sp>
        <p:nvSpPr>
          <p:cNvPr id="5" name="box-55"/>
          <p:cNvSpPr/>
          <p:nvPr/>
        </p:nvSpPr>
        <p:spPr>
          <a:xfrm>
            <a:off x="548640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6" name="iconbg-56"/>
          <p:cNvSpPr/>
          <p:nvPr/>
        </p:nvSpPr>
        <p:spPr>
          <a:xfrm>
            <a:off x="777240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777642"/>
            <a:ext cx="281635" cy="281635"/>
          </a:xfrm>
          <a:prstGeom prst="rect">
            <a:avLst/>
          </a:prstGeom>
        </p:spPr>
      </p:pic>
      <p:sp>
        <p:nvSpPr>
          <p:cNvPr id="8" name="text-58"/>
          <p:cNvSpPr txBox="1"/>
          <p:nvPr/>
        </p:nvSpPr>
        <p:spPr>
          <a:xfrm>
            <a:off x="1463040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&amp; contracts</a:t>
            </a:r>
            <a:endParaRPr lang="en-US" sz="1600" dirty="0"/>
          </a:p>
        </p:txBody>
      </p:sp>
      <p:sp>
        <p:nvSpPr>
          <p:cNvPr id="9" name="text-59"/>
          <p:cNvSpPr txBox="1"/>
          <p:nvPr/>
        </p:nvSpPr>
        <p:spPr>
          <a:xfrm>
            <a:off x="1463040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role, department and status derived from their contracts.</a:t>
            </a:r>
            <a:endParaRPr lang="en-US" sz="1400" dirty="0"/>
          </a:p>
        </p:txBody>
      </p:sp>
      <p:sp>
        <p:nvSpPr>
          <p:cNvPr id="10" name="box-60"/>
          <p:cNvSpPr/>
          <p:nvPr/>
        </p:nvSpPr>
        <p:spPr>
          <a:xfrm>
            <a:off x="4338218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11" name="iconbg-61"/>
          <p:cNvSpPr/>
          <p:nvPr/>
        </p:nvSpPr>
        <p:spPr>
          <a:xfrm>
            <a:off x="4566818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2777642"/>
            <a:ext cx="281635" cy="281635"/>
          </a:xfrm>
          <a:prstGeom prst="rect">
            <a:avLst/>
          </a:prstGeom>
        </p:spPr>
      </p:pic>
      <p:sp>
        <p:nvSpPr>
          <p:cNvPr id="13" name="text-63"/>
          <p:cNvSpPr txBox="1"/>
          <p:nvPr/>
        </p:nvSpPr>
        <p:spPr>
          <a:xfrm>
            <a:off x="5252618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leaves</a:t>
            </a:r>
            <a:endParaRPr lang="en-US" sz="1600" dirty="0"/>
          </a:p>
        </p:txBody>
      </p:sp>
      <p:sp>
        <p:nvSpPr>
          <p:cNvPr id="14" name="text-64"/>
          <p:cNvSpPr txBox="1"/>
          <p:nvPr/>
        </p:nvSpPr>
        <p:spPr>
          <a:xfrm>
            <a:off x="5252618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person works, morning and afternoon: routines, one-off changes, leaves, public holidays.</a:t>
            </a:r>
            <a:endParaRPr lang="en-US" sz="1400" dirty="0"/>
          </a:p>
        </p:txBody>
      </p:sp>
      <p:sp>
        <p:nvSpPr>
          <p:cNvPr id="15" name="box-65"/>
          <p:cNvSpPr/>
          <p:nvPr/>
        </p:nvSpPr>
        <p:spPr>
          <a:xfrm>
            <a:off x="8127797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16" name="iconbg-66"/>
          <p:cNvSpPr/>
          <p:nvPr/>
        </p:nvSpPr>
        <p:spPr>
          <a:xfrm>
            <a:off x="8356397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2777642"/>
            <a:ext cx="281635" cy="281635"/>
          </a:xfrm>
          <a:prstGeom prst="rect">
            <a:avLst/>
          </a:prstGeom>
        </p:spPr>
      </p:pic>
      <p:sp>
        <p:nvSpPr>
          <p:cNvPr id="18" name="text-68"/>
          <p:cNvSpPr txBox="1"/>
          <p:nvPr/>
        </p:nvSpPr>
        <p:spPr>
          <a:xfrm>
            <a:off x="9042197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coverage</a:t>
            </a:r>
            <a:endParaRPr lang="en-US" sz="1600" dirty="0"/>
          </a:p>
        </p:txBody>
      </p:sp>
      <p:sp>
        <p:nvSpPr>
          <p:cNvPr id="19" name="text-69"/>
          <p:cNvSpPr txBox="1"/>
          <p:nvPr/>
        </p:nvSpPr>
        <p:spPr>
          <a:xfrm>
            <a:off x="9042197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permanent backup and interim cover; who is in charge today; alerts before a gap happens.</a:t>
            </a:r>
            <a:endParaRPr lang="en-US" sz="1400" dirty="0"/>
          </a:p>
        </p:txBody>
      </p:sp>
      <p:sp>
        <p:nvSpPr>
          <p:cNvPr id="20" name="box-70"/>
          <p:cNvSpPr/>
          <p:nvPr/>
        </p:nvSpPr>
        <p:spPr>
          <a:xfrm>
            <a:off x="548640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21" name="iconbg-71"/>
          <p:cNvSpPr/>
          <p:nvPr/>
        </p:nvSpPr>
        <p:spPr>
          <a:xfrm>
            <a:off x="777240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con-7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758842"/>
            <a:ext cx="281635" cy="281635"/>
          </a:xfrm>
          <a:prstGeom prst="rect">
            <a:avLst/>
          </a:prstGeom>
        </p:spPr>
      </p:pic>
      <p:sp>
        <p:nvSpPr>
          <p:cNvPr id="23" name="text-73"/>
          <p:cNvSpPr txBox="1"/>
          <p:nvPr/>
        </p:nvSpPr>
        <p:spPr>
          <a:xfrm>
            <a:off x="1463040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&amp; events</a:t>
            </a:r>
            <a:endParaRPr lang="en-US" sz="1600" dirty="0"/>
          </a:p>
        </p:txBody>
      </p:sp>
      <p:sp>
        <p:nvSpPr>
          <p:cNvPr id="24" name="text-74"/>
          <p:cNvSpPr txBox="1"/>
          <p:nvPr/>
        </p:nvSpPr>
        <p:spPr>
          <a:xfrm>
            <a:off x="1463040" y="5113020"/>
            <a:ext cx="23722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sync with Google Tasks; events are created in Google Calendar.</a:t>
            </a:r>
            <a:endParaRPr lang="en-US" sz="1400" dirty="0"/>
          </a:p>
        </p:txBody>
      </p:sp>
      <p:sp>
        <p:nvSpPr>
          <p:cNvPr id="25" name="box-75"/>
          <p:cNvSpPr/>
          <p:nvPr/>
        </p:nvSpPr>
        <p:spPr>
          <a:xfrm>
            <a:off x="4338218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26" name="iconbg-76"/>
          <p:cNvSpPr/>
          <p:nvPr/>
        </p:nvSpPr>
        <p:spPr>
          <a:xfrm>
            <a:off x="4566818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con-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758842"/>
            <a:ext cx="281635" cy="281635"/>
          </a:xfrm>
          <a:prstGeom prst="rect">
            <a:avLst/>
          </a:prstGeom>
        </p:spPr>
      </p:pic>
      <p:sp>
        <p:nvSpPr>
          <p:cNvPr id="28" name="text-78"/>
          <p:cNvSpPr txBox="1"/>
          <p:nvPr/>
        </p:nvSpPr>
        <p:spPr>
          <a:xfrm>
            <a:off x="5252618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600" dirty="0"/>
          </a:p>
        </p:txBody>
      </p:sp>
      <p:sp>
        <p:nvSpPr>
          <p:cNvPr id="29" name="text-79"/>
          <p:cNvSpPr txBox="1"/>
          <p:nvPr/>
        </p:nvSpPr>
        <p:spPr>
          <a:xfrm>
            <a:off x="5252618" y="5113020"/>
            <a:ext cx="23722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presence reminder, birthday emails and a shared Team Birthdays calendar.</a:t>
            </a:r>
            <a:endParaRPr lang="en-US" sz="1400" dirty="0"/>
          </a:p>
        </p:txBody>
      </p:sp>
      <p:sp>
        <p:nvSpPr>
          <p:cNvPr id="30" name="box-80"/>
          <p:cNvSpPr/>
          <p:nvPr/>
        </p:nvSpPr>
        <p:spPr>
          <a:xfrm>
            <a:off x="8127797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31" name="iconbg-81"/>
          <p:cNvSpPr/>
          <p:nvPr/>
        </p:nvSpPr>
        <p:spPr>
          <a:xfrm>
            <a:off x="8356397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con-8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758842"/>
            <a:ext cx="281635" cy="281635"/>
          </a:xfrm>
          <a:prstGeom prst="rect">
            <a:avLst/>
          </a:prstGeom>
        </p:spPr>
      </p:pic>
      <p:sp>
        <p:nvSpPr>
          <p:cNvPr id="33" name="text-83"/>
          <p:cNvSpPr txBox="1"/>
          <p:nvPr/>
        </p:nvSpPr>
        <p:spPr>
          <a:xfrm>
            <a:off x="9042197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600" dirty="0"/>
          </a:p>
        </p:txBody>
      </p:sp>
      <p:sp>
        <p:nvSpPr>
          <p:cNvPr id="34" name="text-84"/>
          <p:cNvSpPr txBox="1"/>
          <p:nvPr/>
        </p:nvSpPr>
        <p:spPr>
          <a:xfrm>
            <a:off x="9042197" y="51130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KPI Data table, one row per person, day and half-day, for Looker Studio.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 are visible; the rest work behind them</a:t>
            </a:r>
            <a:endParaRPr lang="en-US" sz="3200" dirty="0"/>
          </a:p>
        </p:txBody>
      </p:sp>
      <p:sp>
        <p:nvSpPr>
          <p:cNvPr id="3" name="pill-85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text-86"/>
          <p:cNvSpPr txBox="1"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everyone</a:t>
            </a:r>
            <a:endParaRPr lang="en-US" sz="1600" dirty="0"/>
          </a:p>
        </p:txBody>
      </p:sp>
      <p:sp>
        <p:nvSpPr>
          <p:cNvPr id="5" name="box-87"/>
          <p:cNvSpPr/>
          <p:nvPr/>
        </p:nvSpPr>
        <p:spPr>
          <a:xfrm>
            <a:off x="548640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6" name="tab-88"/>
          <p:cNvSpPr/>
          <p:nvPr/>
        </p:nvSpPr>
        <p:spPr>
          <a:xfrm>
            <a:off x="548640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7500C0"/>
          </a:solidFill>
          <a:ln/>
        </p:spPr>
      </p:sp>
      <p:sp>
        <p:nvSpPr>
          <p:cNvPr id="7" name="text-89"/>
          <p:cNvSpPr txBox="1"/>
          <p:nvPr/>
        </p:nvSpPr>
        <p:spPr>
          <a:xfrm>
            <a:off x="548640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600" dirty="0"/>
          </a:p>
        </p:txBody>
      </p:sp>
      <p:sp>
        <p:nvSpPr>
          <p:cNvPr id="8" name="text-90"/>
          <p:cNvSpPr txBox="1"/>
          <p:nvPr/>
        </p:nvSpPr>
        <p:spPr>
          <a:xfrm>
            <a:off x="731520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Directory: name, email, phone, role, department, status, today, birthday</a:t>
            </a:r>
            <a:endParaRPr lang="en-US" sz="1500" dirty="0"/>
          </a:p>
        </p:txBody>
      </p:sp>
      <p:sp>
        <p:nvSpPr>
          <p:cNvPr id="9" name="box-91"/>
          <p:cNvSpPr/>
          <p:nvPr/>
        </p:nvSpPr>
        <p:spPr>
          <a:xfrm>
            <a:off x="2822387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0" name="tab-92"/>
          <p:cNvSpPr/>
          <p:nvPr/>
        </p:nvSpPr>
        <p:spPr>
          <a:xfrm>
            <a:off x="2822387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137333"/>
          </a:solidFill>
          <a:ln/>
        </p:spPr>
      </p:sp>
      <p:sp>
        <p:nvSpPr>
          <p:cNvPr id="11" name="text-93"/>
          <p:cNvSpPr txBox="1"/>
          <p:nvPr/>
        </p:nvSpPr>
        <p:spPr>
          <a:xfrm>
            <a:off x="2822387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</p:txBody>
      </p:sp>
      <p:sp>
        <p:nvSpPr>
          <p:cNvPr id="12" name="text-94"/>
          <p:cNvSpPr txBox="1"/>
          <p:nvPr/>
        </p:nvSpPr>
        <p:spPr>
          <a:xfrm>
            <a:off x="3005267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× people grid, AM and PM, colour-coded; type to change a day</a:t>
            </a:r>
            <a:endParaRPr lang="en-US" sz="1500" dirty="0"/>
          </a:p>
        </p:txBody>
      </p:sp>
      <p:sp>
        <p:nvSpPr>
          <p:cNvPr id="13" name="box-95"/>
          <p:cNvSpPr/>
          <p:nvPr/>
        </p:nvSpPr>
        <p:spPr>
          <a:xfrm>
            <a:off x="5096134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4" name="tab-96"/>
          <p:cNvSpPr/>
          <p:nvPr/>
        </p:nvSpPr>
        <p:spPr>
          <a:xfrm>
            <a:off x="5096134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1967D2"/>
          </a:solidFill>
          <a:ln/>
        </p:spPr>
      </p:sp>
      <p:sp>
        <p:nvSpPr>
          <p:cNvPr id="15" name="text-97"/>
          <p:cNvSpPr txBox="1"/>
          <p:nvPr/>
        </p:nvSpPr>
        <p:spPr>
          <a:xfrm>
            <a:off x="5096134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6" name="text-98"/>
          <p:cNvSpPr txBox="1"/>
          <p:nvPr/>
        </p:nvSpPr>
        <p:spPr>
          <a:xfrm>
            <a:off x="5279014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backup and who is in charge today; red or orange when coverage fails</a:t>
            </a:r>
            <a:endParaRPr lang="en-US" sz="1500" dirty="0"/>
          </a:p>
        </p:txBody>
      </p:sp>
      <p:sp>
        <p:nvSpPr>
          <p:cNvPr id="17" name="box-99"/>
          <p:cNvSpPr/>
          <p:nvPr/>
        </p:nvSpPr>
        <p:spPr>
          <a:xfrm>
            <a:off x="7369881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8" name="tab-100"/>
          <p:cNvSpPr/>
          <p:nvPr/>
        </p:nvSpPr>
        <p:spPr>
          <a:xfrm>
            <a:off x="7369881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B06000"/>
          </a:solidFill>
          <a:ln/>
        </p:spPr>
      </p:sp>
      <p:sp>
        <p:nvSpPr>
          <p:cNvPr id="19" name="text-101"/>
          <p:cNvSpPr txBox="1"/>
          <p:nvPr/>
        </p:nvSpPr>
        <p:spPr>
          <a:xfrm>
            <a:off x="7369881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600" dirty="0"/>
          </a:p>
        </p:txBody>
      </p:sp>
      <p:sp>
        <p:nvSpPr>
          <p:cNvPr id="20" name="text-102"/>
          <p:cNvSpPr txBox="1"/>
          <p:nvPr/>
        </p:nvSpPr>
        <p:spPr>
          <a:xfrm>
            <a:off x="7552761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with IDs, synced with Google Tasks</a:t>
            </a:r>
            <a:endParaRPr lang="en-US" sz="1500" dirty="0"/>
          </a:p>
        </p:txBody>
      </p:sp>
      <p:sp>
        <p:nvSpPr>
          <p:cNvPr id="21" name="box-103"/>
          <p:cNvSpPr/>
          <p:nvPr/>
        </p:nvSpPr>
        <p:spPr>
          <a:xfrm>
            <a:off x="9643628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22" name="tab-104"/>
          <p:cNvSpPr/>
          <p:nvPr/>
        </p:nvSpPr>
        <p:spPr>
          <a:xfrm>
            <a:off x="9643628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C5221F"/>
          </a:solidFill>
          <a:ln/>
        </p:spPr>
      </p:sp>
      <p:sp>
        <p:nvSpPr>
          <p:cNvPr id="23" name="text-105"/>
          <p:cNvSpPr txBox="1"/>
          <p:nvPr/>
        </p:nvSpPr>
        <p:spPr>
          <a:xfrm>
            <a:off x="9643628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24" name="text-106"/>
          <p:cNvSpPr txBox="1"/>
          <p:nvPr/>
        </p:nvSpPr>
        <p:spPr>
          <a:xfrm>
            <a:off x="9826508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events, created in Google Calendar</a:t>
            </a:r>
            <a:endParaRPr lang="en-US" sz="1500" dirty="0"/>
          </a:p>
        </p:txBody>
      </p:sp>
      <p:sp>
        <p:nvSpPr>
          <p:cNvPr id="25" name="text-107"/>
          <p:cNvSpPr txBox="1"/>
          <p:nvPr/>
        </p:nvSpPr>
        <p:spPr>
          <a:xfrm>
            <a:off x="548640" y="4343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by default — never locked</a:t>
            </a:r>
            <a:endParaRPr lang="en-US" sz="1600" dirty="0"/>
          </a:p>
        </p:txBody>
      </p:sp>
      <p:sp>
        <p:nvSpPr>
          <p:cNvPr id="26" name="box-108"/>
          <p:cNvSpPr/>
          <p:nvPr/>
        </p:nvSpPr>
        <p:spPr>
          <a:xfrm>
            <a:off x="548640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27" name="text-109"/>
          <p:cNvSpPr txBox="1"/>
          <p:nvPr/>
        </p:nvSpPr>
        <p:spPr>
          <a:xfrm>
            <a:off x="731520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history</a:t>
            </a:r>
            <a:endParaRPr lang="en-US" sz="1600" dirty="0"/>
          </a:p>
        </p:txBody>
      </p:sp>
      <p:sp>
        <p:nvSpPr>
          <p:cNvPr id="28" name="box-110"/>
          <p:cNvSpPr/>
          <p:nvPr/>
        </p:nvSpPr>
        <p:spPr>
          <a:xfrm>
            <a:off x="3390824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29" name="text-111"/>
          <p:cNvSpPr txBox="1"/>
          <p:nvPr/>
        </p:nvSpPr>
        <p:spPr>
          <a:xfrm>
            <a:off x="3573704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defaults</a:t>
            </a:r>
            <a:endParaRPr lang="en-US" sz="1600" dirty="0"/>
          </a:p>
        </p:txBody>
      </p:sp>
      <p:sp>
        <p:nvSpPr>
          <p:cNvPr id="30" name="box-112"/>
          <p:cNvSpPr/>
          <p:nvPr/>
        </p:nvSpPr>
        <p:spPr>
          <a:xfrm>
            <a:off x="6233008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1" name="text-113"/>
          <p:cNvSpPr txBox="1"/>
          <p:nvPr/>
        </p:nvSpPr>
        <p:spPr>
          <a:xfrm>
            <a:off x="6415888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600" dirty="0"/>
          </a:p>
        </p:txBody>
      </p:sp>
      <p:sp>
        <p:nvSpPr>
          <p:cNvPr id="32" name="box-114"/>
          <p:cNvSpPr/>
          <p:nvPr/>
        </p:nvSpPr>
        <p:spPr>
          <a:xfrm>
            <a:off x="9075191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3" name="text-115"/>
          <p:cNvSpPr txBox="1"/>
          <p:nvPr/>
        </p:nvSpPr>
        <p:spPr>
          <a:xfrm>
            <a:off x="9258071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record</a:t>
            </a:r>
            <a:endParaRPr lang="en-US" sz="1600" dirty="0"/>
          </a:p>
        </p:txBody>
      </p:sp>
      <p:sp>
        <p:nvSpPr>
          <p:cNvPr id="34" name="box-116"/>
          <p:cNvSpPr/>
          <p:nvPr/>
        </p:nvSpPr>
        <p:spPr>
          <a:xfrm>
            <a:off x="548640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5" name="text-117"/>
          <p:cNvSpPr txBox="1"/>
          <p:nvPr/>
        </p:nvSpPr>
        <p:spPr>
          <a:xfrm>
            <a:off x="731520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and interim cover</a:t>
            </a:r>
            <a:endParaRPr lang="en-US" sz="1600" dirty="0"/>
          </a:p>
        </p:txBody>
      </p:sp>
      <p:sp>
        <p:nvSpPr>
          <p:cNvPr id="36" name="box-118"/>
          <p:cNvSpPr/>
          <p:nvPr/>
        </p:nvSpPr>
        <p:spPr>
          <a:xfrm>
            <a:off x="3390824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7" name="text-119"/>
          <p:cNvSpPr txBox="1"/>
          <p:nvPr/>
        </p:nvSpPr>
        <p:spPr>
          <a:xfrm>
            <a:off x="3573704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and types</a:t>
            </a:r>
            <a:endParaRPr lang="en-US" sz="1600" dirty="0"/>
          </a:p>
        </p:txBody>
      </p:sp>
      <p:sp>
        <p:nvSpPr>
          <p:cNvPr id="38" name="box-120"/>
          <p:cNvSpPr/>
          <p:nvPr/>
        </p:nvSpPr>
        <p:spPr>
          <a:xfrm>
            <a:off x="6233008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9" name="text-121"/>
          <p:cNvSpPr txBox="1"/>
          <p:nvPr/>
        </p:nvSpPr>
        <p:spPr>
          <a:xfrm>
            <a:off x="6415888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600" dirty="0"/>
          </a:p>
        </p:txBody>
      </p:sp>
      <p:sp>
        <p:nvSpPr>
          <p:cNvPr id="40" name="box-122"/>
          <p:cNvSpPr/>
          <p:nvPr/>
        </p:nvSpPr>
        <p:spPr>
          <a:xfrm>
            <a:off x="9075191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41" name="text-123"/>
          <p:cNvSpPr txBox="1"/>
          <p:nvPr/>
        </p:nvSpPr>
        <p:spPr>
          <a:xfrm>
            <a:off x="9258071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for Looker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starts from the Project Management menu</a:t>
            </a:r>
            <a:endParaRPr lang="en-US" sz="3200" dirty="0"/>
          </a:p>
        </p:txBody>
      </p:sp>
      <p:sp>
        <p:nvSpPr>
          <p:cNvPr id="3" name="pill-124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25"/>
          <p:cNvSpPr/>
          <p:nvPr/>
        </p:nvSpPr>
        <p:spPr>
          <a:xfrm>
            <a:off x="548640" y="15544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text-126"/>
          <p:cNvSpPr txBox="1"/>
          <p:nvPr/>
        </p:nvSpPr>
        <p:spPr>
          <a:xfrm>
            <a:off x="8229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▾</a:t>
            </a:r>
            <a:endParaRPr lang="en-US" sz="1700" dirty="0"/>
          </a:p>
        </p:txBody>
      </p:sp>
      <p:sp>
        <p:nvSpPr>
          <p:cNvPr id="6" name="text-127"/>
          <p:cNvSpPr txBox="1"/>
          <p:nvPr/>
        </p:nvSpPr>
        <p:spPr>
          <a:xfrm>
            <a:off x="822960" y="2331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/ Upgrade Spreadsheet</a:t>
            </a:r>
            <a:endParaRPr lang="en-US" sz="1600" dirty="0"/>
          </a:p>
        </p:txBody>
      </p:sp>
      <p:sp>
        <p:nvSpPr>
          <p:cNvPr id="7" name="sep-128"/>
          <p:cNvSpPr/>
          <p:nvPr/>
        </p:nvSpPr>
        <p:spPr>
          <a:xfrm>
            <a:off x="822960" y="2839720"/>
            <a:ext cx="3291840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8" name="text-129"/>
          <p:cNvSpPr txBox="1"/>
          <p:nvPr/>
        </p:nvSpPr>
        <p:spPr>
          <a:xfrm>
            <a:off x="822960" y="29413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Presence &amp; Leaves</a:t>
            </a:r>
            <a:endParaRPr lang="en-US" sz="1600" dirty="0"/>
          </a:p>
        </p:txBody>
      </p:sp>
      <p:sp>
        <p:nvSpPr>
          <p:cNvPr id="9" name="text-130"/>
          <p:cNvSpPr txBox="1"/>
          <p:nvPr/>
        </p:nvSpPr>
        <p:spPr>
          <a:xfrm>
            <a:off x="822960" y="3347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Contracts</a:t>
            </a:r>
            <a:endParaRPr lang="en-US" sz="1600" dirty="0"/>
          </a:p>
        </p:txBody>
      </p:sp>
      <p:sp>
        <p:nvSpPr>
          <p:cNvPr id="10" name="text-131"/>
          <p:cNvSpPr txBox="1"/>
          <p:nvPr/>
        </p:nvSpPr>
        <p:spPr>
          <a:xfrm>
            <a:off x="822960" y="37541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Backups</a:t>
            </a:r>
            <a:endParaRPr lang="en-US" sz="1600" dirty="0"/>
          </a:p>
        </p:txBody>
      </p:sp>
      <p:sp>
        <p:nvSpPr>
          <p:cNvPr id="11" name="sep-132"/>
          <p:cNvSpPr/>
          <p:nvPr/>
        </p:nvSpPr>
        <p:spPr>
          <a:xfrm>
            <a:off x="822960" y="4262120"/>
            <a:ext cx="3291840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12" name="text-133"/>
          <p:cNvSpPr txBox="1"/>
          <p:nvPr/>
        </p:nvSpPr>
        <p:spPr>
          <a:xfrm>
            <a:off x="822960" y="4363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Workspace</a:t>
            </a:r>
            <a:endParaRPr lang="en-US" sz="1600" dirty="0"/>
          </a:p>
        </p:txBody>
      </p:sp>
      <p:sp>
        <p:nvSpPr>
          <p:cNvPr id="13" name="text-134"/>
          <p:cNvSpPr txBox="1"/>
          <p:nvPr/>
        </p:nvSpPr>
        <p:spPr>
          <a:xfrm>
            <a:off x="822960" y="47701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Locations</a:t>
            </a:r>
            <a:endParaRPr lang="en-US" sz="1600" dirty="0"/>
          </a:p>
        </p:txBody>
      </p:sp>
      <p:sp>
        <p:nvSpPr>
          <p:cNvPr id="14" name="text-135"/>
          <p:cNvSpPr txBox="1"/>
          <p:nvPr/>
        </p:nvSpPr>
        <p:spPr>
          <a:xfrm>
            <a:off x="822960" y="51765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Holidays</a:t>
            </a:r>
            <a:endParaRPr lang="en-US" sz="1600" dirty="0"/>
          </a:p>
        </p:txBody>
      </p:sp>
      <p:graphicFrame>
        <p:nvGraphicFramePr>
          <p:cNvPr id="7" name="table-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688817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60120"/>
                <a:gridCol w="3779215"/>
              </a:tblGrid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8817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/ Upgrade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or repairs every table, installs the triggers, runs a full sync, shows the five tabs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 Presence &amp; Leaves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set your weekly routine or declare a leave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add a person, record a new contract, end one, edit contact details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cover a project while its lead is away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Workspace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of everything that needs attention, each with a link to the 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Locations / Holidays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hidden Locations or Holidays tab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used throughout the sheet</a:t>
            </a:r>
            <a:endParaRPr lang="en-US" sz="3200" dirty="0"/>
          </a:p>
        </p:txBody>
      </p:sp>
      <p:sp>
        <p:nvSpPr>
          <p:cNvPr id="3" name="pill-137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38"/>
          <p:cNvSpPr/>
          <p:nvPr/>
        </p:nvSpPr>
        <p:spPr>
          <a:xfrm>
            <a:off x="548640" y="15544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5" name="text-139"/>
          <p:cNvSpPr txBox="1"/>
          <p:nvPr/>
        </p:nvSpPr>
        <p:spPr>
          <a:xfrm>
            <a:off x="777240" y="15544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600" dirty="0"/>
          </a:p>
        </p:txBody>
      </p:sp>
      <p:sp>
        <p:nvSpPr>
          <p:cNvPr id="6" name="text-140"/>
          <p:cNvSpPr txBox="1"/>
          <p:nvPr/>
        </p:nvSpPr>
        <p:spPr>
          <a:xfrm>
            <a:off x="2606040" y="15544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identified by their Google people chip.</a:t>
            </a:r>
            <a:endParaRPr lang="en-US" sz="1500" dirty="0"/>
          </a:p>
        </p:txBody>
      </p:sp>
      <p:sp>
        <p:nvSpPr>
          <p:cNvPr id="7" name="box-141"/>
          <p:cNvSpPr/>
          <p:nvPr/>
        </p:nvSpPr>
        <p:spPr>
          <a:xfrm>
            <a:off x="6233008" y="15544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8" name="text-142"/>
          <p:cNvSpPr txBox="1"/>
          <p:nvPr/>
        </p:nvSpPr>
        <p:spPr>
          <a:xfrm>
            <a:off x="6461608" y="15544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600" dirty="0"/>
          </a:p>
        </p:txBody>
      </p:sp>
      <p:sp>
        <p:nvSpPr>
          <p:cNvPr id="9" name="text-143"/>
          <p:cNvSpPr txBox="1"/>
          <p:nvPr/>
        </p:nvSpPr>
        <p:spPr>
          <a:xfrm>
            <a:off x="8290408" y="15544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dates, type and FTE of one assignment.</a:t>
            </a:r>
            <a:endParaRPr lang="en-US" sz="1500" dirty="0"/>
          </a:p>
        </p:txBody>
      </p:sp>
      <p:sp>
        <p:nvSpPr>
          <p:cNvPr id="10" name="box-144"/>
          <p:cNvSpPr/>
          <p:nvPr/>
        </p:nvSpPr>
        <p:spPr>
          <a:xfrm>
            <a:off x="548640" y="233934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-145"/>
          <p:cNvSpPr txBox="1"/>
          <p:nvPr/>
        </p:nvSpPr>
        <p:spPr>
          <a:xfrm>
            <a:off x="777240" y="233934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600" dirty="0"/>
          </a:p>
        </p:txBody>
      </p:sp>
      <p:sp>
        <p:nvSpPr>
          <p:cNvPr id="12" name="text-146"/>
          <p:cNvSpPr txBox="1"/>
          <p:nvPr/>
        </p:nvSpPr>
        <p:spPr>
          <a:xfrm>
            <a:off x="2606040" y="233934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half-day: morning (AM) or afternoon (PM).</a:t>
            </a:r>
            <a:endParaRPr lang="en-US" sz="1500" dirty="0"/>
          </a:p>
        </p:txBody>
      </p:sp>
      <p:sp>
        <p:nvSpPr>
          <p:cNvPr id="13" name="box-147"/>
          <p:cNvSpPr/>
          <p:nvPr/>
        </p:nvSpPr>
        <p:spPr>
          <a:xfrm>
            <a:off x="6233008" y="233934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4" name="text-148"/>
          <p:cNvSpPr txBox="1"/>
          <p:nvPr/>
        </p:nvSpPr>
        <p:spPr>
          <a:xfrm>
            <a:off x="6461608" y="233934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Location</a:t>
            </a:r>
            <a:endParaRPr lang="en-US" sz="1600" dirty="0"/>
          </a:p>
        </p:txBody>
      </p:sp>
      <p:sp>
        <p:nvSpPr>
          <p:cNvPr id="15" name="text-149"/>
          <p:cNvSpPr txBox="1"/>
          <p:nvPr/>
        </p:nvSpPr>
        <p:spPr>
          <a:xfrm>
            <a:off x="8290408" y="233934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 type Office, Client site or Remote.</a:t>
            </a:r>
            <a:endParaRPr lang="en-US" sz="1500" dirty="0"/>
          </a:p>
        </p:txBody>
      </p:sp>
      <p:sp>
        <p:nvSpPr>
          <p:cNvPr id="16" name="box-150"/>
          <p:cNvSpPr/>
          <p:nvPr/>
        </p:nvSpPr>
        <p:spPr>
          <a:xfrm>
            <a:off x="548640" y="312420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17" name="text-151"/>
          <p:cNvSpPr txBox="1"/>
          <p:nvPr/>
        </p:nvSpPr>
        <p:spPr>
          <a:xfrm>
            <a:off x="777240" y="312420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600" dirty="0"/>
          </a:p>
        </p:txBody>
      </p:sp>
      <p:sp>
        <p:nvSpPr>
          <p:cNvPr id="18" name="text-152"/>
          <p:cNvSpPr txBox="1"/>
          <p:nvPr/>
        </p:nvSpPr>
        <p:spPr>
          <a:xfrm>
            <a:off x="2606040" y="312420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AM/PM locations per weekday, from a start date.</a:t>
            </a:r>
            <a:endParaRPr lang="en-US" sz="1500" dirty="0"/>
          </a:p>
        </p:txBody>
      </p:sp>
      <p:sp>
        <p:nvSpPr>
          <p:cNvPr id="19" name="box-153"/>
          <p:cNvSpPr/>
          <p:nvPr/>
        </p:nvSpPr>
        <p:spPr>
          <a:xfrm>
            <a:off x="6233008" y="312420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20" name="text-154"/>
          <p:cNvSpPr txBox="1"/>
          <p:nvPr/>
        </p:nvSpPr>
        <p:spPr>
          <a:xfrm>
            <a:off x="6461608" y="312420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600" dirty="0"/>
          </a:p>
        </p:txBody>
      </p:sp>
      <p:sp>
        <p:nvSpPr>
          <p:cNvPr id="21" name="text-155"/>
          <p:cNvSpPr txBox="1"/>
          <p:nvPr/>
        </p:nvSpPr>
        <p:spPr>
          <a:xfrm>
            <a:off x="8290408" y="312420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sick, parental or unpaid; Requested, Approved or Cancelled.</a:t>
            </a:r>
            <a:endParaRPr lang="en-US" sz="1500" dirty="0"/>
          </a:p>
        </p:txBody>
      </p:sp>
      <p:sp>
        <p:nvSpPr>
          <p:cNvPr id="22" name="box-156"/>
          <p:cNvSpPr/>
          <p:nvPr/>
        </p:nvSpPr>
        <p:spPr>
          <a:xfrm>
            <a:off x="548640" y="390906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text-157"/>
          <p:cNvSpPr txBox="1"/>
          <p:nvPr/>
        </p:nvSpPr>
        <p:spPr>
          <a:xfrm>
            <a:off x="777240" y="390906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600" dirty="0"/>
          </a:p>
        </p:txBody>
      </p:sp>
      <p:sp>
        <p:nvSpPr>
          <p:cNvPr id="24" name="text-158"/>
          <p:cNvSpPr txBox="1"/>
          <p:nvPr/>
        </p:nvSpPr>
        <p:spPr>
          <a:xfrm>
            <a:off x="2606040" y="390906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Member was, per day, up to today.</a:t>
            </a:r>
            <a:endParaRPr lang="en-US" sz="1500" dirty="0"/>
          </a:p>
        </p:txBody>
      </p:sp>
      <p:sp>
        <p:nvSpPr>
          <p:cNvPr id="25" name="box-159"/>
          <p:cNvSpPr/>
          <p:nvPr/>
        </p:nvSpPr>
        <p:spPr>
          <a:xfrm>
            <a:off x="6233008" y="390906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text-160"/>
          <p:cNvSpPr txBox="1"/>
          <p:nvPr/>
        </p:nvSpPr>
        <p:spPr>
          <a:xfrm>
            <a:off x="6461608" y="390906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</a:t>
            </a:r>
            <a:endParaRPr lang="en-US" sz="1600" dirty="0"/>
          </a:p>
        </p:txBody>
      </p:sp>
      <p:sp>
        <p:nvSpPr>
          <p:cNvPr id="27" name="text-161"/>
          <p:cNvSpPr txBox="1"/>
          <p:nvPr/>
        </p:nvSpPr>
        <p:spPr>
          <a:xfrm>
            <a:off x="8290408" y="390906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Holidays, treated like a weekend everywhere.</a:t>
            </a:r>
            <a:endParaRPr lang="en-US" sz="1500" dirty="0"/>
          </a:p>
        </p:txBody>
      </p:sp>
      <p:sp>
        <p:nvSpPr>
          <p:cNvPr id="28" name="box-162"/>
          <p:cNvSpPr/>
          <p:nvPr/>
        </p:nvSpPr>
        <p:spPr>
          <a:xfrm>
            <a:off x="548640" y="469392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29" name="text-163"/>
          <p:cNvSpPr txBox="1"/>
          <p:nvPr/>
        </p:nvSpPr>
        <p:spPr>
          <a:xfrm>
            <a:off x="777240" y="469392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Backup</a:t>
            </a:r>
            <a:endParaRPr lang="en-US" sz="1600" dirty="0"/>
          </a:p>
        </p:txBody>
      </p:sp>
      <p:sp>
        <p:nvSpPr>
          <p:cNvPr id="30" name="text-164"/>
          <p:cNvSpPr txBox="1"/>
          <p:nvPr/>
        </p:nvSpPr>
        <p:spPr>
          <a:xfrm>
            <a:off x="2606040" y="469392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second person on a project.</a:t>
            </a:r>
            <a:endParaRPr lang="en-US" sz="1500" dirty="0"/>
          </a:p>
        </p:txBody>
      </p:sp>
      <p:sp>
        <p:nvSpPr>
          <p:cNvPr id="31" name="box-165"/>
          <p:cNvSpPr/>
          <p:nvPr/>
        </p:nvSpPr>
        <p:spPr>
          <a:xfrm>
            <a:off x="6233008" y="469392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32" name="text-166"/>
          <p:cNvSpPr txBox="1"/>
          <p:nvPr/>
        </p:nvSpPr>
        <p:spPr>
          <a:xfrm>
            <a:off x="6461608" y="469392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</a:t>
            </a:r>
            <a:endParaRPr lang="en-US" sz="1600" dirty="0"/>
          </a:p>
        </p:txBody>
      </p:sp>
      <p:sp>
        <p:nvSpPr>
          <p:cNvPr id="33" name="text-167"/>
          <p:cNvSpPr txBox="1"/>
          <p:nvPr/>
        </p:nvSpPr>
        <p:spPr>
          <a:xfrm>
            <a:off x="8290408" y="469392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replacement covering a specific absence.</a:t>
            </a:r>
            <a:endParaRPr lang="en-US" sz="1500" dirty="0"/>
          </a:p>
        </p:txBody>
      </p:sp>
      <p:sp>
        <p:nvSpPr>
          <p:cNvPr id="34" name="box-168"/>
          <p:cNvSpPr/>
          <p:nvPr/>
        </p:nvSpPr>
        <p:spPr>
          <a:xfrm>
            <a:off x="548640" y="54787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169"/>
          <p:cNvSpPr txBox="1"/>
          <p:nvPr/>
        </p:nvSpPr>
        <p:spPr>
          <a:xfrm>
            <a:off x="777240" y="54787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charge today</a:t>
            </a:r>
            <a:endParaRPr lang="en-US" sz="1600" dirty="0"/>
          </a:p>
        </p:txBody>
      </p:sp>
      <p:sp>
        <p:nvSpPr>
          <p:cNvPr id="36" name="text-170"/>
          <p:cNvSpPr txBox="1"/>
          <p:nvPr/>
        </p:nvSpPr>
        <p:spPr>
          <a:xfrm>
            <a:off x="2606040" y="54787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else interim, else backup, else “Nobody available”.</a:t>
            </a:r>
            <a:endParaRPr lang="en-US" sz="1500" dirty="0"/>
          </a:p>
        </p:txBody>
      </p:sp>
      <p:sp>
        <p:nvSpPr>
          <p:cNvPr id="37" name="box-171"/>
          <p:cNvSpPr/>
          <p:nvPr/>
        </p:nvSpPr>
        <p:spPr>
          <a:xfrm>
            <a:off x="6233008" y="54787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8" name="text-172"/>
          <p:cNvSpPr txBox="1"/>
          <p:nvPr/>
        </p:nvSpPr>
        <p:spPr>
          <a:xfrm>
            <a:off x="6461608" y="54787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Day</a:t>
            </a:r>
            <a:endParaRPr lang="en-US" sz="1600" dirty="0"/>
          </a:p>
        </p:txBody>
      </p:sp>
      <p:sp>
        <p:nvSpPr>
          <p:cNvPr id="39" name="text-173"/>
          <p:cNvSpPr txBox="1"/>
          <p:nvPr/>
        </p:nvSpPr>
        <p:spPr>
          <a:xfrm>
            <a:off x="8290408" y="54787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day this week with no entry, routine or leave.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 mean the same thing everywhere</a:t>
            </a:r>
            <a:endParaRPr lang="en-US" sz="3200" dirty="0"/>
          </a:p>
        </p:txBody>
      </p:sp>
      <p:sp>
        <p:nvSpPr>
          <p:cNvPr id="3" name="pill-174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75"/>
          <p:cNvSpPr/>
          <p:nvPr/>
        </p:nvSpPr>
        <p:spPr>
          <a:xfrm>
            <a:off x="548640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3E8FD"/>
          </a:solidFill>
          <a:ln/>
        </p:spPr>
      </p:sp>
      <p:sp>
        <p:nvSpPr>
          <p:cNvPr id="5" name="text-176"/>
          <p:cNvSpPr txBox="1"/>
          <p:nvPr/>
        </p:nvSpPr>
        <p:spPr>
          <a:xfrm>
            <a:off x="713232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1800" dirty="0"/>
          </a:p>
        </p:txBody>
      </p:sp>
      <p:sp>
        <p:nvSpPr>
          <p:cNvPr id="6" name="text-177"/>
          <p:cNvSpPr txBox="1"/>
          <p:nvPr/>
        </p:nvSpPr>
        <p:spPr>
          <a:xfrm>
            <a:off x="713232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OneRoof</a:t>
            </a:r>
            <a:endParaRPr lang="en-US" sz="1400" dirty="0"/>
          </a:p>
        </p:txBody>
      </p:sp>
      <p:sp>
        <p:nvSpPr>
          <p:cNvPr id="7" name="box-178"/>
          <p:cNvSpPr/>
          <p:nvPr/>
        </p:nvSpPr>
        <p:spPr>
          <a:xfrm>
            <a:off x="2428189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/>
        </p:spPr>
      </p:sp>
      <p:sp>
        <p:nvSpPr>
          <p:cNvPr id="8" name="text-179"/>
          <p:cNvSpPr txBox="1"/>
          <p:nvPr/>
        </p:nvSpPr>
        <p:spPr>
          <a:xfrm>
            <a:off x="2592781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site</a:t>
            </a:r>
            <a:endParaRPr lang="en-US" sz="1800" dirty="0"/>
          </a:p>
        </p:txBody>
      </p:sp>
      <p:sp>
        <p:nvSpPr>
          <p:cNvPr id="9" name="text-180"/>
          <p:cNvSpPr txBox="1"/>
          <p:nvPr/>
        </p:nvSpPr>
        <p:spPr>
          <a:xfrm>
            <a:off x="2592781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JLL, C04, C60</a:t>
            </a:r>
            <a:endParaRPr lang="en-US" sz="1400" dirty="0"/>
          </a:p>
        </p:txBody>
      </p:sp>
      <p:sp>
        <p:nvSpPr>
          <p:cNvPr id="10" name="box-181"/>
          <p:cNvSpPr/>
          <p:nvPr/>
        </p:nvSpPr>
        <p:spPr>
          <a:xfrm>
            <a:off x="4307738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E6F4EA"/>
          </a:solidFill>
          <a:ln/>
        </p:spPr>
      </p:sp>
      <p:sp>
        <p:nvSpPr>
          <p:cNvPr id="11" name="text-182"/>
          <p:cNvSpPr txBox="1"/>
          <p:nvPr/>
        </p:nvSpPr>
        <p:spPr>
          <a:xfrm>
            <a:off x="4472330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800" dirty="0"/>
          </a:p>
        </p:txBody>
      </p:sp>
      <p:sp>
        <p:nvSpPr>
          <p:cNvPr id="12" name="text-183"/>
          <p:cNvSpPr txBox="1"/>
          <p:nvPr/>
        </p:nvSpPr>
        <p:spPr>
          <a:xfrm>
            <a:off x="4472330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</p:txBody>
      </p:sp>
      <p:sp>
        <p:nvSpPr>
          <p:cNvPr id="13" name="box-184"/>
          <p:cNvSpPr/>
          <p:nvPr/>
        </p:nvSpPr>
        <p:spPr>
          <a:xfrm>
            <a:off x="6187288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CE8E6"/>
          </a:solidFill>
          <a:ln/>
        </p:spPr>
      </p:sp>
      <p:sp>
        <p:nvSpPr>
          <p:cNvPr id="14" name="text-185"/>
          <p:cNvSpPr txBox="1"/>
          <p:nvPr/>
        </p:nvSpPr>
        <p:spPr>
          <a:xfrm>
            <a:off x="6351880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1800" dirty="0"/>
          </a:p>
        </p:txBody>
      </p:sp>
      <p:sp>
        <p:nvSpPr>
          <p:cNvPr id="15" name="text-186"/>
          <p:cNvSpPr txBox="1"/>
          <p:nvPr/>
        </p:nvSpPr>
        <p:spPr>
          <a:xfrm>
            <a:off x="6351880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Sick Leave and other leave types</a:t>
            </a:r>
            <a:endParaRPr lang="en-US" sz="1400" dirty="0"/>
          </a:p>
        </p:txBody>
      </p:sp>
      <p:sp>
        <p:nvSpPr>
          <p:cNvPr id="16" name="box-187"/>
          <p:cNvSpPr/>
          <p:nvPr/>
        </p:nvSpPr>
        <p:spPr>
          <a:xfrm>
            <a:off x="8066837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1F3F4"/>
          </a:solidFill>
          <a:ln/>
        </p:spPr>
      </p:sp>
      <p:sp>
        <p:nvSpPr>
          <p:cNvPr id="17" name="text-188"/>
          <p:cNvSpPr txBox="1"/>
          <p:nvPr/>
        </p:nvSpPr>
        <p:spPr>
          <a:xfrm>
            <a:off x="8231429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800" dirty="0"/>
          </a:p>
        </p:txBody>
      </p:sp>
      <p:sp>
        <p:nvSpPr>
          <p:cNvPr id="18" name="text-189"/>
          <p:cNvSpPr txBox="1"/>
          <p:nvPr/>
        </p:nvSpPr>
        <p:spPr>
          <a:xfrm>
            <a:off x="8231429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public holiday</a:t>
            </a:r>
            <a:endParaRPr lang="en-US" sz="1400" dirty="0"/>
          </a:p>
        </p:txBody>
      </p:sp>
      <p:sp>
        <p:nvSpPr>
          <p:cNvPr id="19" name="box-190"/>
          <p:cNvSpPr/>
          <p:nvPr/>
        </p:nvSpPr>
        <p:spPr>
          <a:xfrm>
            <a:off x="9946386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EF7E0"/>
          </a:solidFill>
          <a:ln/>
        </p:spPr>
      </p:sp>
      <p:sp>
        <p:nvSpPr>
          <p:cNvPr id="20" name="text-191"/>
          <p:cNvSpPr txBox="1"/>
          <p:nvPr/>
        </p:nvSpPr>
        <p:spPr>
          <a:xfrm>
            <a:off x="10110978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</a:t>
            </a:r>
            <a:endParaRPr lang="en-US" sz="1800" dirty="0"/>
          </a:p>
        </p:txBody>
      </p:sp>
      <p:sp>
        <p:nvSpPr>
          <p:cNvPr id="21" name="text-192"/>
          <p:cNvSpPr txBox="1"/>
          <p:nvPr/>
        </p:nvSpPr>
        <p:spPr>
          <a:xfrm>
            <a:off x="10110978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entry for today yet</a:t>
            </a:r>
            <a:endParaRPr lang="en-US" sz="1400" dirty="0"/>
          </a:p>
        </p:txBody>
      </p:sp>
      <p:sp>
        <p:nvSpPr>
          <p:cNvPr id="22" name="text-193"/>
          <p:cNvSpPr txBox="1"/>
          <p:nvPr/>
        </p:nvSpPr>
        <p:spPr>
          <a:xfrm>
            <a:off x="548640" y="324612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colours come from each location's Type in the Locations tab, so a new client site turns blue as soon as it is listed. They appear in Weekly Presence and in the Members “Today” column.</a:t>
            </a:r>
            <a:endParaRPr lang="en-US" sz="1600" dirty="0"/>
          </a:p>
        </p:txBody>
      </p:sp>
      <p:sp>
        <p:nvSpPr>
          <p:cNvPr id="23" name="box-194"/>
          <p:cNvSpPr/>
          <p:nvPr/>
        </p:nvSpPr>
        <p:spPr>
          <a:xfrm>
            <a:off x="548640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4" name="box-195"/>
          <p:cNvSpPr/>
          <p:nvPr/>
        </p:nvSpPr>
        <p:spPr>
          <a:xfrm>
            <a:off x="777240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/>
        </p:spPr>
      </p:sp>
      <p:sp>
        <p:nvSpPr>
          <p:cNvPr id="25" name="text-196"/>
          <p:cNvSpPr txBox="1"/>
          <p:nvPr/>
        </p:nvSpPr>
        <p:spPr>
          <a:xfrm>
            <a:off x="914400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row red</a:t>
            </a:r>
            <a:endParaRPr lang="en-US" sz="1500" dirty="0"/>
          </a:p>
        </p:txBody>
      </p:sp>
      <p:sp>
        <p:nvSpPr>
          <p:cNvPr id="26" name="text-197"/>
          <p:cNvSpPr txBox="1"/>
          <p:nvPr/>
        </p:nvSpPr>
        <p:spPr>
          <a:xfrm>
            <a:off x="777240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conflict: approved absences leave a working day uncovered.</a:t>
            </a:r>
            <a:endParaRPr lang="en-US" sz="1500" dirty="0"/>
          </a:p>
        </p:txBody>
      </p:sp>
      <p:sp>
        <p:nvSpPr>
          <p:cNvPr id="27" name="box-198"/>
          <p:cNvSpPr/>
          <p:nvPr/>
        </p:nvSpPr>
        <p:spPr>
          <a:xfrm>
            <a:off x="4338218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8" name="box-199"/>
          <p:cNvSpPr/>
          <p:nvPr/>
        </p:nvSpPr>
        <p:spPr>
          <a:xfrm>
            <a:off x="4566818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DEBD0"/>
          </a:solidFill>
          <a:ln/>
        </p:spPr>
      </p:sp>
      <p:sp>
        <p:nvSpPr>
          <p:cNvPr id="29" name="text-200"/>
          <p:cNvSpPr txBox="1"/>
          <p:nvPr/>
        </p:nvSpPr>
        <p:spPr>
          <a:xfrm>
            <a:off x="4703978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row orange</a:t>
            </a:r>
            <a:endParaRPr lang="en-US" sz="1500" dirty="0"/>
          </a:p>
        </p:txBody>
      </p:sp>
      <p:sp>
        <p:nvSpPr>
          <p:cNvPr id="30" name="text-201"/>
          <p:cNvSpPr txBox="1"/>
          <p:nvPr/>
        </p:nvSpPr>
        <p:spPr>
          <a:xfrm>
            <a:off x="4566818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warning: a Requested leave would leave a day uncovered.</a:t>
            </a:r>
            <a:endParaRPr lang="en-US" sz="1500" dirty="0"/>
          </a:p>
        </p:txBody>
      </p:sp>
      <p:sp>
        <p:nvSpPr>
          <p:cNvPr id="31" name="box-202"/>
          <p:cNvSpPr/>
          <p:nvPr/>
        </p:nvSpPr>
        <p:spPr>
          <a:xfrm>
            <a:off x="8127797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box-203"/>
          <p:cNvSpPr/>
          <p:nvPr/>
        </p:nvSpPr>
        <p:spPr>
          <a:xfrm>
            <a:off x="8356397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8D7DA"/>
          </a:solidFill>
          <a:ln/>
        </p:spPr>
      </p:sp>
      <p:sp>
        <p:nvSpPr>
          <p:cNvPr id="33" name="text-204"/>
          <p:cNvSpPr txBox="1"/>
          <p:nvPr/>
        </p:nvSpPr>
        <p:spPr>
          <a:xfrm>
            <a:off x="8493557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red, bold text</a:t>
            </a:r>
            <a:endParaRPr lang="en-US" sz="1500" dirty="0"/>
          </a:p>
        </p:txBody>
      </p:sp>
      <p:sp>
        <p:nvSpPr>
          <p:cNvPr id="34" name="text-205"/>
          <p:cNvSpPr txBox="1"/>
          <p:nvPr/>
        </p:nvSpPr>
        <p:spPr>
          <a:xfrm>
            <a:off x="8356397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field is empty in a row you started.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automatically, and when</a:t>
            </a:r>
            <a:endParaRPr lang="en-US" sz="3200" dirty="0"/>
          </a:p>
        </p:txBody>
      </p:sp>
      <p:sp>
        <p:nvSpPr>
          <p:cNvPr id="3" name="pill-206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207"/>
          <p:cNvSpPr/>
          <p:nvPr/>
        </p:nvSpPr>
        <p:spPr>
          <a:xfrm>
            <a:off x="548640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5" name="iconbg-208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20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13839"/>
            <a:ext cx="332842" cy="332842"/>
          </a:xfrm>
          <a:prstGeom prst="rect">
            <a:avLst/>
          </a:prstGeom>
        </p:spPr>
      </p:pic>
      <p:sp>
        <p:nvSpPr>
          <p:cNvPr id="7" name="pill-210"/>
          <p:cNvSpPr/>
          <p:nvPr/>
        </p:nvSpPr>
        <p:spPr>
          <a:xfrm>
            <a:off x="1363904" y="1929384"/>
            <a:ext cx="1524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seconds</a:t>
            </a:r>
            <a:endParaRPr lang="en-US" sz="1200" dirty="0"/>
          </a:p>
        </p:txBody>
      </p:sp>
      <p:sp>
        <p:nvSpPr>
          <p:cNvPr id="8" name="text-211"/>
          <p:cNvSpPr txBox="1"/>
          <p:nvPr/>
        </p:nvSpPr>
        <p:spPr>
          <a:xfrm>
            <a:off x="777240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edit</a:t>
            </a:r>
            <a:endParaRPr lang="en-US" sz="1800" dirty="0"/>
          </a:p>
        </p:txBody>
      </p:sp>
      <p:sp>
        <p:nvSpPr>
          <p:cNvPr id="9" name="text-212"/>
          <p:cNvSpPr txBox="1"/>
          <p:nvPr/>
        </p:nvSpPr>
        <p:spPr>
          <a:xfrm>
            <a:off x="777240" y="3063240"/>
            <a:ext cx="2110664" cy="333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created for new tasks, events and projects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pushed to Google Tasks, events to Calendar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row refreshed from contracts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re-checked on projects, leaves, backups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named in a toast</a:t>
            </a:r>
            <a:endParaRPr lang="en-US" sz="1400" dirty="0"/>
          </a:p>
        </p:txBody>
      </p:sp>
      <p:sp>
        <p:nvSpPr>
          <p:cNvPr id="10" name="box-213"/>
          <p:cNvSpPr/>
          <p:nvPr/>
        </p:nvSpPr>
        <p:spPr>
          <a:xfrm>
            <a:off x="3390824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11" name="iconbg-214"/>
          <p:cNvSpPr/>
          <p:nvPr/>
        </p:nvSpPr>
        <p:spPr>
          <a:xfrm>
            <a:off x="3619424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2" name="icon-2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83" y="1913839"/>
            <a:ext cx="332842" cy="332842"/>
          </a:xfrm>
          <a:prstGeom prst="rect">
            <a:avLst/>
          </a:prstGeom>
        </p:spPr>
      </p:pic>
      <p:sp>
        <p:nvSpPr>
          <p:cNvPr id="13" name="pill-216"/>
          <p:cNvSpPr/>
          <p:nvPr/>
        </p:nvSpPr>
        <p:spPr>
          <a:xfrm>
            <a:off x="5059528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14" name="text-217"/>
          <p:cNvSpPr txBox="1"/>
          <p:nvPr/>
        </p:nvSpPr>
        <p:spPr>
          <a:xfrm>
            <a:off x="3619424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night</a:t>
            </a:r>
            <a:endParaRPr lang="en-US" sz="1800" dirty="0"/>
          </a:p>
        </p:txBody>
      </p:sp>
      <p:sp>
        <p:nvSpPr>
          <p:cNvPr id="15" name="text-218"/>
          <p:cNvSpPr txBox="1"/>
          <p:nvPr/>
        </p:nvSpPr>
        <p:spPr>
          <a:xfrm>
            <a:off x="3619424" y="3063240"/>
            <a:ext cx="2110664" cy="290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sync; presence compiled up to today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 and KPI Data rebuilt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check; emails and tasks for gaps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 and Calendar reconciled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seeded; birthday calendar updated</a:t>
            </a:r>
            <a:endParaRPr lang="en-US" sz="1400" dirty="0"/>
          </a:p>
        </p:txBody>
      </p:sp>
      <p:sp>
        <p:nvSpPr>
          <p:cNvPr id="16" name="box-219"/>
          <p:cNvSpPr/>
          <p:nvPr/>
        </p:nvSpPr>
        <p:spPr>
          <a:xfrm>
            <a:off x="6233008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17" name="iconbg-220"/>
          <p:cNvSpPr/>
          <p:nvPr/>
        </p:nvSpPr>
        <p:spPr>
          <a:xfrm>
            <a:off x="6461608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8" name="icon-2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67" y="1913839"/>
            <a:ext cx="332842" cy="332842"/>
          </a:xfrm>
          <a:prstGeom prst="rect">
            <a:avLst/>
          </a:prstGeom>
        </p:spPr>
      </p:pic>
      <p:sp>
        <p:nvSpPr>
          <p:cNvPr id="19" name="pill-222"/>
          <p:cNvSpPr/>
          <p:nvPr/>
        </p:nvSpPr>
        <p:spPr>
          <a:xfrm>
            <a:off x="7901711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200" dirty="0"/>
          </a:p>
        </p:txBody>
      </p:sp>
      <p:sp>
        <p:nvSpPr>
          <p:cNvPr id="20" name="text-223"/>
          <p:cNvSpPr txBox="1"/>
          <p:nvPr/>
        </p:nvSpPr>
        <p:spPr>
          <a:xfrm>
            <a:off x="6461608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morning</a:t>
            </a:r>
            <a:endParaRPr lang="en-US" sz="1800" dirty="0"/>
          </a:p>
        </p:txBody>
      </p:sp>
      <p:sp>
        <p:nvSpPr>
          <p:cNvPr id="21" name="text-224"/>
          <p:cNvSpPr txBox="1"/>
          <p:nvPr/>
        </p:nvSpPr>
        <p:spPr>
          <a:xfrm>
            <a:off x="6461608" y="3063240"/>
            <a:ext cx="2110664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each active Member with undeclared days this week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days and links to Weekly Presence</a:t>
            </a:r>
            <a:endParaRPr lang="en-US" sz="1400" dirty="0"/>
          </a:p>
        </p:txBody>
      </p:sp>
      <p:sp>
        <p:nvSpPr>
          <p:cNvPr id="22" name="box-225"/>
          <p:cNvSpPr/>
          <p:nvPr/>
        </p:nvSpPr>
        <p:spPr>
          <a:xfrm>
            <a:off x="9075191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23" name="iconbg-226"/>
          <p:cNvSpPr/>
          <p:nvPr/>
        </p:nvSpPr>
        <p:spPr>
          <a:xfrm>
            <a:off x="9303791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24" name="icon-2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551" y="1913839"/>
            <a:ext cx="332842" cy="332842"/>
          </a:xfrm>
          <a:prstGeom prst="rect">
            <a:avLst/>
          </a:prstGeom>
        </p:spPr>
      </p:pic>
      <p:sp>
        <p:nvSpPr>
          <p:cNvPr id="25" name="pill-228"/>
          <p:cNvSpPr/>
          <p:nvPr/>
        </p:nvSpPr>
        <p:spPr>
          <a:xfrm>
            <a:off x="10743895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1200" dirty="0"/>
          </a:p>
        </p:txBody>
      </p:sp>
      <p:sp>
        <p:nvSpPr>
          <p:cNvPr id="26" name="text-229"/>
          <p:cNvSpPr txBox="1"/>
          <p:nvPr/>
        </p:nvSpPr>
        <p:spPr>
          <a:xfrm>
            <a:off x="9303791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working day</a:t>
            </a:r>
            <a:endParaRPr lang="en-US" sz="1800" dirty="0"/>
          </a:p>
        </p:txBody>
      </p:sp>
      <p:sp>
        <p:nvSpPr>
          <p:cNvPr id="27" name="text-230"/>
          <p:cNvSpPr txBox="1"/>
          <p:nvPr/>
        </p:nvSpPr>
        <p:spPr>
          <a:xfrm>
            <a:off x="9303791" y="3063240"/>
            <a:ext cx="2110664" cy="164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announcing tomorrow's birthdays; Friday covers the weekend and Monday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on weekends or public holidays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23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day to day</a:t>
            </a:r>
            <a:endParaRPr lang="en-US" sz="4400" dirty="0"/>
          </a:p>
        </p:txBody>
      </p:sp>
      <p:sp>
        <p:nvSpPr>
          <p:cNvPr id="4" name="text-232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team member. Declare your week once, change single days when plans move, and let the sheet keep projects covered.</a:t>
            </a:r>
            <a:endParaRPr lang="en-US" sz="1800" dirty="0"/>
          </a:p>
        </p:txBody>
      </p:sp>
      <p:sp>
        <p:nvSpPr>
          <p:cNvPr id="5" name="box-233"/>
          <p:cNvSpPr/>
          <p:nvPr/>
        </p:nvSpPr>
        <p:spPr>
          <a:xfrm>
            <a:off x="7680960" y="1325880"/>
            <a:ext cx="3959352" cy="4104640"/>
          </a:xfrm>
          <a:prstGeom prst="roundRect">
            <a:avLst>
              <a:gd name="adj" fmla="val 1386"/>
            </a:avLst>
          </a:prstGeom>
          <a:solidFill>
            <a:srgbClr val="2A2640"/>
          </a:solidFill>
          <a:ln/>
        </p:spPr>
      </p:sp>
      <p:sp>
        <p:nvSpPr>
          <p:cNvPr id="6" name="text-23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235"/>
          <p:cNvSpPr txBox="1"/>
          <p:nvPr/>
        </p:nvSpPr>
        <p:spPr>
          <a:xfrm>
            <a:off x="8001000" y="2103120"/>
            <a:ext cx="3291840" cy="30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where you work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&amp; Leaves sidebar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Contracts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coverage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events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Workspace and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say where you work</a:t>
            </a:r>
            <a:endParaRPr lang="en-US" sz="3200" dirty="0"/>
          </a:p>
        </p:txBody>
      </p:sp>
      <p:sp>
        <p:nvSpPr>
          <p:cNvPr id="3" name="pill-236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37"/>
          <p:cNvSpPr/>
          <p:nvPr/>
        </p:nvSpPr>
        <p:spPr>
          <a:xfrm>
            <a:off x="548640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F3E8FD"/>
          </a:solidFill>
          <a:ln/>
        </p:spPr>
      </p:sp>
      <p:sp>
        <p:nvSpPr>
          <p:cNvPr id="5" name="iconbg-238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2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923898"/>
            <a:ext cx="358445" cy="358445"/>
          </a:xfrm>
          <a:prstGeom prst="rect">
            <a:avLst/>
          </a:prstGeom>
        </p:spPr>
      </p:pic>
      <p:sp>
        <p:nvSpPr>
          <p:cNvPr id="7" name="text-240"/>
          <p:cNvSpPr txBox="1"/>
          <p:nvPr/>
        </p:nvSpPr>
        <p:spPr>
          <a:xfrm>
            <a:off x="1600200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Routine</a:t>
            </a:r>
            <a:endParaRPr lang="en-US" sz="1800" dirty="0"/>
          </a:p>
        </p:txBody>
      </p:sp>
      <p:sp>
        <p:nvSpPr>
          <p:cNvPr id="8" name="text-241"/>
          <p:cNvSpPr txBox="1"/>
          <p:nvPr/>
        </p:nvSpPr>
        <p:spPr>
          <a:xfrm>
            <a:off x="1600200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usual week</a:t>
            </a:r>
            <a:endParaRPr lang="en-US" sz="1400" dirty="0"/>
          </a:p>
        </p:txBody>
      </p:sp>
      <p:sp>
        <p:nvSpPr>
          <p:cNvPr id="9" name="text-242"/>
          <p:cNvSpPr txBox="1"/>
          <p:nvPr/>
        </p:nvSpPr>
        <p:spPr>
          <a:xfrm>
            <a:off x="777240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in Declare Presence &amp; Leaves: one location per weekday (or split AM and PM), from a start date. It fills every day automatically.</a:t>
            </a:r>
            <a:endParaRPr lang="en-US" sz="1600" dirty="0"/>
          </a:p>
        </p:txBody>
      </p:sp>
      <p:sp>
        <p:nvSpPr>
          <p:cNvPr id="10" name="box-243"/>
          <p:cNvSpPr/>
          <p:nvPr/>
        </p:nvSpPr>
        <p:spPr>
          <a:xfrm>
            <a:off x="4338218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E6F4EA"/>
          </a:solidFill>
          <a:ln/>
        </p:spPr>
      </p:sp>
      <p:sp>
        <p:nvSpPr>
          <p:cNvPr id="11" name="iconbg-244"/>
          <p:cNvSpPr/>
          <p:nvPr/>
        </p:nvSpPr>
        <p:spPr>
          <a:xfrm>
            <a:off x="4566818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2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6" y="1923898"/>
            <a:ext cx="358445" cy="358445"/>
          </a:xfrm>
          <a:prstGeom prst="rect">
            <a:avLst/>
          </a:prstGeom>
        </p:spPr>
      </p:pic>
      <p:sp>
        <p:nvSpPr>
          <p:cNvPr id="13" name="text-246"/>
          <p:cNvSpPr txBox="1"/>
          <p:nvPr/>
        </p:nvSpPr>
        <p:spPr>
          <a:xfrm>
            <a:off x="5389778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One-off change</a:t>
            </a:r>
            <a:endParaRPr lang="en-US" sz="1800" dirty="0"/>
          </a:p>
        </p:txBody>
      </p:sp>
      <p:sp>
        <p:nvSpPr>
          <p:cNvPr id="14" name="text-247"/>
          <p:cNvSpPr txBox="1"/>
          <p:nvPr/>
        </p:nvSpPr>
        <p:spPr>
          <a:xfrm>
            <a:off x="5389778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half-day</a:t>
            </a:r>
            <a:endParaRPr lang="en-US" sz="1400" dirty="0"/>
          </a:p>
        </p:txBody>
      </p:sp>
      <p:sp>
        <p:nvSpPr>
          <p:cNvPr id="15" name="text-248"/>
          <p:cNvSpPr txBox="1"/>
          <p:nvPr/>
        </p:nvSpPr>
        <p:spPr>
          <a:xfrm>
            <a:off x="4566818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your AM or PM cell in Weekly Presence. It is saved immediately as that day's record.</a:t>
            </a:r>
            <a:endParaRPr lang="en-US" sz="1600" dirty="0"/>
          </a:p>
        </p:txBody>
      </p:sp>
      <p:sp>
        <p:nvSpPr>
          <p:cNvPr id="16" name="box-249"/>
          <p:cNvSpPr/>
          <p:nvPr/>
        </p:nvSpPr>
        <p:spPr>
          <a:xfrm>
            <a:off x="8127797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FCE8E6"/>
          </a:solidFill>
          <a:ln/>
        </p:spPr>
      </p:sp>
      <p:sp>
        <p:nvSpPr>
          <p:cNvPr id="17" name="iconbg-250"/>
          <p:cNvSpPr/>
          <p:nvPr/>
        </p:nvSpPr>
        <p:spPr>
          <a:xfrm>
            <a:off x="8356397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-2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214" y="1923898"/>
            <a:ext cx="358445" cy="358445"/>
          </a:xfrm>
          <a:prstGeom prst="rect">
            <a:avLst/>
          </a:prstGeom>
        </p:spPr>
      </p:pic>
      <p:sp>
        <p:nvSpPr>
          <p:cNvPr id="19" name="text-252"/>
          <p:cNvSpPr txBox="1"/>
          <p:nvPr/>
        </p:nvSpPr>
        <p:spPr>
          <a:xfrm>
            <a:off x="9179357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Leave</a:t>
            </a:r>
            <a:endParaRPr lang="en-US" sz="1800" dirty="0"/>
          </a:p>
        </p:txBody>
      </p:sp>
      <p:sp>
        <p:nvSpPr>
          <p:cNvPr id="20" name="text-253"/>
          <p:cNvSpPr txBox="1"/>
          <p:nvPr/>
        </p:nvSpPr>
        <p:spPr>
          <a:xfrm>
            <a:off x="9179357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absence</a:t>
            </a:r>
            <a:endParaRPr lang="en-US" sz="1400" dirty="0"/>
          </a:p>
        </p:txBody>
      </p:sp>
      <p:sp>
        <p:nvSpPr>
          <p:cNvPr id="21" name="text-254"/>
          <p:cNvSpPr txBox="1"/>
          <p:nvPr/>
        </p:nvSpPr>
        <p:spPr>
          <a:xfrm>
            <a:off x="8356397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it in the sidebar, as Requested then Approved. Half-days are supported with AM/PM on the first and last day.</a:t>
            </a:r>
            <a:endParaRPr lang="en-US" sz="1600" dirty="0"/>
          </a:p>
        </p:txBody>
      </p:sp>
      <p:sp>
        <p:nvSpPr>
          <p:cNvPr id="22" name="text-255"/>
          <p:cNvSpPr txBox="1"/>
          <p:nvPr/>
        </p:nvSpPr>
        <p:spPr>
          <a:xfrm>
            <a:off x="548640" y="4648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wins for a given day?</a:t>
            </a:r>
            <a:endParaRPr lang="en-US" sz="1600" dirty="0"/>
          </a:p>
        </p:txBody>
      </p:sp>
      <p:sp>
        <p:nvSpPr>
          <p:cNvPr id="23" name="box-256"/>
          <p:cNvSpPr/>
          <p:nvPr/>
        </p:nvSpPr>
        <p:spPr>
          <a:xfrm>
            <a:off x="548640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137333"/>
          </a:solidFill>
          <a:ln/>
        </p:spPr>
      </p:sp>
      <p:sp>
        <p:nvSpPr>
          <p:cNvPr id="24" name="text-257"/>
          <p:cNvSpPr txBox="1"/>
          <p:nvPr/>
        </p:nvSpPr>
        <p:spPr>
          <a:xfrm>
            <a:off x="548640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entry</a:t>
            </a:r>
            <a:endParaRPr lang="en-US" sz="1600" dirty="0"/>
          </a:p>
        </p:txBody>
      </p:sp>
      <p:sp>
        <p:nvSpPr>
          <p:cNvPr id="25" name="text-258"/>
          <p:cNvSpPr txBox="1"/>
          <p:nvPr/>
        </p:nvSpPr>
        <p:spPr>
          <a:xfrm>
            <a:off x="2979344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box-259"/>
          <p:cNvSpPr/>
          <p:nvPr/>
        </p:nvSpPr>
        <p:spPr>
          <a:xfrm>
            <a:off x="3436544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C5221F"/>
          </a:solidFill>
          <a:ln/>
        </p:spPr>
      </p:sp>
      <p:sp>
        <p:nvSpPr>
          <p:cNvPr id="27" name="text-260"/>
          <p:cNvSpPr txBox="1"/>
          <p:nvPr/>
        </p:nvSpPr>
        <p:spPr>
          <a:xfrm>
            <a:off x="3436544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</a:t>
            </a:r>
            <a:endParaRPr lang="en-US" sz="1600" dirty="0"/>
          </a:p>
        </p:txBody>
      </p:sp>
      <p:sp>
        <p:nvSpPr>
          <p:cNvPr id="28" name="text-261"/>
          <p:cNvSpPr txBox="1"/>
          <p:nvPr/>
        </p:nvSpPr>
        <p:spPr>
          <a:xfrm>
            <a:off x="5867248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box-262"/>
          <p:cNvSpPr/>
          <p:nvPr/>
        </p:nvSpPr>
        <p:spPr>
          <a:xfrm>
            <a:off x="6324448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7500C0"/>
          </a:solidFill>
          <a:ln/>
        </p:spPr>
      </p:sp>
      <p:sp>
        <p:nvSpPr>
          <p:cNvPr id="30" name="text-263"/>
          <p:cNvSpPr txBox="1"/>
          <p:nvPr/>
        </p:nvSpPr>
        <p:spPr>
          <a:xfrm>
            <a:off x="6324448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600" dirty="0"/>
          </a:p>
        </p:txBody>
      </p:sp>
      <p:sp>
        <p:nvSpPr>
          <p:cNvPr id="31" name="text-264"/>
          <p:cNvSpPr txBox="1"/>
          <p:nvPr/>
        </p:nvSpPr>
        <p:spPr>
          <a:xfrm>
            <a:off x="8755151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box-265"/>
          <p:cNvSpPr/>
          <p:nvPr/>
        </p:nvSpPr>
        <p:spPr>
          <a:xfrm>
            <a:off x="9212351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5F6368"/>
          </a:solidFill>
          <a:ln/>
        </p:spPr>
      </p:sp>
      <p:sp>
        <p:nvSpPr>
          <p:cNvPr id="33" name="text-266"/>
          <p:cNvSpPr txBox="1"/>
          <p:nvPr/>
        </p:nvSpPr>
        <p:spPr>
          <a:xfrm>
            <a:off x="9212351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office (OneRoof)</a:t>
            </a:r>
            <a:endParaRPr lang="en-US" sz="1600" dirty="0"/>
          </a:p>
        </p:txBody>
      </p:sp>
      <p:sp>
        <p:nvSpPr>
          <p:cNvPr id="34" name="text-267"/>
          <p:cNvSpPr txBox="1"/>
          <p:nvPr/>
        </p:nvSpPr>
        <p:spPr>
          <a:xfrm>
            <a:off x="548640" y="5791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typed by hand is never overwritten. If you typed a day before your leave was approved, change that day in Weekly Presence.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Presence &amp; Leaves sidebar</a:t>
            </a:r>
            <a:endParaRPr lang="en-US" sz="3200" dirty="0"/>
          </a:p>
        </p:txBody>
      </p:sp>
      <p:sp>
        <p:nvSpPr>
          <p:cNvPr id="3" name="pill-268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69"/>
          <p:cNvSpPr/>
          <p:nvPr/>
        </p:nvSpPr>
        <p:spPr>
          <a:xfrm>
            <a:off x="548640" y="1554480"/>
            <a:ext cx="3246120" cy="41503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box-270"/>
          <p:cNvSpPr/>
          <p:nvPr/>
        </p:nvSpPr>
        <p:spPr>
          <a:xfrm>
            <a:off x="548640" y="155448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3B1E66"/>
          </a:solidFill>
          <a:ln/>
        </p:spPr>
      </p:sp>
      <p:sp>
        <p:nvSpPr>
          <p:cNvPr id="6" name="text-271"/>
          <p:cNvSpPr txBox="1"/>
          <p:nvPr/>
        </p:nvSpPr>
        <p:spPr>
          <a:xfrm>
            <a:off x="73152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Baseline</a:t>
            </a:r>
            <a:endParaRPr lang="en-US" sz="1500" dirty="0"/>
          </a:p>
        </p:txBody>
      </p:sp>
      <p:sp>
        <p:nvSpPr>
          <p:cNvPr id="7" name="text-272"/>
          <p:cNvSpPr txBox="1"/>
          <p:nvPr/>
        </p:nvSpPr>
        <p:spPr>
          <a:xfrm>
            <a:off x="731520" y="2331720"/>
            <a:ext cx="2880360" cy="319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you, pre-selected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Presets: All Office, All Remote, Hybrid (Mon/Fri Remote)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Schedule: one location per weekday, or Split AM / PM; + Weekend Days if you work them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Start Date; End Date optional</a:t>
            </a:r>
            <a:endParaRPr lang="en-US" sz="1500" dirty="0"/>
          </a:p>
          <a:p>
            <a:pPr marL="203200" indent="-2032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Baseline</a:t>
            </a:r>
            <a:endParaRPr lang="en-US" sz="1500" dirty="0"/>
          </a:p>
        </p:txBody>
      </p:sp>
      <p:sp>
        <p:nvSpPr>
          <p:cNvPr id="8" name="box-273"/>
          <p:cNvSpPr/>
          <p:nvPr/>
        </p:nvSpPr>
        <p:spPr>
          <a:xfrm>
            <a:off x="4069080" y="1554480"/>
            <a:ext cx="3246120" cy="41503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box-274"/>
          <p:cNvSpPr/>
          <p:nvPr/>
        </p:nvSpPr>
        <p:spPr>
          <a:xfrm>
            <a:off x="4069080" y="155448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3B1E66"/>
          </a:solidFill>
          <a:ln/>
        </p:spPr>
      </p:sp>
      <p:sp>
        <p:nvSpPr>
          <p:cNvPr id="10" name="text-275"/>
          <p:cNvSpPr txBox="1"/>
          <p:nvPr/>
        </p:nvSpPr>
        <p:spPr>
          <a:xfrm>
            <a:off x="425196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Leave</a:t>
            </a:r>
            <a:endParaRPr lang="en-US" sz="1500" dirty="0"/>
          </a:p>
        </p:txBody>
      </p:sp>
      <p:sp>
        <p:nvSpPr>
          <p:cNvPr id="11" name="text-276"/>
          <p:cNvSpPr txBox="1"/>
          <p:nvPr/>
        </p:nvSpPr>
        <p:spPr>
          <a:xfrm>
            <a:off x="4251960" y="2331720"/>
            <a:ext cx="2880360" cy="250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Type: Vacation, Sick Leave, Maternity/Paternity, Unpaid Leave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End Date, each with AM / PM for half-days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ranges: Today Only, Current Week, Next Week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Requested or Approved</a:t>
            </a:r>
            <a:endParaRPr lang="en-US" sz="1500" dirty="0"/>
          </a:p>
          <a:p>
            <a:pPr marL="203200" indent="-2032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Leave</a:t>
            </a:r>
            <a:endParaRPr lang="en-US" sz="1500" dirty="0"/>
          </a:p>
        </p:txBody>
      </p:sp>
      <p:sp>
        <p:nvSpPr>
          <p:cNvPr id="12" name="text-277"/>
          <p:cNvSpPr txBox="1"/>
          <p:nvPr/>
        </p:nvSpPr>
        <p:spPr>
          <a:xfrm>
            <a:off x="7680960" y="155448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save</a:t>
            </a:r>
            <a:endParaRPr lang="en-US" sz="1600" dirty="0"/>
          </a:p>
        </p:txBody>
      </p:sp>
      <p:sp>
        <p:nvSpPr>
          <p:cNvPr id="13" name="text-278"/>
          <p:cNvSpPr txBox="1"/>
          <p:nvPr/>
        </p:nvSpPr>
        <p:spPr>
          <a:xfrm>
            <a:off x="7680960" y="2011680"/>
            <a:ext cx="3962095" cy="369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keep history.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routine never erases the old one. If dates overlap, the sidebar asks to end the previous routine when the new one starts.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 to Leaves and compiled into the Presence Log at once; your projects' coverage is re-checked.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leave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your presence, but raises an orange coverage warning if it would leave a project uncovered.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locations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offered; retired ones stay valid in history.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computer's local date, so “today” is right after midnight.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Presence: the team's week at a glance</a:t>
            </a:r>
            <a:endParaRPr lang="en-US" sz="3200" dirty="0"/>
          </a:p>
        </p:txBody>
      </p:sp>
      <p:sp>
        <p:nvSpPr>
          <p:cNvPr id="3" name="pill-279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14" name="weekly-presence-mo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922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6868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4673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</a:tr>
              <a:tr h="4673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467360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 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</a:tr>
            </a:tbl>
          </a:graphicData>
        </a:graphic>
      </p:graphicFrame>
      <p:sp>
        <p:nvSpPr>
          <p:cNvPr id="5" name="text-280"/>
          <p:cNvSpPr txBox="1"/>
          <p:nvPr/>
        </p:nvSpPr>
        <p:spPr>
          <a:xfrm>
            <a:off x="548640" y="5852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with sample names</a:t>
            </a:r>
            <a:endParaRPr lang="en-US" sz="1200" dirty="0"/>
          </a:p>
        </p:txBody>
      </p:sp>
      <p:sp>
        <p:nvSpPr>
          <p:cNvPr id="6" name="text-281"/>
          <p:cNvSpPr txBox="1"/>
          <p:nvPr/>
        </p:nvSpPr>
        <p:spPr>
          <a:xfrm>
            <a:off x="7452360" y="1554480"/>
            <a:ext cx="4190695" cy="425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day,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ISO week; each Member has an AM and a PM column.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change a half-day.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saved to the Presence Log straight away; a toast confirms it.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from the current week on, with active locations only. Past weeks are history.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and public holidays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greyed; a holiday's name shows as a note on its date.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Departed Members'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hidden, not deleted; older weeks are folded away.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days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empty until the nightly job fills them on the day, unless someone types them 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people and changing contracts</a:t>
            </a:r>
            <a:endParaRPr lang="en-US" sz="3200" dirty="0"/>
          </a:p>
        </p:txBody>
      </p:sp>
      <p:sp>
        <p:nvSpPr>
          <p:cNvPr id="3" name="pill-282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83"/>
          <p:cNvSpPr/>
          <p:nvPr/>
        </p:nvSpPr>
        <p:spPr>
          <a:xfrm>
            <a:off x="548640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5" name="iconbg-28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2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7" name="text-286"/>
          <p:cNvSpPr txBox="1"/>
          <p:nvPr/>
        </p:nvSpPr>
        <p:spPr>
          <a:xfrm>
            <a:off x="777240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name</a:t>
            </a:r>
            <a:endParaRPr lang="en-US" sz="1700" dirty="0"/>
          </a:p>
        </p:txBody>
      </p:sp>
      <p:sp>
        <p:nvSpPr>
          <p:cNvPr id="8" name="text-287"/>
          <p:cNvSpPr txBox="1"/>
          <p:nvPr/>
        </p:nvSpPr>
        <p:spPr>
          <a:xfrm>
            <a:off x="777240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Members &amp; Contracts, or (admins) type it in an empty Members row</a:t>
            </a:r>
            <a:endParaRPr lang="en-US" sz="1400" dirty="0"/>
          </a:p>
        </p:txBody>
      </p:sp>
      <p:sp>
        <p:nvSpPr>
          <p:cNvPr id="9" name="arrow-288"/>
          <p:cNvSpPr/>
          <p:nvPr/>
        </p:nvSpPr>
        <p:spPr>
          <a:xfrm>
            <a:off x="3043352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0" name="box-289"/>
          <p:cNvSpPr/>
          <p:nvPr/>
        </p:nvSpPr>
        <p:spPr>
          <a:xfrm>
            <a:off x="3436544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11" name="iconbg-290"/>
          <p:cNvSpPr/>
          <p:nvPr/>
        </p:nvSpPr>
        <p:spPr>
          <a:xfrm>
            <a:off x="3665144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2" name="icon-2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45" y="1903781"/>
            <a:ext cx="307238" cy="307238"/>
          </a:xfrm>
          <a:prstGeom prst="rect">
            <a:avLst/>
          </a:prstGeom>
        </p:spPr>
      </p:pic>
      <p:sp>
        <p:nvSpPr>
          <p:cNvPr id="13" name="text-292"/>
          <p:cNvSpPr txBox="1"/>
          <p:nvPr/>
        </p:nvSpPr>
        <p:spPr>
          <a:xfrm>
            <a:off x="3665144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opens</a:t>
            </a:r>
            <a:endParaRPr lang="en-US" sz="1700" dirty="0"/>
          </a:p>
        </p:txBody>
      </p:sp>
      <p:sp>
        <p:nvSpPr>
          <p:cNvPr id="14" name="text-293"/>
          <p:cNvSpPr txBox="1"/>
          <p:nvPr/>
        </p:nvSpPr>
        <p:spPr>
          <a:xfrm>
            <a:off x="3665144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when the name was typed in Members</a:t>
            </a:r>
            <a:endParaRPr lang="en-US" sz="1400" dirty="0"/>
          </a:p>
        </p:txBody>
      </p:sp>
      <p:sp>
        <p:nvSpPr>
          <p:cNvPr id="15" name="arrow-294"/>
          <p:cNvSpPr/>
          <p:nvPr/>
        </p:nvSpPr>
        <p:spPr>
          <a:xfrm>
            <a:off x="5931256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6" name="box-295"/>
          <p:cNvSpPr/>
          <p:nvPr/>
        </p:nvSpPr>
        <p:spPr>
          <a:xfrm>
            <a:off x="6324448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17" name="iconbg-296"/>
          <p:cNvSpPr/>
          <p:nvPr/>
        </p:nvSpPr>
        <p:spPr>
          <a:xfrm>
            <a:off x="6553048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8" name="icon-29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48" y="1903781"/>
            <a:ext cx="307238" cy="307238"/>
          </a:xfrm>
          <a:prstGeom prst="rect">
            <a:avLst/>
          </a:prstGeom>
        </p:spPr>
      </p:pic>
      <p:sp>
        <p:nvSpPr>
          <p:cNvPr id="19" name="text-298"/>
          <p:cNvSpPr txBox="1"/>
          <p:nvPr/>
        </p:nvSpPr>
        <p:spPr>
          <a:xfrm>
            <a:off x="6553048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contract</a:t>
            </a:r>
            <a:endParaRPr lang="en-US" sz="1700" dirty="0"/>
          </a:p>
        </p:txBody>
      </p:sp>
      <p:sp>
        <p:nvSpPr>
          <p:cNvPr id="20" name="text-299"/>
          <p:cNvSpPr txBox="1"/>
          <p:nvPr/>
        </p:nvSpPr>
        <p:spPr>
          <a:xfrm>
            <a:off x="6553048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start, type, FTE %; optional email, phone, birthday</a:t>
            </a:r>
            <a:endParaRPr lang="en-US" sz="1400" dirty="0"/>
          </a:p>
        </p:txBody>
      </p:sp>
      <p:sp>
        <p:nvSpPr>
          <p:cNvPr id="21" name="arrow-300"/>
          <p:cNvSpPr/>
          <p:nvPr/>
        </p:nvSpPr>
        <p:spPr>
          <a:xfrm>
            <a:off x="8819159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2" name="box-301"/>
          <p:cNvSpPr/>
          <p:nvPr/>
        </p:nvSpPr>
        <p:spPr>
          <a:xfrm>
            <a:off x="9212351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23" name="iconbg-302"/>
          <p:cNvSpPr/>
          <p:nvPr/>
        </p:nvSpPr>
        <p:spPr>
          <a:xfrm>
            <a:off x="9440951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24" name="icon-3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652" y="1903781"/>
            <a:ext cx="307238" cy="307238"/>
          </a:xfrm>
          <a:prstGeom prst="rect">
            <a:avLst/>
          </a:prstGeom>
        </p:spPr>
      </p:pic>
      <p:sp>
        <p:nvSpPr>
          <p:cNvPr id="25" name="text-304"/>
          <p:cNvSpPr txBox="1"/>
          <p:nvPr/>
        </p:nvSpPr>
        <p:spPr>
          <a:xfrm>
            <a:off x="9440951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completes</a:t>
            </a:r>
            <a:endParaRPr lang="en-US" sz="1700" dirty="0"/>
          </a:p>
        </p:txBody>
      </p:sp>
      <p:sp>
        <p:nvSpPr>
          <p:cNvPr id="26" name="text-305"/>
          <p:cNvSpPr txBox="1"/>
          <p:nvPr/>
        </p:nvSpPr>
        <p:spPr>
          <a:xfrm>
            <a:off x="9440951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 and Status are filled from the contract</a:t>
            </a:r>
            <a:endParaRPr lang="en-US" sz="1400" dirty="0"/>
          </a:p>
        </p:txBody>
      </p:sp>
      <p:sp>
        <p:nvSpPr>
          <p:cNvPr id="27" name="text-306"/>
          <p:cNvSpPr txBox="1"/>
          <p:nvPr/>
        </p:nvSpPr>
        <p:spPr>
          <a:xfrm>
            <a:off x="548640" y="4145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someone already in the team, the sidebar asks for one action at a time</a:t>
            </a:r>
            <a:endParaRPr lang="en-US" sz="1600" dirty="0"/>
          </a:p>
        </p:txBody>
      </p:sp>
      <p:sp>
        <p:nvSpPr>
          <p:cNvPr id="28" name="box-307"/>
          <p:cNvSpPr/>
          <p:nvPr/>
        </p:nvSpPr>
        <p:spPr>
          <a:xfrm>
            <a:off x="548640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text-308"/>
          <p:cNvSpPr txBox="1"/>
          <p:nvPr/>
        </p:nvSpPr>
        <p:spPr>
          <a:xfrm>
            <a:off x="777240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</a:t>
            </a:r>
            <a:endParaRPr lang="en-US" sz="1600" dirty="0"/>
          </a:p>
        </p:txBody>
      </p:sp>
      <p:sp>
        <p:nvSpPr>
          <p:cNvPr id="30" name="text-309"/>
          <p:cNvSpPr txBox="1"/>
          <p:nvPr/>
        </p:nvSpPr>
        <p:spPr>
          <a:xfrm>
            <a:off x="777240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email, phone and birthday. Birthday is day and month only: type 14/03, March 14 or a date; it is stored as “14 Mar”.</a:t>
            </a:r>
            <a:endParaRPr lang="en-US" sz="1400" dirty="0"/>
          </a:p>
        </p:txBody>
      </p:sp>
      <p:sp>
        <p:nvSpPr>
          <p:cNvPr id="31" name="box-310"/>
          <p:cNvSpPr/>
          <p:nvPr/>
        </p:nvSpPr>
        <p:spPr>
          <a:xfrm>
            <a:off x="4338218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text-311"/>
          <p:cNvSpPr txBox="1"/>
          <p:nvPr/>
        </p:nvSpPr>
        <p:spPr>
          <a:xfrm>
            <a:off x="4566818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contract</a:t>
            </a:r>
            <a:endParaRPr lang="en-US" sz="1600" dirty="0"/>
          </a:p>
        </p:txBody>
      </p:sp>
      <p:sp>
        <p:nvSpPr>
          <p:cNvPr id="33" name="text-312"/>
          <p:cNvSpPr txBox="1"/>
          <p:nvPr/>
        </p:nvSpPr>
        <p:spPr>
          <a:xfrm>
            <a:off x="4566818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when the current contract ends (default: the day before the new start). Overlaps are refused; a gap is allowed and reported.</a:t>
            </a:r>
            <a:endParaRPr lang="en-US" sz="1400" dirty="0"/>
          </a:p>
        </p:txBody>
      </p:sp>
      <p:sp>
        <p:nvSpPr>
          <p:cNvPr id="34" name="box-313"/>
          <p:cNvSpPr/>
          <p:nvPr/>
        </p:nvSpPr>
        <p:spPr>
          <a:xfrm>
            <a:off x="8127797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314"/>
          <p:cNvSpPr txBox="1"/>
          <p:nvPr/>
        </p:nvSpPr>
        <p:spPr>
          <a:xfrm>
            <a:off x="8356397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a contract</a:t>
            </a:r>
            <a:endParaRPr lang="en-US" sz="1600" dirty="0"/>
          </a:p>
        </p:txBody>
      </p:sp>
      <p:sp>
        <p:nvSpPr>
          <p:cNvPr id="36" name="text-315"/>
          <p:cNvSpPr txBox="1"/>
          <p:nvPr/>
        </p:nvSpPr>
        <p:spPr>
          <a:xfrm>
            <a:off x="8356397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end date of one contract. After the last day the person is Departed: hidden in Weekly Presence, excluded from emails.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stay covered, day by day</a:t>
            </a:r>
            <a:endParaRPr lang="en-US" sz="3200" dirty="0"/>
          </a:p>
        </p:txBody>
      </p:sp>
      <p:sp>
        <p:nvSpPr>
          <p:cNvPr id="3" name="pill-316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16" name="table-3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60120"/>
                <a:gridCol w="3108960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PRJ-XXXXX, created on first 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Project, Status, Start, Target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Planning, Active, On Hold, 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chip; changing it asks for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backup; a toast asks for one if empty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charge 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Lead, Name (interim), Name (backup) or Nobody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5" name="box-318"/>
          <p:cNvSpPr/>
          <p:nvPr/>
        </p:nvSpPr>
        <p:spPr>
          <a:xfrm>
            <a:off x="7269480" y="1554480"/>
            <a:ext cx="4373575" cy="1764792"/>
          </a:xfrm>
          <a:prstGeom prst="roundRect">
            <a:avLst>
              <a:gd name="adj" fmla="val 4145"/>
            </a:avLst>
          </a:prstGeom>
          <a:solidFill>
            <a:srgbClr val="FCE8E6"/>
          </a:solidFill>
          <a:ln/>
        </p:spPr>
      </p:sp>
      <p:sp>
        <p:nvSpPr>
          <p:cNvPr id="6" name="iconbg-319"/>
          <p:cNvSpPr/>
          <p:nvPr/>
        </p:nvSpPr>
        <p:spPr>
          <a:xfrm>
            <a:off x="749808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8722" y="1893722"/>
            <a:ext cx="281635" cy="281635"/>
          </a:xfrm>
          <a:prstGeom prst="rect">
            <a:avLst/>
          </a:prstGeom>
        </p:spPr>
      </p:pic>
      <p:sp>
        <p:nvSpPr>
          <p:cNvPr id="8" name="text-321"/>
          <p:cNvSpPr txBox="1"/>
          <p:nvPr/>
        </p:nvSpPr>
        <p:spPr>
          <a:xfrm>
            <a:off x="8183880" y="1886712"/>
            <a:ext cx="323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row: conflict</a:t>
            </a:r>
            <a:endParaRPr lang="en-US" sz="1700" dirty="0"/>
          </a:p>
        </p:txBody>
      </p:sp>
      <p:sp>
        <p:nvSpPr>
          <p:cNvPr id="9" name="text-322"/>
          <p:cNvSpPr txBox="1"/>
          <p:nvPr/>
        </p:nvSpPr>
        <p:spPr>
          <a:xfrm>
            <a:off x="8183880" y="2255520"/>
            <a:ext cx="323057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absences leave a working day uncovered. Email to the lead and a manager, plus an “Organize interim backup” task.</a:t>
            </a:r>
            <a:endParaRPr lang="en-US" sz="1500" dirty="0"/>
          </a:p>
        </p:txBody>
      </p:sp>
      <p:sp>
        <p:nvSpPr>
          <p:cNvPr id="10" name="box-323"/>
          <p:cNvSpPr/>
          <p:nvPr/>
        </p:nvSpPr>
        <p:spPr>
          <a:xfrm>
            <a:off x="7269480" y="3502152"/>
            <a:ext cx="4373575" cy="1283208"/>
          </a:xfrm>
          <a:prstGeom prst="roundRect">
            <a:avLst>
              <a:gd name="adj" fmla="val 5701"/>
            </a:avLst>
          </a:prstGeom>
          <a:solidFill>
            <a:srgbClr val="FDEBD0"/>
          </a:solidFill>
          <a:ln/>
        </p:spPr>
      </p:sp>
      <p:sp>
        <p:nvSpPr>
          <p:cNvPr id="11" name="iconbg-324"/>
          <p:cNvSpPr/>
          <p:nvPr/>
        </p:nvSpPr>
        <p:spPr>
          <a:xfrm>
            <a:off x="7498080" y="37307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3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722" y="3841394"/>
            <a:ext cx="281635" cy="281635"/>
          </a:xfrm>
          <a:prstGeom prst="rect">
            <a:avLst/>
          </a:prstGeom>
        </p:spPr>
      </p:pic>
      <p:sp>
        <p:nvSpPr>
          <p:cNvPr id="13" name="text-326"/>
          <p:cNvSpPr txBox="1"/>
          <p:nvPr/>
        </p:nvSpPr>
        <p:spPr>
          <a:xfrm>
            <a:off x="8183880" y="3834384"/>
            <a:ext cx="323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row: warning</a:t>
            </a:r>
            <a:endParaRPr lang="en-US" sz="1700" dirty="0"/>
          </a:p>
        </p:txBody>
      </p:sp>
      <p:sp>
        <p:nvSpPr>
          <p:cNvPr id="14" name="text-327"/>
          <p:cNvSpPr txBox="1"/>
          <p:nvPr/>
        </p:nvSpPr>
        <p:spPr>
          <a:xfrm>
            <a:off x="8183880" y="4203192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a leave is only Requested. Warning email, no task.</a:t>
            </a:r>
            <a:endParaRPr lang="en-US" sz="1500" dirty="0"/>
          </a:p>
        </p:txBody>
      </p:sp>
      <p:sp>
        <p:nvSpPr>
          <p:cNvPr id="15" name="box-328"/>
          <p:cNvSpPr/>
          <p:nvPr/>
        </p:nvSpPr>
        <p:spPr>
          <a:xfrm>
            <a:off x="548640" y="5105400"/>
            <a:ext cx="11094415" cy="1021080"/>
          </a:xfrm>
          <a:prstGeom prst="roundRect">
            <a:avLst>
              <a:gd name="adj" fmla="val 7164"/>
            </a:avLst>
          </a:prstGeom>
          <a:solidFill>
            <a:srgbClr val="F5F1FA"/>
          </a:solidFill>
          <a:ln/>
        </p:spPr>
      </p:sp>
      <p:sp>
        <p:nvSpPr>
          <p:cNvPr id="16" name="iconbg-329"/>
          <p:cNvSpPr/>
          <p:nvPr/>
        </p:nvSpPr>
        <p:spPr>
          <a:xfrm>
            <a:off x="777240" y="5334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3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5444642"/>
            <a:ext cx="281635" cy="281635"/>
          </a:xfrm>
          <a:prstGeom prst="rect">
            <a:avLst/>
          </a:prstGeom>
        </p:spPr>
      </p:pic>
      <p:sp>
        <p:nvSpPr>
          <p:cNvPr id="18" name="text-331"/>
          <p:cNvSpPr txBox="1"/>
          <p:nvPr/>
        </p:nvSpPr>
        <p:spPr>
          <a:xfrm>
            <a:off x="1463040" y="5437632"/>
            <a:ext cx="99514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“a manager”?</a:t>
            </a:r>
            <a:endParaRPr lang="en-US" sz="1700" dirty="0"/>
          </a:p>
        </p:txBody>
      </p:sp>
      <p:sp>
        <p:nvSpPr>
          <p:cNvPr id="19" name="text-332"/>
          <p:cNvSpPr txBox="1"/>
          <p:nvPr/>
        </p:nvSpPr>
        <p:spPr>
          <a:xfrm>
            <a:off x="1463040" y="5806440"/>
            <a:ext cx="9951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Member whose role contains Manager, Head or Director; if there is none, the account running the check.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a gap with Interim Backups</a:t>
            </a:r>
            <a:endParaRPr lang="en-US" sz="3200" dirty="0"/>
          </a:p>
        </p:txBody>
      </p:sp>
      <p:sp>
        <p:nvSpPr>
          <p:cNvPr id="3" name="pill-333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text-334"/>
          <p:cNvSpPr txBox="1"/>
          <p:nvPr/>
        </p:nvSpPr>
        <p:spPr>
          <a:xfrm>
            <a:off x="548640" y="155448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Project Management → Interim Backups. The sidebar works on one project at a time and re-checks coverage when you save, without sending emails.</a:t>
            </a:r>
            <a:endParaRPr lang="en-US" sz="1600" dirty="0"/>
          </a:p>
        </p:txBody>
      </p:sp>
      <p:sp>
        <p:nvSpPr>
          <p:cNvPr id="5" name="box-335"/>
          <p:cNvSpPr/>
          <p:nvPr/>
        </p:nvSpPr>
        <p:spPr>
          <a:xfrm>
            <a:off x="548640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6" name="iconbg-336"/>
          <p:cNvSpPr/>
          <p:nvPr/>
        </p:nvSpPr>
        <p:spPr>
          <a:xfrm>
            <a:off x="777240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747162"/>
            <a:ext cx="281635" cy="281635"/>
          </a:xfrm>
          <a:prstGeom prst="rect">
            <a:avLst/>
          </a:prstGeom>
        </p:spPr>
      </p:pic>
      <p:sp>
        <p:nvSpPr>
          <p:cNvPr id="8" name="text-338"/>
          <p:cNvSpPr txBox="1"/>
          <p:nvPr/>
        </p:nvSpPr>
        <p:spPr>
          <a:xfrm>
            <a:off x="1463040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Pick the project</a:t>
            </a:r>
            <a:endParaRPr lang="en-US" sz="1700" dirty="0"/>
          </a:p>
        </p:txBody>
      </p:sp>
      <p:sp>
        <p:nvSpPr>
          <p:cNvPr id="9" name="text-339"/>
          <p:cNvSpPr txBox="1"/>
          <p:nvPr/>
        </p:nvSpPr>
        <p:spPr>
          <a:xfrm>
            <a:off x="1463040" y="3368040"/>
            <a:ext cx="2372258" cy="166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its lead and permanent backup.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uncovered periods, in red.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current and planned interim backups.</a:t>
            </a:r>
            <a:endParaRPr lang="en-US" sz="1500" dirty="0"/>
          </a:p>
        </p:txBody>
      </p:sp>
      <p:sp>
        <p:nvSpPr>
          <p:cNvPr id="10" name="box-340"/>
          <p:cNvSpPr/>
          <p:nvPr/>
        </p:nvSpPr>
        <p:spPr>
          <a:xfrm>
            <a:off x="4338218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11" name="iconbg-341"/>
          <p:cNvSpPr/>
          <p:nvPr/>
        </p:nvSpPr>
        <p:spPr>
          <a:xfrm>
            <a:off x="4566818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3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2747162"/>
            <a:ext cx="281635" cy="281635"/>
          </a:xfrm>
          <a:prstGeom prst="rect">
            <a:avLst/>
          </a:prstGeom>
        </p:spPr>
      </p:pic>
      <p:sp>
        <p:nvSpPr>
          <p:cNvPr id="13" name="text-343"/>
          <p:cNvSpPr txBox="1"/>
          <p:nvPr/>
        </p:nvSpPr>
        <p:spPr>
          <a:xfrm>
            <a:off x="5252618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Add a backup</a:t>
            </a:r>
            <a:endParaRPr lang="en-US" sz="1700" dirty="0"/>
          </a:p>
        </p:txBody>
      </p:sp>
      <p:sp>
        <p:nvSpPr>
          <p:cNvPr id="14" name="text-344"/>
          <p:cNvSpPr txBox="1"/>
          <p:nvPr/>
        </p:nvSpPr>
        <p:spPr>
          <a:xfrm>
            <a:off x="5252618" y="3368040"/>
            <a:ext cx="2372258" cy="235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gap: its dates fill in.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person and add notes.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The lead is refused as their own interim; a leave of the chosen person is flagged.</a:t>
            </a:r>
            <a:endParaRPr lang="en-US" sz="1500" dirty="0"/>
          </a:p>
        </p:txBody>
      </p:sp>
      <p:sp>
        <p:nvSpPr>
          <p:cNvPr id="15" name="box-345"/>
          <p:cNvSpPr/>
          <p:nvPr/>
        </p:nvSpPr>
        <p:spPr>
          <a:xfrm>
            <a:off x="8127797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16" name="iconbg-346"/>
          <p:cNvSpPr/>
          <p:nvPr/>
        </p:nvSpPr>
        <p:spPr>
          <a:xfrm>
            <a:off x="8356397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3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2747162"/>
            <a:ext cx="281635" cy="281635"/>
          </a:xfrm>
          <a:prstGeom prst="rect">
            <a:avLst/>
          </a:prstGeom>
        </p:spPr>
      </p:pic>
      <p:sp>
        <p:nvSpPr>
          <p:cNvPr id="18" name="text-348"/>
          <p:cNvSpPr txBox="1"/>
          <p:nvPr/>
        </p:nvSpPr>
        <p:spPr>
          <a:xfrm>
            <a:off x="9042197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Cancel, don't delete</a:t>
            </a:r>
            <a:endParaRPr lang="en-US" sz="1700" dirty="0"/>
          </a:p>
        </p:txBody>
      </p:sp>
      <p:sp>
        <p:nvSpPr>
          <p:cNvPr id="19" name="text-349"/>
          <p:cNvSpPr txBox="1"/>
          <p:nvPr/>
        </p:nvSpPr>
        <p:spPr>
          <a:xfrm>
            <a:off x="9042197" y="3368040"/>
            <a:ext cx="2372258" cy="212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keeps the row with status Cancelled.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stays readable in the hidden Backups tab.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consecutive interim backups can cover a long absence.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and Events connect to Google Tasks and Calendar</a:t>
            </a:r>
            <a:endParaRPr lang="en-US" sz="3200" dirty="0"/>
          </a:p>
        </p:txBody>
      </p:sp>
      <p:sp>
        <p:nvSpPr>
          <p:cNvPr id="3" name="pill-350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351"/>
          <p:cNvSpPr/>
          <p:nvPr/>
        </p:nvSpPr>
        <p:spPr>
          <a:xfrm>
            <a:off x="548640" y="1554480"/>
            <a:ext cx="5410048" cy="4407408"/>
          </a:xfrm>
          <a:prstGeom prst="roundRect">
            <a:avLst>
              <a:gd name="adj" fmla="val 1660"/>
            </a:avLst>
          </a:prstGeom>
          <a:solidFill>
            <a:srgbClr val="F5F1FA"/>
          </a:solidFill>
          <a:ln/>
        </p:spPr>
      </p:sp>
      <p:sp>
        <p:nvSpPr>
          <p:cNvPr id="5" name="iconbg-35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3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354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700" dirty="0"/>
          </a:p>
        </p:txBody>
      </p:sp>
      <p:sp>
        <p:nvSpPr>
          <p:cNvPr id="8" name="text-355"/>
          <p:cNvSpPr txBox="1"/>
          <p:nvPr/>
        </p:nvSpPr>
        <p:spPr>
          <a:xfrm>
            <a:off x="1463040" y="2255520"/>
            <a:ext cx="4267048" cy="367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title: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gets an ID (TSK-YYMMDD-XXXX) and status Todo.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ID, Assigned to, Description, Due date.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Todo, In Progress, Done, Blocked.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“Project Management Tasks” of the account running the sync, for tasks assigned to that account. Completing it there marks the row Done.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is final: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offers to hide the row and create a follow-up task with a new ID.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tasks: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 new Members; “Organize interim backup” for coverage conflicts.</a:t>
            </a:r>
            <a:endParaRPr lang="en-US" sz="1400" dirty="0"/>
          </a:p>
        </p:txBody>
      </p:sp>
      <p:sp>
        <p:nvSpPr>
          <p:cNvPr id="9" name="box-356"/>
          <p:cNvSpPr/>
          <p:nvPr/>
        </p:nvSpPr>
        <p:spPr>
          <a:xfrm>
            <a:off x="6233008" y="1554480"/>
            <a:ext cx="5410048" cy="4407408"/>
          </a:xfrm>
          <a:prstGeom prst="roundRect">
            <a:avLst>
              <a:gd name="adj" fmla="val 1660"/>
            </a:avLst>
          </a:prstGeom>
          <a:solidFill>
            <a:srgbClr val="F5F1FA"/>
          </a:solidFill>
          <a:ln/>
        </p:spPr>
      </p:sp>
      <p:sp>
        <p:nvSpPr>
          <p:cNvPr id="10" name="iconbg-357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3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359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700" dirty="0"/>
          </a:p>
        </p:txBody>
      </p:sp>
      <p:sp>
        <p:nvSpPr>
          <p:cNvPr id="13" name="text-360"/>
          <p:cNvSpPr txBox="1"/>
          <p:nvPr/>
        </p:nvSpPr>
        <p:spPr>
          <a:xfrm>
            <a:off x="7147408" y="2255520"/>
            <a:ext cx="426704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title and a date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date-time is fine): the row gets an ID (EVT-YYMMDD-XXXX) and a Google Calendar event.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minutes, “45m”, “1h” or “1.5 hours” makes a timed slot; empty makes an all-day event.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goes to their calendar when the script can reach it, otherwise to the owner's; a team calendar can also be set.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title, date, duration, location or organizer update the event.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invitations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sent automatically: the organizer invites guests in Calendar.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Workspace lists everything that needs attention</a:t>
            </a:r>
            <a:endParaRPr lang="en-US" sz="3200" dirty="0"/>
          </a:p>
        </p:txBody>
      </p:sp>
      <p:sp>
        <p:nvSpPr>
          <p:cNvPr id="3" name="pill-361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362"/>
          <p:cNvSpPr/>
          <p:nvPr/>
        </p:nvSpPr>
        <p:spPr>
          <a:xfrm>
            <a:off x="548640" y="1554480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5" name="icon-3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77271"/>
            <a:ext cx="329184" cy="329184"/>
          </a:xfrm>
          <a:prstGeom prst="rect">
            <a:avLst/>
          </a:prstGeom>
        </p:spPr>
      </p:pic>
      <p:sp>
        <p:nvSpPr>
          <p:cNvPr id="6" name="text-364"/>
          <p:cNvSpPr txBox="1"/>
          <p:nvPr/>
        </p:nvSpPr>
        <p:spPr>
          <a:xfrm>
            <a:off x="1234440" y="1554480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without a contract</a:t>
            </a:r>
            <a:endParaRPr lang="en-US" sz="1500" dirty="0"/>
          </a:p>
        </p:txBody>
      </p:sp>
      <p:sp>
        <p:nvSpPr>
          <p:cNvPr id="7" name="text-365"/>
          <p:cNvSpPr txBox="1"/>
          <p:nvPr/>
        </p:nvSpPr>
        <p:spPr>
          <a:xfrm>
            <a:off x="5897880" y="1554480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Members &amp; Contracts</a:t>
            </a:r>
            <a:endParaRPr lang="en-US" sz="1400" dirty="0"/>
          </a:p>
        </p:txBody>
      </p:sp>
      <p:sp>
        <p:nvSpPr>
          <p:cNvPr id="8" name="box-366"/>
          <p:cNvSpPr/>
          <p:nvPr/>
        </p:nvSpPr>
        <p:spPr>
          <a:xfrm>
            <a:off x="548640" y="2220686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9" name="icon-3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43477"/>
            <a:ext cx="329184" cy="329184"/>
          </a:xfrm>
          <a:prstGeom prst="rect">
            <a:avLst/>
          </a:prstGeom>
        </p:spPr>
      </p:pic>
      <p:sp>
        <p:nvSpPr>
          <p:cNvPr id="10" name="text-368"/>
          <p:cNvSpPr txBox="1"/>
          <p:nvPr/>
        </p:nvSpPr>
        <p:spPr>
          <a:xfrm>
            <a:off x="1234440" y="2220686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projects without a backup</a:t>
            </a:r>
            <a:endParaRPr lang="en-US" sz="1500" dirty="0"/>
          </a:p>
        </p:txBody>
      </p:sp>
      <p:sp>
        <p:nvSpPr>
          <p:cNvPr id="11" name="text-369"/>
          <p:cNvSpPr txBox="1"/>
          <p:nvPr/>
        </p:nvSpPr>
        <p:spPr>
          <a:xfrm>
            <a:off x="5897880" y="2220686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Projects tab</a:t>
            </a:r>
            <a:endParaRPr lang="en-US" sz="1400" dirty="0"/>
          </a:p>
        </p:txBody>
      </p:sp>
      <p:sp>
        <p:nvSpPr>
          <p:cNvPr id="12" name="box-370"/>
          <p:cNvSpPr/>
          <p:nvPr/>
        </p:nvSpPr>
        <p:spPr>
          <a:xfrm>
            <a:off x="548640" y="2886891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13" name="icon-3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9682"/>
            <a:ext cx="329184" cy="329184"/>
          </a:xfrm>
          <a:prstGeom prst="rect">
            <a:avLst/>
          </a:prstGeom>
        </p:spPr>
      </p:pic>
      <p:sp>
        <p:nvSpPr>
          <p:cNvPr id="14" name="text-372"/>
          <p:cNvSpPr txBox="1"/>
          <p:nvPr/>
        </p:nvSpPr>
        <p:spPr>
          <a:xfrm>
            <a:off x="1234440" y="2886891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conflicts and warnings</a:t>
            </a:r>
            <a:endParaRPr lang="en-US" sz="1500" dirty="0"/>
          </a:p>
        </p:txBody>
      </p:sp>
      <p:sp>
        <p:nvSpPr>
          <p:cNvPr id="15" name="text-373"/>
          <p:cNvSpPr txBox="1"/>
          <p:nvPr/>
        </p:nvSpPr>
        <p:spPr>
          <a:xfrm>
            <a:off x="5897880" y="2886891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Interim Backups</a:t>
            </a:r>
            <a:endParaRPr lang="en-US" sz="1400" dirty="0"/>
          </a:p>
        </p:txBody>
      </p:sp>
      <p:sp>
        <p:nvSpPr>
          <p:cNvPr id="16" name="box-374"/>
          <p:cNvSpPr/>
          <p:nvPr/>
        </p:nvSpPr>
        <p:spPr>
          <a:xfrm>
            <a:off x="548640" y="3553097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7" name="icon-3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75888"/>
            <a:ext cx="329184" cy="329184"/>
          </a:xfrm>
          <a:prstGeom prst="rect">
            <a:avLst/>
          </a:prstGeom>
        </p:spPr>
      </p:pic>
      <p:sp>
        <p:nvSpPr>
          <p:cNvPr id="18" name="text-376"/>
          <p:cNvSpPr txBox="1"/>
          <p:nvPr/>
        </p:nvSpPr>
        <p:spPr>
          <a:xfrm>
            <a:off x="1234440" y="3553097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leaving within 30 days who lead, back up or own tasks</a:t>
            </a:r>
            <a:endParaRPr lang="en-US" sz="1500" dirty="0"/>
          </a:p>
        </p:txBody>
      </p:sp>
      <p:sp>
        <p:nvSpPr>
          <p:cNvPr id="19" name="text-377"/>
          <p:cNvSpPr txBox="1"/>
          <p:nvPr/>
        </p:nvSpPr>
        <p:spPr>
          <a:xfrm>
            <a:off x="5897880" y="3553097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Members &amp; Contracts</a:t>
            </a:r>
            <a:endParaRPr lang="en-US" sz="1400" dirty="0"/>
          </a:p>
        </p:txBody>
      </p:sp>
      <p:sp>
        <p:nvSpPr>
          <p:cNvPr id="20" name="box-378"/>
          <p:cNvSpPr/>
          <p:nvPr/>
        </p:nvSpPr>
        <p:spPr>
          <a:xfrm>
            <a:off x="548640" y="4219303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21" name="icon-37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42094"/>
            <a:ext cx="329184" cy="329184"/>
          </a:xfrm>
          <a:prstGeom prst="rect">
            <a:avLst/>
          </a:prstGeom>
        </p:spPr>
      </p:pic>
      <p:sp>
        <p:nvSpPr>
          <p:cNvPr id="22" name="text-380"/>
          <p:cNvSpPr txBox="1"/>
          <p:nvPr/>
        </p:nvSpPr>
        <p:spPr>
          <a:xfrm>
            <a:off x="1234440" y="4219303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not logged today</a:t>
            </a:r>
            <a:endParaRPr lang="en-US" sz="1500" dirty="0"/>
          </a:p>
        </p:txBody>
      </p:sp>
      <p:sp>
        <p:nvSpPr>
          <p:cNvPr id="23" name="text-381"/>
          <p:cNvSpPr txBox="1"/>
          <p:nvPr/>
        </p:nvSpPr>
        <p:spPr>
          <a:xfrm>
            <a:off x="5897880" y="4219303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Declare Presence</a:t>
            </a:r>
            <a:endParaRPr lang="en-US" sz="1400" dirty="0"/>
          </a:p>
        </p:txBody>
      </p:sp>
      <p:sp>
        <p:nvSpPr>
          <p:cNvPr id="24" name="box-382"/>
          <p:cNvSpPr/>
          <p:nvPr/>
        </p:nvSpPr>
        <p:spPr>
          <a:xfrm>
            <a:off x="548640" y="4885509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5" name="icon-38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008299"/>
            <a:ext cx="329184" cy="329184"/>
          </a:xfrm>
          <a:prstGeom prst="rect">
            <a:avLst/>
          </a:prstGeom>
        </p:spPr>
      </p:pic>
      <p:sp>
        <p:nvSpPr>
          <p:cNvPr id="26" name="text-384"/>
          <p:cNvSpPr txBox="1"/>
          <p:nvPr/>
        </p:nvSpPr>
        <p:spPr>
          <a:xfrm>
            <a:off x="1234440" y="4885509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days this week</a:t>
            </a:r>
            <a:endParaRPr lang="en-US" sz="1500" dirty="0"/>
          </a:p>
        </p:txBody>
      </p:sp>
      <p:sp>
        <p:nvSpPr>
          <p:cNvPr id="27" name="text-385"/>
          <p:cNvSpPr txBox="1"/>
          <p:nvPr/>
        </p:nvSpPr>
        <p:spPr>
          <a:xfrm>
            <a:off x="5897880" y="4885509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Declare Presence</a:t>
            </a:r>
            <a:endParaRPr lang="en-US" sz="1400" dirty="0"/>
          </a:p>
        </p:txBody>
      </p:sp>
      <p:sp>
        <p:nvSpPr>
          <p:cNvPr id="28" name="box-386"/>
          <p:cNvSpPr/>
          <p:nvPr/>
        </p:nvSpPr>
        <p:spPr>
          <a:xfrm>
            <a:off x="548640" y="5551714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29" name="icon-38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4505"/>
            <a:ext cx="329184" cy="329184"/>
          </a:xfrm>
          <a:prstGeom prst="rect">
            <a:avLst/>
          </a:prstGeom>
        </p:spPr>
      </p:pic>
      <p:sp>
        <p:nvSpPr>
          <p:cNvPr id="30" name="text-388"/>
          <p:cNvSpPr txBox="1"/>
          <p:nvPr/>
        </p:nvSpPr>
        <p:spPr>
          <a:xfrm>
            <a:off x="1234440" y="5551714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Presence Log rows</a:t>
            </a:r>
            <a:endParaRPr lang="en-US" sz="1500" dirty="0"/>
          </a:p>
        </p:txBody>
      </p:sp>
      <p:sp>
        <p:nvSpPr>
          <p:cNvPr id="31" name="text-389"/>
          <p:cNvSpPr txBox="1"/>
          <p:nvPr/>
        </p:nvSpPr>
        <p:spPr>
          <a:xfrm>
            <a:off x="5897880" y="5551714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 duplicates</a:t>
            </a:r>
            <a:endParaRPr lang="en-US" sz="1400" dirty="0"/>
          </a:p>
        </p:txBody>
      </p:sp>
      <p:sp>
        <p:nvSpPr>
          <p:cNvPr id="32" name="box-390"/>
          <p:cNvSpPr/>
          <p:nvPr/>
        </p:nvSpPr>
        <p:spPr>
          <a:xfrm>
            <a:off x="8503920" y="1554480"/>
            <a:ext cx="3139135" cy="4572000"/>
          </a:xfrm>
          <a:prstGeom prst="roundRect">
            <a:avLst>
              <a:gd name="adj" fmla="val 2330"/>
            </a:avLst>
          </a:prstGeom>
          <a:solidFill>
            <a:srgbClr val="3B1E66"/>
          </a:solidFill>
          <a:ln/>
        </p:spPr>
      </p:sp>
      <p:sp>
        <p:nvSpPr>
          <p:cNvPr id="33" name="text-391"/>
          <p:cNvSpPr txBox="1"/>
          <p:nvPr/>
        </p:nvSpPr>
        <p:spPr>
          <a:xfrm>
            <a:off x="8732520" y="17830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</a:t>
            </a:r>
            <a:endParaRPr lang="en-US" sz="1800" dirty="0"/>
          </a:p>
        </p:txBody>
      </p:sp>
      <p:sp>
        <p:nvSpPr>
          <p:cNvPr id="34" name="text-392"/>
          <p:cNvSpPr txBox="1"/>
          <p:nvPr/>
        </p:nvSpPr>
        <p:spPr>
          <a:xfrm>
            <a:off x="8732520" y="2331720"/>
            <a:ext cx="268193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from the menu: the dialog appears at once with “Checking…”, the report follows in about 25 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links to the place that fixes it.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reports: no email or task is created.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“Check again” after fixing.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the system sends</a:t>
            </a:r>
            <a:endParaRPr lang="en-US" sz="3200" dirty="0"/>
          </a:p>
        </p:txBody>
      </p:sp>
      <p:sp>
        <p:nvSpPr>
          <p:cNvPr id="3" name="pill-393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20" name="table-3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017520"/>
                <a:gridCol w="34134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reminder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8:00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active Member with an undeclared day this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days to declare and a link to Weekly Presence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 reminder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on the working day 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active Member with an email, except the person celebrated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birthdays, an “Add to my Google Calendar” link and a link to subscribe to Team Birthdays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conflict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check (edit, leave declaration, nightly) finds a new uncovered 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and a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Uncovered periods and the reason; an “Organize interim backup” task is also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warning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when a Requested leave is involved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and a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periods at risk; no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39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1FA"/>
          </a:solidFill>
          <a:ln/>
        </p:spPr>
      </p:sp>
      <p:sp>
        <p:nvSpPr>
          <p:cNvPr id="6" name="iconbg-396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5231282"/>
            <a:ext cx="281635" cy="281635"/>
          </a:xfrm>
          <a:prstGeom prst="rect">
            <a:avLst/>
          </a:prstGeom>
        </p:spPr>
      </p:pic>
      <p:sp>
        <p:nvSpPr>
          <p:cNvPr id="8" name="text-398"/>
          <p:cNvSpPr txBox="1"/>
          <p:nvPr/>
        </p:nvSpPr>
        <p:spPr>
          <a:xfrm>
            <a:off x="1463040" y="5224272"/>
            <a:ext cx="99514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sends them</a:t>
            </a:r>
            <a:endParaRPr lang="en-US" sz="1700" dirty="0"/>
          </a:p>
        </p:txBody>
      </p:sp>
      <p:sp>
        <p:nvSpPr>
          <p:cNvPr id="9" name="text-399"/>
          <p:cNvSpPr txBox="1"/>
          <p:nvPr/>
        </p:nvSpPr>
        <p:spPr>
          <a:xfrm>
            <a:off x="1463040" y="5593080"/>
            <a:ext cx="9951415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emails and calendar changes come from the Google account that owns the triggers (the sheet owner). Members without an email address are logged, not emailed. A Member is “active” while a contract covers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habits</a:t>
            </a:r>
            <a:endParaRPr lang="en-US" sz="3200" dirty="0"/>
          </a:p>
        </p:txBody>
      </p:sp>
      <p:sp>
        <p:nvSpPr>
          <p:cNvPr id="3" name="pill-400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401"/>
          <p:cNvSpPr/>
          <p:nvPr/>
        </p:nvSpPr>
        <p:spPr>
          <a:xfrm>
            <a:off x="548640" y="1554480"/>
            <a:ext cx="5410048" cy="4453128"/>
          </a:xfrm>
          <a:prstGeom prst="roundRect">
            <a:avLst>
              <a:gd name="adj" fmla="val 1643"/>
            </a:avLst>
          </a:prstGeom>
          <a:solidFill>
            <a:srgbClr val="E6F4EA"/>
          </a:solidFill>
          <a:ln/>
        </p:spPr>
      </p:sp>
      <p:sp>
        <p:nvSpPr>
          <p:cNvPr id="5" name="iconbg-40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4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404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700" dirty="0"/>
          </a:p>
        </p:txBody>
      </p:sp>
      <p:sp>
        <p:nvSpPr>
          <p:cNvPr id="8" name="text-405"/>
          <p:cNvSpPr txBox="1"/>
          <p:nvPr/>
        </p:nvSpPr>
        <p:spPr>
          <a:xfrm>
            <a:off x="1463040" y="2255520"/>
            <a:ext cx="4267048" cy="334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routine once; then only type the exceptions.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leave as Requested as soon as you know, then switch it to Approved.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project a permanent backup.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or cancel things instead of deleting rows, so history stays readable.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sidebar when unsure: it checks dates and overlaps before writing.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 Workspace before your weekly meeting.</a:t>
            </a:r>
            <a:endParaRPr lang="en-US" sz="1600" dirty="0"/>
          </a:p>
        </p:txBody>
      </p:sp>
      <p:sp>
        <p:nvSpPr>
          <p:cNvPr id="9" name="box-406"/>
          <p:cNvSpPr/>
          <p:nvPr/>
        </p:nvSpPr>
        <p:spPr>
          <a:xfrm>
            <a:off x="6233008" y="1554480"/>
            <a:ext cx="5410048" cy="4453128"/>
          </a:xfrm>
          <a:prstGeom prst="roundRect">
            <a:avLst>
              <a:gd name="adj" fmla="val 1643"/>
            </a:avLst>
          </a:prstGeom>
          <a:solidFill>
            <a:srgbClr val="FCE8E6"/>
          </a:solidFill>
          <a:ln/>
        </p:spPr>
      </p:sp>
      <p:sp>
        <p:nvSpPr>
          <p:cNvPr id="10" name="iconbg-407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4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409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700" dirty="0"/>
          </a:p>
        </p:txBody>
      </p:sp>
      <p:sp>
        <p:nvSpPr>
          <p:cNvPr id="13" name="text-410"/>
          <p:cNvSpPr txBox="1"/>
          <p:nvPr/>
        </p:nvSpPr>
        <p:spPr>
          <a:xfrm>
            <a:off x="7147408" y="2255520"/>
            <a:ext cx="4267048" cy="371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over system columns (IDs, Role, Department, Status, Today, In charge today): the next sync rewrites them.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 day in Weekly Presence for a period you will be on leave: hand entries win over leaves.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renaming or deleting columns: the schema is fixed; changes go through the maintainer.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rows in hidden tabs: end, cancel or mark them instead.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mobile app: menus and sidebars are desktop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41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it up</a:t>
            </a:r>
            <a:endParaRPr lang="en-US" sz="4400" dirty="0"/>
          </a:p>
        </p:txBody>
      </p:sp>
      <p:sp>
        <p:nvSpPr>
          <p:cNvPr id="4" name="text-412"/>
          <p:cNvSpPr txBox="1"/>
          <p:nvPr/>
        </p:nvSpPr>
        <p:spPr>
          <a:xfrm>
            <a:off x="731520" y="28651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administrators. One Library holds all the code; each team sheet carries a thin wrapper that points to it.</a:t>
            </a:r>
            <a:endParaRPr lang="en-US" sz="1800" dirty="0"/>
          </a:p>
        </p:txBody>
      </p:sp>
      <p:sp>
        <p:nvSpPr>
          <p:cNvPr id="5" name="box-413"/>
          <p:cNvSpPr/>
          <p:nvPr/>
        </p:nvSpPr>
        <p:spPr>
          <a:xfrm>
            <a:off x="7680960" y="1325880"/>
            <a:ext cx="3959352" cy="3759200"/>
          </a:xfrm>
          <a:prstGeom prst="roundRect">
            <a:avLst>
              <a:gd name="adj" fmla="val 1459"/>
            </a:avLst>
          </a:prstGeom>
          <a:solidFill>
            <a:srgbClr val="2A2640"/>
          </a:solidFill>
          <a:ln/>
        </p:spPr>
      </p:sp>
      <p:sp>
        <p:nvSpPr>
          <p:cNvPr id="6" name="text-41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415"/>
          <p:cNvSpPr txBox="1"/>
          <p:nvPr/>
        </p:nvSpPr>
        <p:spPr>
          <a:xfrm>
            <a:off x="8001000" y="2103120"/>
            <a:ext cx="329184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distributed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seven steps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Initialize / Upgrade does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for your team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settings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the owner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and rolling 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Library, many team sheets</a:t>
            </a:r>
            <a:endParaRPr lang="en-US" sz="3200" dirty="0"/>
          </a:p>
        </p:txBody>
      </p:sp>
      <p:sp>
        <p:nvSpPr>
          <p:cNvPr id="3" name="pill-416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17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3B1E66"/>
          </a:solidFill>
          <a:ln/>
        </p:spPr>
      </p:sp>
      <p:sp>
        <p:nvSpPr>
          <p:cNvPr id="5" name="iconbg-418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4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69618"/>
            <a:ext cx="358445" cy="358445"/>
          </a:xfrm>
          <a:prstGeom prst="rect">
            <a:avLst/>
          </a:prstGeom>
        </p:spPr>
      </p:pic>
      <p:sp>
        <p:nvSpPr>
          <p:cNvPr id="7" name="text-420"/>
          <p:cNvSpPr txBox="1"/>
          <p:nvPr/>
        </p:nvSpPr>
        <p:spPr>
          <a:xfrm>
            <a:off x="82296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WorkspaceTM Library</a:t>
            </a:r>
            <a:endParaRPr lang="en-US" sz="2000" dirty="0"/>
          </a:p>
        </p:txBody>
      </p:sp>
      <p:sp>
        <p:nvSpPr>
          <p:cNvPr id="8" name="text-421"/>
          <p:cNvSpPr txBox="1"/>
          <p:nvPr/>
        </p:nvSpPr>
        <p:spPr>
          <a:xfrm>
            <a:off x="822960" y="3154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Apps Script project with all the logic: schema, sync, presence, coverage, Google Tasks, Calendar, emails and sidebars.</a:t>
            </a:r>
            <a:endParaRPr lang="en-US" sz="1600" dirty="0"/>
          </a:p>
        </p:txBody>
      </p:sp>
      <p:sp>
        <p:nvSpPr>
          <p:cNvPr id="9" name="text-422"/>
          <p:cNvSpPr txBox="1"/>
          <p:nvPr/>
        </p:nvSpPr>
        <p:spPr>
          <a:xfrm>
            <a:off x="82296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src/ in the repository, pushed with clasp</a:t>
            </a:r>
            <a:endParaRPr lang="en-US" sz="1300" dirty="0"/>
          </a:p>
        </p:txBody>
      </p:sp>
      <p:sp>
        <p:nvSpPr>
          <p:cNvPr id="10" name="box-423"/>
          <p:cNvSpPr/>
          <p:nvPr/>
        </p:nvSpPr>
        <p:spPr>
          <a:xfrm>
            <a:off x="5120640" y="155448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11" name="icon-4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28800"/>
            <a:ext cx="411480" cy="411480"/>
          </a:xfrm>
          <a:prstGeom prst="rect">
            <a:avLst/>
          </a:prstGeom>
        </p:spPr>
      </p:pic>
      <p:sp>
        <p:nvSpPr>
          <p:cNvPr id="12" name="text-425"/>
          <p:cNvSpPr txBox="1"/>
          <p:nvPr/>
        </p:nvSpPr>
        <p:spPr>
          <a:xfrm>
            <a:off x="58978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A</a:t>
            </a:r>
            <a:endParaRPr lang="en-US" sz="1700" dirty="0"/>
          </a:p>
        </p:txBody>
      </p:sp>
      <p:sp>
        <p:nvSpPr>
          <p:cNvPr id="13" name="text-426"/>
          <p:cNvSpPr txBox="1"/>
          <p:nvPr/>
        </p:nvSpPr>
        <p:spPr>
          <a:xfrm>
            <a:off x="53492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14" name="arrow-427"/>
          <p:cNvSpPr/>
          <p:nvPr/>
        </p:nvSpPr>
        <p:spPr>
          <a:xfrm>
            <a:off x="5074920" y="222504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5" name="box-428"/>
          <p:cNvSpPr/>
          <p:nvPr/>
        </p:nvSpPr>
        <p:spPr>
          <a:xfrm>
            <a:off x="5120640" y="316992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16" name="icon-4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444240"/>
            <a:ext cx="411480" cy="411480"/>
          </a:xfrm>
          <a:prstGeom prst="rect">
            <a:avLst/>
          </a:prstGeom>
        </p:spPr>
      </p:pic>
      <p:sp>
        <p:nvSpPr>
          <p:cNvPr id="17" name="text-430"/>
          <p:cNvSpPr txBox="1"/>
          <p:nvPr/>
        </p:nvSpPr>
        <p:spPr>
          <a:xfrm>
            <a:off x="5897880" y="3444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B</a:t>
            </a:r>
            <a:endParaRPr lang="en-US" sz="1700" dirty="0"/>
          </a:p>
        </p:txBody>
      </p:sp>
      <p:sp>
        <p:nvSpPr>
          <p:cNvPr id="18" name="text-431"/>
          <p:cNvSpPr txBox="1"/>
          <p:nvPr/>
        </p:nvSpPr>
        <p:spPr>
          <a:xfrm>
            <a:off x="5349240" y="403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19" name="arrow-432"/>
          <p:cNvSpPr/>
          <p:nvPr/>
        </p:nvSpPr>
        <p:spPr>
          <a:xfrm>
            <a:off x="5074920" y="384048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0" name="box-433"/>
          <p:cNvSpPr/>
          <p:nvPr/>
        </p:nvSpPr>
        <p:spPr>
          <a:xfrm>
            <a:off x="5120640" y="478536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21" name="icon-4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059680"/>
            <a:ext cx="411480" cy="411480"/>
          </a:xfrm>
          <a:prstGeom prst="rect">
            <a:avLst/>
          </a:prstGeom>
        </p:spPr>
      </p:pic>
      <p:sp>
        <p:nvSpPr>
          <p:cNvPr id="22" name="text-435"/>
          <p:cNvSpPr txBox="1"/>
          <p:nvPr/>
        </p:nvSpPr>
        <p:spPr>
          <a:xfrm>
            <a:off x="5897880" y="5059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C</a:t>
            </a:r>
            <a:endParaRPr lang="en-US" sz="1700" dirty="0"/>
          </a:p>
        </p:txBody>
      </p:sp>
      <p:sp>
        <p:nvSpPr>
          <p:cNvPr id="23" name="text-436"/>
          <p:cNvSpPr txBox="1"/>
          <p:nvPr/>
        </p:nvSpPr>
        <p:spPr>
          <a:xfrm>
            <a:off x="5349240" y="5654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24" name="arrow-437"/>
          <p:cNvSpPr/>
          <p:nvPr/>
        </p:nvSpPr>
        <p:spPr>
          <a:xfrm>
            <a:off x="5074920" y="545592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5" name="text-438"/>
          <p:cNvSpPr txBox="1"/>
          <p:nvPr/>
        </p:nvSpPr>
        <p:spPr>
          <a:xfrm>
            <a:off x="8275320" y="155448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built this way</a:t>
            </a:r>
            <a:endParaRPr lang="en-US" sz="1600" dirty="0"/>
          </a:p>
        </p:txBody>
      </p:sp>
      <p:sp>
        <p:nvSpPr>
          <p:cNvPr id="26" name="text-439"/>
          <p:cNvSpPr txBox="1"/>
          <p:nvPr/>
        </p:nvSpPr>
        <p:spPr>
          <a:xfrm>
            <a:off x="8275320" y="2011680"/>
            <a:ext cx="3367735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once: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change reaches every sheet.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wrapper: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triggers and sidebar forwarders only.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sheet uses a numbered version, or development mode (HEAD) while testing.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upgrades: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never deleted by an upgrade.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3200" dirty="0"/>
          </a:p>
        </p:txBody>
      </p:sp>
      <p:sp>
        <p:nvSpPr>
          <p:cNvPr id="3" name="pill-440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41"/>
          <p:cNvSpPr/>
          <p:nvPr/>
        </p:nvSpPr>
        <p:spPr>
          <a:xfrm>
            <a:off x="548640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5" name="iconbg-44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4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444"/>
          <p:cNvSpPr txBox="1"/>
          <p:nvPr/>
        </p:nvSpPr>
        <p:spPr>
          <a:xfrm>
            <a:off x="1463040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 account</a:t>
            </a:r>
            <a:endParaRPr lang="en-US" sz="1700" dirty="0"/>
          </a:p>
        </p:txBody>
      </p:sp>
      <p:sp>
        <p:nvSpPr>
          <p:cNvPr id="8" name="text-445"/>
          <p:cNvSpPr txBox="1"/>
          <p:nvPr/>
        </p:nvSpPr>
        <p:spPr>
          <a:xfrm>
            <a:off x="1463040" y="2514600"/>
            <a:ext cx="2372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that owns the sheet also owns the triggers. Emails, calendar updates and nightly runs happen as this account.</a:t>
            </a:r>
            <a:endParaRPr lang="en-US" sz="1500" dirty="0"/>
          </a:p>
        </p:txBody>
      </p:sp>
      <p:sp>
        <p:nvSpPr>
          <p:cNvPr id="9" name="box-446"/>
          <p:cNvSpPr/>
          <p:nvPr/>
        </p:nvSpPr>
        <p:spPr>
          <a:xfrm>
            <a:off x="4338218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10" name="iconbg-447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4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449"/>
          <p:cNvSpPr txBox="1"/>
          <p:nvPr/>
        </p:nvSpPr>
        <p:spPr>
          <a:xfrm>
            <a:off x="5252618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access</a:t>
            </a:r>
            <a:endParaRPr lang="en-US" sz="1700" dirty="0"/>
          </a:p>
        </p:txBody>
      </p:sp>
      <p:sp>
        <p:nvSpPr>
          <p:cNvPr id="13" name="text-450"/>
          <p:cNvSpPr txBox="1"/>
          <p:nvPr/>
        </p:nvSpPr>
        <p:spPr>
          <a:xfrm>
            <a:off x="5252618" y="251460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Library's Script ID and at least view access to the Library project.</a:t>
            </a:r>
            <a:endParaRPr lang="en-US" sz="1500" dirty="0"/>
          </a:p>
        </p:txBody>
      </p:sp>
      <p:sp>
        <p:nvSpPr>
          <p:cNvPr id="14" name="box-451"/>
          <p:cNvSpPr/>
          <p:nvPr/>
        </p:nvSpPr>
        <p:spPr>
          <a:xfrm>
            <a:off x="8127797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15" name="iconbg-452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4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454"/>
          <p:cNvSpPr txBox="1"/>
          <p:nvPr/>
        </p:nvSpPr>
        <p:spPr>
          <a:xfrm>
            <a:off x="9042197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advanced services</a:t>
            </a:r>
            <a:endParaRPr lang="en-US" sz="1700" dirty="0"/>
          </a:p>
        </p:txBody>
      </p:sp>
      <p:sp>
        <p:nvSpPr>
          <p:cNvPr id="18" name="text-455"/>
          <p:cNvSpPr txBox="1"/>
          <p:nvPr/>
        </p:nvSpPr>
        <p:spPr>
          <a:xfrm>
            <a:off x="9042197" y="251460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v4 (native tables), Google Tasks API v1, Google Calendar API v3.</a:t>
            </a:r>
            <a:endParaRPr lang="en-US" sz="1500" dirty="0"/>
          </a:p>
        </p:txBody>
      </p:sp>
      <p:sp>
        <p:nvSpPr>
          <p:cNvPr id="19" name="box-456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0" name="iconbg-457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-4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316882"/>
            <a:ext cx="281635" cy="281635"/>
          </a:xfrm>
          <a:prstGeom prst="rect">
            <a:avLst/>
          </a:prstGeom>
        </p:spPr>
      </p:pic>
      <p:sp>
        <p:nvSpPr>
          <p:cNvPr id="22" name="text-459"/>
          <p:cNvSpPr txBox="1"/>
          <p:nvPr/>
        </p:nvSpPr>
        <p:spPr>
          <a:xfrm>
            <a:off x="1463040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accounts</a:t>
            </a:r>
            <a:endParaRPr lang="en-US" sz="1700" dirty="0"/>
          </a:p>
        </p:txBody>
      </p:sp>
      <p:sp>
        <p:nvSpPr>
          <p:cNvPr id="23" name="text-460"/>
          <p:cNvSpPr txBox="1"/>
          <p:nvPr/>
        </p:nvSpPr>
        <p:spPr>
          <a:xfrm>
            <a:off x="1463040" y="467868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chips identify Members. Addresses without a Google account can be stored but not chipped.</a:t>
            </a:r>
            <a:endParaRPr lang="en-US" sz="1500" dirty="0"/>
          </a:p>
        </p:txBody>
      </p:sp>
      <p:sp>
        <p:nvSpPr>
          <p:cNvPr id="24" name="box-461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5" name="iconbg-462"/>
          <p:cNvSpPr/>
          <p:nvPr/>
        </p:nvSpPr>
        <p:spPr>
          <a:xfrm>
            <a:off x="4566818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con-4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316882"/>
            <a:ext cx="281635" cy="281635"/>
          </a:xfrm>
          <a:prstGeom prst="rect">
            <a:avLst/>
          </a:prstGeom>
        </p:spPr>
      </p:pic>
      <p:sp>
        <p:nvSpPr>
          <p:cNvPr id="27" name="text-464"/>
          <p:cNvSpPr txBox="1"/>
          <p:nvPr/>
        </p:nvSpPr>
        <p:spPr>
          <a:xfrm>
            <a:off x="5252618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desktop browser</a:t>
            </a:r>
            <a:endParaRPr lang="en-US" sz="1700" dirty="0"/>
          </a:p>
        </p:txBody>
      </p:sp>
      <p:sp>
        <p:nvSpPr>
          <p:cNvPr id="28" name="text-465"/>
          <p:cNvSpPr txBox="1"/>
          <p:nvPr/>
        </p:nvSpPr>
        <p:spPr>
          <a:xfrm>
            <a:off x="5252618" y="467868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sidebars and dialogs do not exist in the Sheets mobile apps.</a:t>
            </a:r>
            <a:endParaRPr lang="en-US" sz="1500" dirty="0"/>
          </a:p>
        </p:txBody>
      </p:sp>
      <p:sp>
        <p:nvSpPr>
          <p:cNvPr id="29" name="box-466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30" name="iconbg-467"/>
          <p:cNvSpPr/>
          <p:nvPr/>
        </p:nvSpPr>
        <p:spPr>
          <a:xfrm>
            <a:off x="8356397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con-46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316882"/>
            <a:ext cx="281635" cy="281635"/>
          </a:xfrm>
          <a:prstGeom prst="rect">
            <a:avLst/>
          </a:prstGeom>
        </p:spPr>
      </p:pic>
      <p:sp>
        <p:nvSpPr>
          <p:cNvPr id="32" name="text-469"/>
          <p:cNvSpPr txBox="1"/>
          <p:nvPr/>
        </p:nvSpPr>
        <p:spPr>
          <a:xfrm>
            <a:off x="9042197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zone</a:t>
            </a:r>
            <a:endParaRPr lang="en-US" sz="1700" dirty="0"/>
          </a:p>
        </p:txBody>
      </p:sp>
      <p:sp>
        <p:nvSpPr>
          <p:cNvPr id="33" name="text-470"/>
          <p:cNvSpPr txBox="1"/>
          <p:nvPr/>
        </p:nvSpPr>
        <p:spPr>
          <a:xfrm>
            <a:off x="9042197" y="467868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runs in Europe/Paris: triggers fire at 2:00, 8:00 and 9:00 Paris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 seven steps</a:t>
            </a:r>
            <a:endParaRPr lang="en-US" sz="3200" dirty="0"/>
          </a:p>
        </p:txBody>
      </p:sp>
      <p:sp>
        <p:nvSpPr>
          <p:cNvPr id="3" name="pill-471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72"/>
          <p:cNvSpPr/>
          <p:nvPr/>
        </p:nvSpPr>
        <p:spPr>
          <a:xfrm>
            <a:off x="548640" y="155448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5" name="num-47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6" name="text-47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-475"/>
          <p:cNvSpPr txBox="1"/>
          <p:nvPr/>
        </p:nvSpPr>
        <p:spPr>
          <a:xfrm>
            <a:off x="1554480" y="166116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team's Google Sheet</a:t>
            </a:r>
            <a:endParaRPr lang="en-US" sz="1600" dirty="0"/>
          </a:p>
        </p:txBody>
      </p:sp>
      <p:sp>
        <p:nvSpPr>
          <p:cNvPr id="8" name="text-476"/>
          <p:cNvSpPr txBox="1"/>
          <p:nvPr/>
        </p:nvSpPr>
        <p:spPr>
          <a:xfrm>
            <a:off x="1554480" y="202692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sheet or use an existing one, signed in as the owner account.</a:t>
            </a:r>
            <a:endParaRPr lang="en-US" sz="1400" dirty="0"/>
          </a:p>
        </p:txBody>
      </p:sp>
      <p:sp>
        <p:nvSpPr>
          <p:cNvPr id="9" name="box-477"/>
          <p:cNvSpPr/>
          <p:nvPr/>
        </p:nvSpPr>
        <p:spPr>
          <a:xfrm>
            <a:off x="548640" y="274320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num-478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11" name="text-479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-480"/>
          <p:cNvSpPr txBox="1"/>
          <p:nvPr/>
        </p:nvSpPr>
        <p:spPr>
          <a:xfrm>
            <a:off x="1554480" y="284988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Extensions → Apps Script</a:t>
            </a:r>
            <a:endParaRPr lang="en-US" sz="1600" dirty="0"/>
          </a:p>
        </p:txBody>
      </p:sp>
      <p:sp>
        <p:nvSpPr>
          <p:cNvPr id="13" name="text-481"/>
          <p:cNvSpPr txBox="1"/>
          <p:nvPr/>
        </p:nvSpPr>
        <p:spPr>
          <a:xfrm>
            <a:off x="1554480" y="321564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project, e.g. “Team Alpha – WorkspaceTM”.</a:t>
            </a:r>
            <a:endParaRPr lang="en-US" sz="1400" dirty="0"/>
          </a:p>
        </p:txBody>
      </p:sp>
      <p:sp>
        <p:nvSpPr>
          <p:cNvPr id="14" name="box-482"/>
          <p:cNvSpPr/>
          <p:nvPr/>
        </p:nvSpPr>
        <p:spPr>
          <a:xfrm>
            <a:off x="548640" y="393192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15" name="num-483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16" name="text-484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-485"/>
          <p:cNvSpPr txBox="1"/>
          <p:nvPr/>
        </p:nvSpPr>
        <p:spPr>
          <a:xfrm>
            <a:off x="1554480" y="40386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three services</a:t>
            </a:r>
            <a:endParaRPr lang="en-US" sz="1600" dirty="0"/>
          </a:p>
        </p:txBody>
      </p:sp>
      <p:sp>
        <p:nvSpPr>
          <p:cNvPr id="18" name="text-486"/>
          <p:cNvSpPr txBox="1"/>
          <p:nvPr/>
        </p:nvSpPr>
        <p:spPr>
          <a:xfrm>
            <a:off x="1554480" y="440436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→ Google Sheets API, Tasks API, Calendar API, with their default identifiers.</a:t>
            </a:r>
            <a:endParaRPr lang="en-US" sz="1400" dirty="0"/>
          </a:p>
        </p:txBody>
      </p:sp>
      <p:sp>
        <p:nvSpPr>
          <p:cNvPr id="19" name="box-487"/>
          <p:cNvSpPr/>
          <p:nvPr/>
        </p:nvSpPr>
        <p:spPr>
          <a:xfrm>
            <a:off x="548640" y="512064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num-488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1" name="text-489"/>
          <p:cNvSpPr txBox="1"/>
          <p:nvPr/>
        </p:nvSpPr>
        <p:spPr>
          <a:xfrm>
            <a:off x="7772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-490"/>
          <p:cNvSpPr txBox="1"/>
          <p:nvPr/>
        </p:nvSpPr>
        <p:spPr>
          <a:xfrm>
            <a:off x="1554480" y="522732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Library</a:t>
            </a:r>
            <a:endParaRPr lang="en-US" sz="1600" dirty="0"/>
          </a:p>
        </p:txBody>
      </p:sp>
      <p:sp>
        <p:nvSpPr>
          <p:cNvPr id="23" name="text-491"/>
          <p:cNvSpPr txBox="1"/>
          <p:nvPr/>
        </p:nvSpPr>
        <p:spPr>
          <a:xfrm>
            <a:off x="1554480" y="559308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+ → paste the Script ID → Look up → Identifier WorkspaceTM (exact) → pick a version.</a:t>
            </a:r>
            <a:endParaRPr lang="en-US" sz="1400" dirty="0"/>
          </a:p>
        </p:txBody>
      </p:sp>
      <p:sp>
        <p:nvSpPr>
          <p:cNvPr id="24" name="box-492"/>
          <p:cNvSpPr/>
          <p:nvPr/>
        </p:nvSpPr>
        <p:spPr>
          <a:xfrm>
            <a:off x="6233008" y="155448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25" name="num-493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6" name="text-494"/>
          <p:cNvSpPr txBox="1"/>
          <p:nvPr/>
        </p:nvSpPr>
        <p:spPr>
          <a:xfrm>
            <a:off x="64616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-495"/>
          <p:cNvSpPr txBox="1"/>
          <p:nvPr/>
        </p:nvSpPr>
        <p:spPr>
          <a:xfrm>
            <a:off x="7238848" y="166116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wrapper</a:t>
            </a:r>
            <a:endParaRPr lang="en-US" sz="1600" dirty="0"/>
          </a:p>
        </p:txBody>
      </p:sp>
      <p:sp>
        <p:nvSpPr>
          <p:cNvPr id="28" name="text-496"/>
          <p:cNvSpPr txBox="1"/>
          <p:nvPr/>
        </p:nvSpPr>
        <p:spPr>
          <a:xfrm>
            <a:off x="7238848" y="202692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Code.gs with consumer/Code.js from the repository, then save.</a:t>
            </a:r>
            <a:endParaRPr lang="en-US" sz="1400" dirty="0"/>
          </a:p>
        </p:txBody>
      </p:sp>
      <p:sp>
        <p:nvSpPr>
          <p:cNvPr id="29" name="box-497"/>
          <p:cNvSpPr/>
          <p:nvPr/>
        </p:nvSpPr>
        <p:spPr>
          <a:xfrm>
            <a:off x="6233008" y="274320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num-498"/>
          <p:cNvSpPr/>
          <p:nvPr/>
        </p:nvSpPr>
        <p:spPr>
          <a:xfrm>
            <a:off x="6461608" y="297180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1" name="text-499"/>
          <p:cNvSpPr txBox="1"/>
          <p:nvPr/>
        </p:nvSpPr>
        <p:spPr>
          <a:xfrm>
            <a:off x="6461608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-500"/>
          <p:cNvSpPr txBox="1"/>
          <p:nvPr/>
        </p:nvSpPr>
        <p:spPr>
          <a:xfrm>
            <a:off x="7238848" y="27432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33" name="text-501"/>
          <p:cNvSpPr txBox="1"/>
          <p:nvPr/>
        </p:nvSpPr>
        <p:spPr>
          <a:xfrm>
            <a:off x="7238848" y="310896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sheet → Project Management → Initialize / Upgrade Spreadsheet → authorise when Google asks.</a:t>
            </a:r>
            <a:endParaRPr lang="en-US" sz="1400" dirty="0"/>
          </a:p>
        </p:txBody>
      </p:sp>
      <p:sp>
        <p:nvSpPr>
          <p:cNvPr id="34" name="box-502"/>
          <p:cNvSpPr/>
          <p:nvPr/>
        </p:nvSpPr>
        <p:spPr>
          <a:xfrm>
            <a:off x="6233008" y="393192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35" name="num-503"/>
          <p:cNvSpPr/>
          <p:nvPr/>
        </p:nvSpPr>
        <p:spPr>
          <a:xfrm>
            <a:off x="6461608" y="416052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6" name="text-504"/>
          <p:cNvSpPr txBox="1"/>
          <p:nvPr/>
        </p:nvSpPr>
        <p:spPr>
          <a:xfrm>
            <a:off x="646160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-505"/>
          <p:cNvSpPr txBox="1"/>
          <p:nvPr/>
        </p:nvSpPr>
        <p:spPr>
          <a:xfrm>
            <a:off x="7238848" y="40386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38" name="text-506"/>
          <p:cNvSpPr txBox="1"/>
          <p:nvPr/>
        </p:nvSpPr>
        <p:spPr>
          <a:xfrm>
            <a:off x="7238848" y="440436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Locations and Holidays, then add the team in Members &amp; Contracts.</a:t>
            </a:r>
            <a:endParaRPr lang="en-US" sz="1400" dirty="0"/>
          </a:p>
        </p:txBody>
      </p:sp>
      <p:sp>
        <p:nvSpPr>
          <p:cNvPr id="39" name="box-507"/>
          <p:cNvSpPr/>
          <p:nvPr/>
        </p:nvSpPr>
        <p:spPr>
          <a:xfrm>
            <a:off x="6233008" y="512064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3B1E66"/>
          </a:solidFill>
          <a:ln/>
        </p:spPr>
      </p:sp>
      <p:sp>
        <p:nvSpPr>
          <p:cNvPr id="40" name="text-508"/>
          <p:cNvSpPr txBox="1"/>
          <p:nvPr/>
        </p:nvSpPr>
        <p:spPr>
          <a:xfrm>
            <a:off x="6507328" y="512064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wrapper's menu, onEdit/onOpen forwarders and one forwarder per sidebar and trigger function are required: triggers and sidebars call the sheet's own script, not the Library.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Initialize / Upgrade does</a:t>
            </a:r>
            <a:endParaRPr lang="en-US" sz="3200" dirty="0"/>
          </a:p>
        </p:txBody>
      </p:sp>
      <p:sp>
        <p:nvSpPr>
          <p:cNvPr id="3" name="pill-509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10"/>
          <p:cNvSpPr/>
          <p:nvPr/>
        </p:nvSpPr>
        <p:spPr>
          <a:xfrm>
            <a:off x="548640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5" name="text-511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-512"/>
          <p:cNvSpPr txBox="1"/>
          <p:nvPr/>
        </p:nvSpPr>
        <p:spPr>
          <a:xfrm>
            <a:off x="685800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tabs</a:t>
            </a:r>
            <a:endParaRPr lang="en-US" sz="1500" dirty="0"/>
          </a:p>
        </p:txBody>
      </p:sp>
      <p:sp>
        <p:nvSpPr>
          <p:cNvPr id="7" name="text-513"/>
          <p:cNvSpPr txBox="1"/>
          <p:nvPr/>
        </p:nvSpPr>
        <p:spPr>
          <a:xfrm>
            <a:off x="685800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technical tab names become readable ones</a:t>
            </a:r>
            <a:endParaRPr lang="en-US" sz="1400" dirty="0"/>
          </a:p>
        </p:txBody>
      </p:sp>
      <p:sp>
        <p:nvSpPr>
          <p:cNvPr id="8" name="box-514"/>
          <p:cNvSpPr/>
          <p:nvPr/>
        </p:nvSpPr>
        <p:spPr>
          <a:xfrm>
            <a:off x="2157070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9" name="text-515"/>
          <p:cNvSpPr txBox="1"/>
          <p:nvPr/>
        </p:nvSpPr>
        <p:spPr>
          <a:xfrm>
            <a:off x="22942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-516"/>
          <p:cNvSpPr txBox="1"/>
          <p:nvPr/>
        </p:nvSpPr>
        <p:spPr>
          <a:xfrm>
            <a:off x="2294230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tables</a:t>
            </a:r>
            <a:endParaRPr lang="en-US" sz="1500" dirty="0"/>
          </a:p>
        </p:txBody>
      </p:sp>
      <p:sp>
        <p:nvSpPr>
          <p:cNvPr id="11" name="text-517"/>
          <p:cNvSpPr txBox="1"/>
          <p:nvPr/>
        </p:nvSpPr>
        <p:spPr>
          <a:xfrm>
            <a:off x="2294230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tables, column types, dropdowns, fonts, protections, required-cell rules</a:t>
            </a:r>
            <a:endParaRPr lang="en-US" sz="1400" dirty="0"/>
          </a:p>
        </p:txBody>
      </p:sp>
      <p:sp>
        <p:nvSpPr>
          <p:cNvPr id="12" name="box-518"/>
          <p:cNvSpPr/>
          <p:nvPr/>
        </p:nvSpPr>
        <p:spPr>
          <a:xfrm>
            <a:off x="3765499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13" name="text-519"/>
          <p:cNvSpPr txBox="1"/>
          <p:nvPr/>
        </p:nvSpPr>
        <p:spPr>
          <a:xfrm>
            <a:off x="3902659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-520"/>
          <p:cNvSpPr txBox="1"/>
          <p:nvPr/>
        </p:nvSpPr>
        <p:spPr>
          <a:xfrm>
            <a:off x="3902659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presence</a:t>
            </a:r>
            <a:endParaRPr lang="en-US" sz="1500" dirty="0"/>
          </a:p>
        </p:txBody>
      </p:sp>
      <p:sp>
        <p:nvSpPr>
          <p:cNvPr id="15" name="text-521"/>
          <p:cNvSpPr txBox="1"/>
          <p:nvPr/>
        </p:nvSpPr>
        <p:spPr>
          <a:xfrm>
            <a:off x="3902659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repair of an old merged table, then archive it</a:t>
            </a:r>
            <a:endParaRPr lang="en-US" sz="1400" dirty="0"/>
          </a:p>
        </p:txBody>
      </p:sp>
      <p:sp>
        <p:nvSpPr>
          <p:cNvPr id="16" name="box-522"/>
          <p:cNvSpPr/>
          <p:nvPr/>
        </p:nvSpPr>
        <p:spPr>
          <a:xfrm>
            <a:off x="5373929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17" name="text-523"/>
          <p:cNvSpPr txBox="1"/>
          <p:nvPr/>
        </p:nvSpPr>
        <p:spPr>
          <a:xfrm>
            <a:off x="5511089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-524"/>
          <p:cNvSpPr txBox="1"/>
          <p:nvPr/>
        </p:nvSpPr>
        <p:spPr>
          <a:xfrm>
            <a:off x="5511089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triggers</a:t>
            </a:r>
            <a:endParaRPr lang="en-US" sz="1500" dirty="0"/>
          </a:p>
        </p:txBody>
      </p:sp>
      <p:sp>
        <p:nvSpPr>
          <p:cNvPr id="19" name="text-525"/>
          <p:cNvSpPr txBox="1"/>
          <p:nvPr/>
        </p:nvSpPr>
        <p:spPr>
          <a:xfrm>
            <a:off x="5511089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nightly, Monday and birthday triggers</a:t>
            </a:r>
            <a:endParaRPr lang="en-US" sz="1400" dirty="0"/>
          </a:p>
        </p:txBody>
      </p:sp>
      <p:sp>
        <p:nvSpPr>
          <p:cNvPr id="20" name="box-526"/>
          <p:cNvSpPr/>
          <p:nvPr/>
        </p:nvSpPr>
        <p:spPr>
          <a:xfrm>
            <a:off x="698235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21" name="text-527"/>
          <p:cNvSpPr txBox="1"/>
          <p:nvPr/>
        </p:nvSpPr>
        <p:spPr>
          <a:xfrm>
            <a:off x="711951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-528"/>
          <p:cNvSpPr txBox="1"/>
          <p:nvPr/>
        </p:nvSpPr>
        <p:spPr>
          <a:xfrm>
            <a:off x="711951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sync</a:t>
            </a:r>
            <a:endParaRPr lang="en-US" sz="1500" dirty="0"/>
          </a:p>
        </p:txBody>
      </p:sp>
      <p:sp>
        <p:nvSpPr>
          <p:cNvPr id="23" name="text-529"/>
          <p:cNvSpPr txBox="1"/>
          <p:nvPr/>
        </p:nvSpPr>
        <p:spPr>
          <a:xfrm>
            <a:off x="711951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nightly job once</a:t>
            </a:r>
            <a:endParaRPr lang="en-US" sz="1400" dirty="0"/>
          </a:p>
        </p:txBody>
      </p:sp>
      <p:sp>
        <p:nvSpPr>
          <p:cNvPr id="24" name="box-530"/>
          <p:cNvSpPr/>
          <p:nvPr/>
        </p:nvSpPr>
        <p:spPr>
          <a:xfrm>
            <a:off x="859078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25" name="text-531"/>
          <p:cNvSpPr txBox="1"/>
          <p:nvPr/>
        </p:nvSpPr>
        <p:spPr>
          <a:xfrm>
            <a:off x="872794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-532"/>
          <p:cNvSpPr txBox="1"/>
          <p:nvPr/>
        </p:nvSpPr>
        <p:spPr>
          <a:xfrm>
            <a:off x="872794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tab IDs</a:t>
            </a:r>
            <a:endParaRPr lang="en-US" sz="1500" dirty="0"/>
          </a:p>
        </p:txBody>
      </p:sp>
      <p:sp>
        <p:nvSpPr>
          <p:cNvPr id="27" name="text-533"/>
          <p:cNvSpPr txBox="1"/>
          <p:nvPr/>
        </p:nvSpPr>
        <p:spPr>
          <a:xfrm>
            <a:off x="872794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tabs can be renamed safely</a:t>
            </a:r>
            <a:endParaRPr lang="en-US" sz="1400" dirty="0"/>
          </a:p>
        </p:txBody>
      </p:sp>
      <p:sp>
        <p:nvSpPr>
          <p:cNvPr id="28" name="box-534"/>
          <p:cNvSpPr/>
          <p:nvPr/>
        </p:nvSpPr>
        <p:spPr>
          <a:xfrm>
            <a:off x="1019921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29" name="text-535"/>
          <p:cNvSpPr txBox="1"/>
          <p:nvPr/>
        </p:nvSpPr>
        <p:spPr>
          <a:xfrm>
            <a:off x="1033637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-536"/>
          <p:cNvSpPr txBox="1"/>
          <p:nvPr/>
        </p:nvSpPr>
        <p:spPr>
          <a:xfrm>
            <a:off x="1033637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layout</a:t>
            </a:r>
            <a:endParaRPr lang="en-US" sz="1500" dirty="0"/>
          </a:p>
        </p:txBody>
      </p:sp>
      <p:sp>
        <p:nvSpPr>
          <p:cNvPr id="31" name="text-537"/>
          <p:cNvSpPr txBox="1"/>
          <p:nvPr/>
        </p:nvSpPr>
        <p:spPr>
          <a:xfrm>
            <a:off x="1033637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five tabs, hide the rest, delete an empty Sheet1</a:t>
            </a:r>
            <a:endParaRPr lang="en-US" sz="1400" dirty="0"/>
          </a:p>
        </p:txBody>
      </p:sp>
      <p:sp>
        <p:nvSpPr>
          <p:cNvPr id="32" name="text-538"/>
          <p:cNvSpPr txBox="1"/>
          <p:nvPr/>
        </p:nvSpPr>
        <p:spPr>
          <a:xfrm>
            <a:off x="548640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4000" dirty="0"/>
          </a:p>
        </p:txBody>
      </p:sp>
      <p:sp>
        <p:nvSpPr>
          <p:cNvPr id="33" name="text-539"/>
          <p:cNvSpPr txBox="1"/>
          <p:nvPr/>
        </p:nvSpPr>
        <p:spPr>
          <a:xfrm>
            <a:off x="548640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sheet</a:t>
            </a:r>
            <a:endParaRPr lang="en-US" sz="1500" dirty="0"/>
          </a:p>
        </p:txBody>
      </p:sp>
      <p:sp>
        <p:nvSpPr>
          <p:cNvPr id="34" name="text-540"/>
          <p:cNvSpPr txBox="1"/>
          <p:nvPr/>
        </p:nvSpPr>
        <p:spPr>
          <a:xfrm>
            <a:off x="4338218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Re-runnable</a:t>
            </a:r>
            <a:endParaRPr lang="en-US" sz="4000" dirty="0"/>
          </a:p>
        </p:txBody>
      </p:sp>
      <p:sp>
        <p:nvSpPr>
          <p:cNvPr id="35" name="text-541"/>
          <p:cNvSpPr txBox="1"/>
          <p:nvPr/>
        </p:nvSpPr>
        <p:spPr>
          <a:xfrm>
            <a:off x="4338218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new version, a schema change, or when a tab looks broken</a:t>
            </a:r>
            <a:endParaRPr lang="en-US" sz="1500" dirty="0"/>
          </a:p>
        </p:txBody>
      </p:sp>
      <p:sp>
        <p:nvSpPr>
          <p:cNvPr id="36" name="text-542"/>
          <p:cNvSpPr txBox="1"/>
          <p:nvPr/>
        </p:nvSpPr>
        <p:spPr>
          <a:xfrm>
            <a:off x="8127797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rows</a:t>
            </a:r>
            <a:endParaRPr lang="en-US" sz="4000" dirty="0"/>
          </a:p>
        </p:txBody>
      </p:sp>
      <p:sp>
        <p:nvSpPr>
          <p:cNvPr id="37" name="text-543"/>
          <p:cNvSpPr txBox="1"/>
          <p:nvPr/>
        </p:nvSpPr>
        <p:spPr>
          <a:xfrm>
            <a:off x="8127797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by an upgrade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the sheet for your team</a:t>
            </a:r>
            <a:endParaRPr lang="en-US" sz="3200" dirty="0"/>
          </a:p>
        </p:txBody>
      </p:sp>
      <p:sp>
        <p:nvSpPr>
          <p:cNvPr id="3" name="pill-544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45"/>
          <p:cNvSpPr/>
          <p:nvPr/>
        </p:nvSpPr>
        <p:spPr>
          <a:xfrm>
            <a:off x="548640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5" name="iconbg-546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5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548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700" dirty="0"/>
          </a:p>
        </p:txBody>
      </p:sp>
      <p:sp>
        <p:nvSpPr>
          <p:cNvPr id="8" name="text-549"/>
          <p:cNvSpPr txBox="1"/>
          <p:nvPr/>
        </p:nvSpPr>
        <p:spPr>
          <a:xfrm>
            <a:off x="1463040" y="2255520"/>
            <a:ext cx="2372258" cy="359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Edit Locations. Columns: Location, Type, Active.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Office, Client site, Remote. Defaults: OneRoof, Remote, JLL, C04, C60.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active Office is the default for days with no routine.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Active to retire a place: past days stay valid; a toast lists who still uses it.</a:t>
            </a:r>
            <a:endParaRPr lang="en-US" sz="1500" dirty="0"/>
          </a:p>
        </p:txBody>
      </p:sp>
      <p:sp>
        <p:nvSpPr>
          <p:cNvPr id="9" name="box-550"/>
          <p:cNvSpPr/>
          <p:nvPr/>
        </p:nvSpPr>
        <p:spPr>
          <a:xfrm>
            <a:off x="4338218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0" name="iconbg-551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5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553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</a:t>
            </a:r>
            <a:endParaRPr lang="en-US" sz="1700" dirty="0"/>
          </a:p>
        </p:txBody>
      </p:sp>
      <p:sp>
        <p:nvSpPr>
          <p:cNvPr id="13" name="text-554"/>
          <p:cNvSpPr txBox="1"/>
          <p:nvPr/>
        </p:nvSpPr>
        <p:spPr>
          <a:xfrm>
            <a:off x="5252618" y="2255520"/>
            <a:ext cx="2372258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Edit Holidays. Columns: Date, Holiday.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 French public holidays of this year and next are added once a year.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bridges and office closures by hand.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line stays deleted, e.g. remove Whit Monday if the team works it.</a:t>
            </a:r>
            <a:endParaRPr lang="en-US" sz="1500" dirty="0"/>
          </a:p>
        </p:txBody>
      </p:sp>
      <p:sp>
        <p:nvSpPr>
          <p:cNvPr id="14" name="box-555"/>
          <p:cNvSpPr/>
          <p:nvPr/>
        </p:nvSpPr>
        <p:spPr>
          <a:xfrm>
            <a:off x="8127797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5" name="iconbg-556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5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558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700" dirty="0"/>
          </a:p>
        </p:txBody>
      </p:sp>
      <p:sp>
        <p:nvSpPr>
          <p:cNvPr id="18" name="text-559"/>
          <p:cNvSpPr txBox="1"/>
          <p:nvPr/>
        </p:nvSpPr>
        <p:spPr>
          <a:xfrm>
            <a:off x="9042197" y="2255520"/>
            <a:ext cx="2372258" cy="382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GOOGLE_CALENDAR_ID: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calendar for events (default: primary).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GOOGLE_TASKS_LIST_ID: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automatically to “Project Management Tasks”.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ADMIN_EMAILS: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edit locked columns, besides the owner.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properties, set from the Apps Script editor (next slide).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settings from the Apps Script editor</a:t>
            </a:r>
            <a:endParaRPr lang="en-US" sz="3200" dirty="0"/>
          </a:p>
        </p:txBody>
      </p:sp>
      <p:sp>
        <p:nvSpPr>
          <p:cNvPr id="3" name="pill-560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text-561"/>
          <p:cNvSpPr txBox="1"/>
          <p:nvPr/>
        </p:nvSpPr>
        <p:spPr>
          <a:xfrm>
            <a:off x="548640" y="155448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 cannot be edited on the Apps Script settings page. Add this function to Code.gs, choose it in the toolbar, click Run once, then delete it.</a:t>
            </a:r>
            <a:endParaRPr lang="en-US" sz="1600" dirty="0"/>
          </a:p>
        </p:txBody>
      </p:sp>
      <p:sp>
        <p:nvSpPr>
          <p:cNvPr id="5" name="box-562"/>
          <p:cNvSpPr/>
          <p:nvPr/>
        </p:nvSpPr>
        <p:spPr>
          <a:xfrm>
            <a:off x="548640" y="2362200"/>
            <a:ext cx="6949440" cy="2834640"/>
          </a:xfrm>
          <a:prstGeom prst="roundRect">
            <a:avLst>
              <a:gd name="adj" fmla="val 2581"/>
            </a:avLst>
          </a:prstGeom>
          <a:solidFill>
            <a:srgbClr val="1E1B2E"/>
          </a:solidFill>
          <a:ln/>
        </p:spPr>
      </p:sp>
      <p:sp>
        <p:nvSpPr>
          <p:cNvPr id="6" name="text-563"/>
          <p:cNvSpPr txBox="1"/>
          <p:nvPr/>
        </p:nvSpPr>
        <p:spPr>
          <a:xfrm>
            <a:off x="822960" y="26365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configureWorkspace()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Team calendar for Events (optional)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WorkspaceTM.setCalendarId("team@group.calendar.google.com");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Who besides the owner may edit locked columns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WorkspaceTM.setAuthorizedAdmins(["lead@example.com"]);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Reuse an existing Google Tasks list (optional)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WorkspaceTM.setTasksListId("&lt;task list id&gt;");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-564"/>
          <p:cNvSpPr txBox="1"/>
          <p:nvPr/>
        </p:nvSpPr>
        <p:spPr>
          <a:xfrm>
            <a:off x="7863840" y="23622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setting changes</a:t>
            </a:r>
            <a:endParaRPr lang="en-US" sz="1600" dirty="0"/>
          </a:p>
        </p:txBody>
      </p:sp>
      <p:sp>
        <p:nvSpPr>
          <p:cNvPr id="8" name="text-565"/>
          <p:cNvSpPr txBox="1"/>
          <p:nvPr/>
        </p:nvSpPr>
        <p:spPr>
          <a:xfrm>
            <a:off x="7863840" y="2819400"/>
            <a:ext cx="3779215" cy="24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also written to this calendar; the owner must be able to edit it.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when protections are next rebuilt (nightly, or Initialize / Upgrade).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list: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to reuse a list; otherwise the Library creates one.</a:t>
            </a:r>
            <a:endParaRPr lang="en-US" sz="1500" dirty="0"/>
          </a:p>
        </p:txBody>
      </p:sp>
      <p:sp>
        <p:nvSpPr>
          <p:cNvPr id="9" name="text-566"/>
          <p:cNvSpPr txBox="1"/>
          <p:nvPr/>
        </p:nvSpPr>
        <p:spPr>
          <a:xfrm>
            <a:off x="548640" y="5471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this way, the Library runs in the context of this sheet, so the values are stored for this sheet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and the owner account</a:t>
            </a:r>
            <a:endParaRPr lang="en-US" sz="3200" dirty="0"/>
          </a:p>
        </p:txBody>
      </p:sp>
      <p:sp>
        <p:nvSpPr>
          <p:cNvPr id="3" name="pill-567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graphicFrame>
        <p:nvGraphicFramePr>
          <p:cNvPr id="29" name="table-5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737360"/>
                <a:gridCol w="45107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installedTaskEditHandler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the edit as the owner: Tasks, Calendar, sync, coverage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nightlySyncJob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2:00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reconciliation: ten steps, five-minute budget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reminder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mondayPresenceReminder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8:00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Members with undeclared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birthdayReminderJob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9:00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 email and calendar link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569"/>
          <p:cNvSpPr/>
          <p:nvPr/>
        </p:nvSpPr>
        <p:spPr>
          <a:xfrm>
            <a:off x="548640" y="4443984"/>
            <a:ext cx="5410048" cy="1740408"/>
          </a:xfrm>
          <a:prstGeom prst="roundRect">
            <a:avLst>
              <a:gd name="adj" fmla="val 4203"/>
            </a:avLst>
          </a:prstGeom>
          <a:solidFill>
            <a:srgbClr val="F5F1FA"/>
          </a:solidFill>
          <a:ln/>
        </p:spPr>
      </p:sp>
      <p:sp>
        <p:nvSpPr>
          <p:cNvPr id="6" name="iconbg-570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5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4783226"/>
            <a:ext cx="281635" cy="281635"/>
          </a:xfrm>
          <a:prstGeom prst="rect">
            <a:avLst/>
          </a:prstGeom>
        </p:spPr>
      </p:pic>
      <p:sp>
        <p:nvSpPr>
          <p:cNvPr id="8" name="text-572"/>
          <p:cNvSpPr txBox="1"/>
          <p:nvPr/>
        </p:nvSpPr>
        <p:spPr>
          <a:xfrm>
            <a:off x="1463040" y="4776216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the owner</a:t>
            </a:r>
            <a:endParaRPr lang="en-US" sz="1700" dirty="0"/>
          </a:p>
        </p:txBody>
      </p:sp>
      <p:sp>
        <p:nvSpPr>
          <p:cNvPr id="9" name="text-573"/>
          <p:cNvSpPr txBox="1"/>
          <p:nvPr/>
        </p:nvSpPr>
        <p:spPr>
          <a:xfrm>
            <a:off x="1463040" y="5145024"/>
            <a:ext cx="42670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/ Upgrade installs all four for the account that runs it. Here that is the owner's personal Gmail: emails come from it and the Team Birthdays calendar belongs to it.</a:t>
            </a:r>
            <a:endParaRPr lang="en-US" sz="1500" dirty="0"/>
          </a:p>
        </p:txBody>
      </p:sp>
      <p:sp>
        <p:nvSpPr>
          <p:cNvPr id="10" name="box-574"/>
          <p:cNvSpPr/>
          <p:nvPr/>
        </p:nvSpPr>
        <p:spPr>
          <a:xfrm>
            <a:off x="6233008" y="4443984"/>
            <a:ext cx="5410048" cy="1740408"/>
          </a:xfrm>
          <a:prstGeom prst="roundRect">
            <a:avLst>
              <a:gd name="adj" fmla="val 4203"/>
            </a:avLst>
          </a:prstGeom>
          <a:solidFill>
            <a:srgbClr val="F5F1FA"/>
          </a:solidFill>
          <a:ln/>
        </p:spPr>
      </p:sp>
      <p:sp>
        <p:nvSpPr>
          <p:cNvPr id="11" name="iconbg-575"/>
          <p:cNvSpPr/>
          <p:nvPr/>
        </p:nvSpPr>
        <p:spPr>
          <a:xfrm>
            <a:off x="6461608" y="46725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5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783226"/>
            <a:ext cx="281635" cy="281635"/>
          </a:xfrm>
          <a:prstGeom prst="rect">
            <a:avLst/>
          </a:prstGeom>
        </p:spPr>
      </p:pic>
      <p:sp>
        <p:nvSpPr>
          <p:cNvPr id="13" name="text-577"/>
          <p:cNvSpPr txBox="1"/>
          <p:nvPr/>
        </p:nvSpPr>
        <p:spPr>
          <a:xfrm>
            <a:off x="7147408" y="4776216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 per edit</a:t>
            </a:r>
            <a:endParaRPr lang="en-US" sz="1700" dirty="0"/>
          </a:p>
        </p:txBody>
      </p:sp>
      <p:sp>
        <p:nvSpPr>
          <p:cNvPr id="14" name="text-578"/>
          <p:cNvSpPr txBox="1"/>
          <p:nvPr/>
        </p:nvSpPr>
        <p:spPr>
          <a:xfrm>
            <a:off x="7147408" y="5145024"/>
            <a:ext cx="42670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edit trigger exists, the simple onEdit returns at once (flag EDIT_TRIGGER_ACTIVE), so each edit is processed once. Re-run Initialize / Upgrade if triggers were deleted.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Upgrading, deploying and rolling back</a:t>
            </a:r>
            <a:endParaRPr lang="en-US" sz="3200" dirty="0"/>
          </a:p>
        </p:txBody>
      </p:sp>
      <p:sp>
        <p:nvSpPr>
          <p:cNvPr id="3" name="pill-579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80"/>
          <p:cNvSpPr/>
          <p:nvPr/>
        </p:nvSpPr>
        <p:spPr>
          <a:xfrm>
            <a:off x="548640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5" name="iconbg-58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5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583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 team sheet</a:t>
            </a:r>
            <a:endParaRPr lang="en-US" sz="1700" dirty="0"/>
          </a:p>
        </p:txBody>
      </p:sp>
      <p:sp>
        <p:nvSpPr>
          <p:cNvPr id="8" name="text-584"/>
          <p:cNvSpPr txBox="1"/>
          <p:nvPr/>
        </p:nvSpPr>
        <p:spPr>
          <a:xfrm>
            <a:off x="1463040" y="2255520"/>
            <a:ext cx="2372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→ Libraries → WorkspaceTM → choose the new version → Save.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sheet: Initialize / Upgrade.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mode (HEAD) gets every push at once: fine for testing, not for production.</a:t>
            </a:r>
            <a:endParaRPr lang="en-US" sz="1500" dirty="0"/>
          </a:p>
        </p:txBody>
      </p:sp>
      <p:sp>
        <p:nvSpPr>
          <p:cNvPr id="9" name="box-585"/>
          <p:cNvSpPr/>
          <p:nvPr/>
        </p:nvSpPr>
        <p:spPr>
          <a:xfrm>
            <a:off x="4338218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0" name="iconbg-586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5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588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(maintainer)</a:t>
            </a:r>
            <a:endParaRPr lang="en-US" sz="1700" dirty="0"/>
          </a:p>
        </p:txBody>
      </p:sp>
      <p:sp>
        <p:nvSpPr>
          <p:cNvPr id="13" name="text-589"/>
          <p:cNvSpPr txBox="1"/>
          <p:nvPr/>
        </p:nvSpPr>
        <p:spPr>
          <a:xfrm>
            <a:off x="5252618" y="2255520"/>
            <a:ext cx="2372258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tests: node --test test/*.js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tag deploy-YYYYMMDD-HHMM.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clasp push in src/ (Library), and in consumer/ when the wrapper changed.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pulling into .scratch/live/ and diffing.</a:t>
            </a:r>
            <a:endParaRPr lang="en-US" sz="1500" dirty="0"/>
          </a:p>
        </p:txBody>
      </p:sp>
      <p:sp>
        <p:nvSpPr>
          <p:cNvPr id="14" name="box-590"/>
          <p:cNvSpPr/>
          <p:nvPr/>
        </p:nvSpPr>
        <p:spPr>
          <a:xfrm>
            <a:off x="8127797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5" name="iconbg-591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59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593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</a:t>
            </a:r>
            <a:endParaRPr lang="en-US" sz="1700" dirty="0"/>
          </a:p>
        </p:txBody>
      </p:sp>
      <p:sp>
        <p:nvSpPr>
          <p:cNvPr id="18" name="text-594"/>
          <p:cNvSpPr txBox="1"/>
          <p:nvPr/>
        </p:nvSpPr>
        <p:spPr>
          <a:xfrm>
            <a:off x="9042197" y="2255520"/>
            <a:ext cx="2372258" cy="317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the previous deploy-* tag.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src/ (and consumer/) again with clasp.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sheets: select the previous numbered version instead.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rolled back: upgrades are additive, so older code still reads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595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cover</a:t>
            </a:r>
            <a:endParaRPr lang="en-US" sz="4400" dirty="0"/>
          </a:p>
        </p:txBody>
      </p:sp>
      <p:sp>
        <p:nvSpPr>
          <p:cNvPr id="4" name="text-596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maintainers and curious admins: how the pieces fit, how data flows from what people type to what the sheet derives, and what keeps it consistent.</a:t>
            </a:r>
            <a:endParaRPr lang="en-US" sz="1800" dirty="0"/>
          </a:p>
        </p:txBody>
      </p:sp>
      <p:sp>
        <p:nvSpPr>
          <p:cNvPr id="5" name="box-597"/>
          <p:cNvSpPr/>
          <p:nvPr/>
        </p:nvSpPr>
        <p:spPr>
          <a:xfrm>
            <a:off x="7680960" y="1325880"/>
            <a:ext cx="3959352" cy="4450080"/>
          </a:xfrm>
          <a:prstGeom prst="roundRect">
            <a:avLst>
              <a:gd name="adj" fmla="val 1386"/>
            </a:avLst>
          </a:prstGeom>
          <a:solidFill>
            <a:srgbClr val="2A2640"/>
          </a:solidFill>
          <a:ln/>
        </p:spPr>
      </p:sp>
      <p:sp>
        <p:nvSpPr>
          <p:cNvPr id="6" name="text-598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599"/>
          <p:cNvSpPr txBox="1"/>
          <p:nvPr/>
        </p:nvSpPr>
        <p:spPr>
          <a:xfrm>
            <a:off x="8001000" y="2103120"/>
            <a:ext cx="3291840" cy="344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modules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 pipeline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compilation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algorithm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registry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for Looker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three layers</a:t>
            </a:r>
            <a:endParaRPr lang="en-US" sz="3200" dirty="0"/>
          </a:p>
        </p:txBody>
      </p:sp>
      <p:sp>
        <p:nvSpPr>
          <p:cNvPr id="3" name="pill-600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601"/>
          <p:cNvSpPr/>
          <p:nvPr/>
        </p:nvSpPr>
        <p:spPr>
          <a:xfrm>
            <a:off x="548640" y="155448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E6F4EA"/>
          </a:solidFill>
          <a:ln/>
        </p:spPr>
      </p:sp>
      <p:sp>
        <p:nvSpPr>
          <p:cNvPr id="5" name="text-602"/>
          <p:cNvSpPr txBox="1"/>
          <p:nvPr/>
        </p:nvSpPr>
        <p:spPr>
          <a:xfrm>
            <a:off x="777240" y="155448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sheet</a:t>
            </a:r>
            <a:endParaRPr lang="en-US" sz="1700" dirty="0"/>
          </a:p>
        </p:txBody>
      </p:sp>
      <p:sp>
        <p:nvSpPr>
          <p:cNvPr id="6" name="box-603"/>
          <p:cNvSpPr/>
          <p:nvPr/>
        </p:nvSpPr>
        <p:spPr>
          <a:xfrm>
            <a:off x="246888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text-604"/>
          <p:cNvSpPr txBox="1"/>
          <p:nvPr/>
        </p:nvSpPr>
        <p:spPr>
          <a:xfrm>
            <a:off x="251460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tabs</a:t>
            </a:r>
            <a:endParaRPr lang="en-US" sz="1400" dirty="0"/>
          </a:p>
        </p:txBody>
      </p:sp>
      <p:sp>
        <p:nvSpPr>
          <p:cNvPr id="8" name="box-605"/>
          <p:cNvSpPr/>
          <p:nvPr/>
        </p:nvSpPr>
        <p:spPr>
          <a:xfrm>
            <a:off x="387477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text-606"/>
          <p:cNvSpPr txBox="1"/>
          <p:nvPr/>
        </p:nvSpPr>
        <p:spPr>
          <a:xfrm>
            <a:off x="392049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tabs</a:t>
            </a:r>
            <a:endParaRPr lang="en-US" sz="1400" dirty="0"/>
          </a:p>
        </p:txBody>
      </p:sp>
      <p:sp>
        <p:nvSpPr>
          <p:cNvPr id="10" name="box-607"/>
          <p:cNvSpPr/>
          <p:nvPr/>
        </p:nvSpPr>
        <p:spPr>
          <a:xfrm>
            <a:off x="528066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-608"/>
          <p:cNvSpPr txBox="1"/>
          <p:nvPr/>
        </p:nvSpPr>
        <p:spPr>
          <a:xfrm>
            <a:off x="532638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&amp; dialogs</a:t>
            </a:r>
            <a:endParaRPr lang="en-US" sz="1400" dirty="0"/>
          </a:p>
        </p:txBody>
      </p:sp>
      <p:sp>
        <p:nvSpPr>
          <p:cNvPr id="12" name="box-609"/>
          <p:cNvSpPr/>
          <p:nvPr/>
        </p:nvSpPr>
        <p:spPr>
          <a:xfrm>
            <a:off x="668655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text-610"/>
          <p:cNvSpPr txBox="1"/>
          <p:nvPr/>
        </p:nvSpPr>
        <p:spPr>
          <a:xfrm>
            <a:off x="673227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Code.gs wrapper</a:t>
            </a:r>
            <a:endParaRPr lang="en-US" sz="1400" dirty="0"/>
          </a:p>
        </p:txBody>
      </p:sp>
      <p:sp>
        <p:nvSpPr>
          <p:cNvPr id="14" name="arrow-611"/>
          <p:cNvSpPr/>
          <p:nvPr/>
        </p:nvSpPr>
        <p:spPr>
          <a:xfrm>
            <a:off x="3840480" y="283159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arrow-612"/>
          <p:cNvSpPr/>
          <p:nvPr/>
        </p:nvSpPr>
        <p:spPr>
          <a:xfrm flipV="1">
            <a:off x="6309360" y="283159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box-613"/>
          <p:cNvSpPr/>
          <p:nvPr/>
        </p:nvSpPr>
        <p:spPr>
          <a:xfrm>
            <a:off x="548640" y="321564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F3E8FD"/>
          </a:solidFill>
          <a:ln/>
        </p:spPr>
      </p:sp>
      <p:sp>
        <p:nvSpPr>
          <p:cNvPr id="17" name="text-614"/>
          <p:cNvSpPr txBox="1"/>
          <p:nvPr/>
        </p:nvSpPr>
        <p:spPr>
          <a:xfrm>
            <a:off x="777240" y="321564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WorkspaceTM Library</a:t>
            </a:r>
            <a:endParaRPr lang="en-US" sz="1700" dirty="0"/>
          </a:p>
        </p:txBody>
      </p:sp>
      <p:sp>
        <p:nvSpPr>
          <p:cNvPr id="18" name="box-615"/>
          <p:cNvSpPr/>
          <p:nvPr/>
        </p:nvSpPr>
        <p:spPr>
          <a:xfrm>
            <a:off x="246888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text-616"/>
          <p:cNvSpPr txBox="1"/>
          <p:nvPr/>
        </p:nvSpPr>
        <p:spPr>
          <a:xfrm>
            <a:off x="251460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router</a:t>
            </a:r>
            <a:endParaRPr lang="en-US" sz="1400" dirty="0"/>
          </a:p>
        </p:txBody>
      </p:sp>
      <p:sp>
        <p:nvSpPr>
          <p:cNvPr id="20" name="box-617"/>
          <p:cNvSpPr/>
          <p:nvPr/>
        </p:nvSpPr>
        <p:spPr>
          <a:xfrm>
            <a:off x="387477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text-618"/>
          <p:cNvSpPr txBox="1"/>
          <p:nvPr/>
        </p:nvSpPr>
        <p:spPr>
          <a:xfrm>
            <a:off x="392049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engines</a:t>
            </a:r>
            <a:endParaRPr lang="en-US" sz="1400" dirty="0"/>
          </a:p>
        </p:txBody>
      </p:sp>
      <p:sp>
        <p:nvSpPr>
          <p:cNvPr id="22" name="box-619"/>
          <p:cNvSpPr/>
          <p:nvPr/>
        </p:nvSpPr>
        <p:spPr>
          <a:xfrm>
            <a:off x="528066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text-620"/>
          <p:cNvSpPr txBox="1"/>
          <p:nvPr/>
        </p:nvSpPr>
        <p:spPr>
          <a:xfrm>
            <a:off x="532638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coverage</a:t>
            </a:r>
            <a:endParaRPr lang="en-US" sz="1400" dirty="0"/>
          </a:p>
        </p:txBody>
      </p:sp>
      <p:sp>
        <p:nvSpPr>
          <p:cNvPr id="24" name="box-621"/>
          <p:cNvSpPr/>
          <p:nvPr/>
        </p:nvSpPr>
        <p:spPr>
          <a:xfrm>
            <a:off x="668655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text-622"/>
          <p:cNvSpPr txBox="1"/>
          <p:nvPr/>
        </p:nvSpPr>
        <p:spPr>
          <a:xfrm>
            <a:off x="673227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6" name="arrow-623"/>
          <p:cNvSpPr/>
          <p:nvPr/>
        </p:nvSpPr>
        <p:spPr>
          <a:xfrm>
            <a:off x="3840480" y="449275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7" name="arrow-624"/>
          <p:cNvSpPr/>
          <p:nvPr/>
        </p:nvSpPr>
        <p:spPr>
          <a:xfrm flipV="1">
            <a:off x="6309360" y="449275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8" name="box-625"/>
          <p:cNvSpPr/>
          <p:nvPr/>
        </p:nvSpPr>
        <p:spPr>
          <a:xfrm>
            <a:off x="548640" y="487680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E8F0FE"/>
          </a:solidFill>
          <a:ln/>
        </p:spPr>
      </p:sp>
      <p:sp>
        <p:nvSpPr>
          <p:cNvPr id="29" name="text-626"/>
          <p:cNvSpPr txBox="1"/>
          <p:nvPr/>
        </p:nvSpPr>
        <p:spPr>
          <a:xfrm>
            <a:off x="777240" y="487680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services</a:t>
            </a:r>
            <a:endParaRPr lang="en-US" sz="1700" dirty="0"/>
          </a:p>
        </p:txBody>
      </p:sp>
      <p:sp>
        <p:nvSpPr>
          <p:cNvPr id="30" name="box-627"/>
          <p:cNvSpPr/>
          <p:nvPr/>
        </p:nvSpPr>
        <p:spPr>
          <a:xfrm>
            <a:off x="246888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text-628"/>
          <p:cNvSpPr txBox="1"/>
          <p:nvPr/>
        </p:nvSpPr>
        <p:spPr>
          <a:xfrm>
            <a:off x="251460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API v4</a:t>
            </a:r>
            <a:endParaRPr lang="en-US" sz="1400" dirty="0"/>
          </a:p>
        </p:txBody>
      </p:sp>
      <p:sp>
        <p:nvSpPr>
          <p:cNvPr id="32" name="box-629"/>
          <p:cNvSpPr/>
          <p:nvPr/>
        </p:nvSpPr>
        <p:spPr>
          <a:xfrm>
            <a:off x="387477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-630"/>
          <p:cNvSpPr txBox="1"/>
          <p:nvPr/>
        </p:nvSpPr>
        <p:spPr>
          <a:xfrm>
            <a:off x="392049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</a:t>
            </a:r>
            <a:endParaRPr lang="en-US" sz="1400" dirty="0"/>
          </a:p>
        </p:txBody>
      </p:sp>
      <p:sp>
        <p:nvSpPr>
          <p:cNvPr id="34" name="box-631"/>
          <p:cNvSpPr/>
          <p:nvPr/>
        </p:nvSpPr>
        <p:spPr>
          <a:xfrm>
            <a:off x="528066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632"/>
          <p:cNvSpPr txBox="1"/>
          <p:nvPr/>
        </p:nvSpPr>
        <p:spPr>
          <a:xfrm>
            <a:off x="532638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00" dirty="0"/>
          </a:p>
        </p:txBody>
      </p:sp>
      <p:sp>
        <p:nvSpPr>
          <p:cNvPr id="36" name="box-633"/>
          <p:cNvSpPr/>
          <p:nvPr/>
        </p:nvSpPr>
        <p:spPr>
          <a:xfrm>
            <a:off x="668655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7" name="text-634"/>
          <p:cNvSpPr txBox="1"/>
          <p:nvPr/>
        </p:nvSpPr>
        <p:spPr>
          <a:xfrm>
            <a:off x="673227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Lock, Properties</a:t>
            </a:r>
            <a:endParaRPr lang="en-US" sz="1400" dirty="0"/>
          </a:p>
        </p:txBody>
      </p:sp>
      <p:sp>
        <p:nvSpPr>
          <p:cNvPr id="38" name="text-635"/>
          <p:cNvSpPr txBox="1"/>
          <p:nvPr/>
        </p:nvSpPr>
        <p:spPr>
          <a:xfrm>
            <a:off x="8503920" y="155448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calls travel</a:t>
            </a:r>
            <a:endParaRPr lang="en-US" sz="1600" dirty="0"/>
          </a:p>
        </p:txBody>
      </p:sp>
      <p:sp>
        <p:nvSpPr>
          <p:cNvPr id="39" name="text-636"/>
          <p:cNvSpPr txBox="1"/>
          <p:nvPr/>
        </p:nvSpPr>
        <p:spPr>
          <a:xfrm>
            <a:off x="8503920" y="2011680"/>
            <a:ext cx="3139135" cy="348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and triggers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functions in Code.gs, which forward to WorkspaceTM.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google.script.run, which reaches the sheet's script; a forwarder passes the call 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the tabs, using the Sheets API for native tables.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Tasks, Calendar and Gmail as the trigger owner.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tabs and document properties.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modules and what each owns</a:t>
            </a:r>
            <a:endParaRPr lang="en-US" sz="3200" dirty="0"/>
          </a:p>
        </p:txBody>
      </p:sp>
      <p:sp>
        <p:nvSpPr>
          <p:cNvPr id="3" name="pill-637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graphicFrame>
        <p:nvGraphicFramePr>
          <p:cNvPr id="33" name="table-6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2364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actions, setupOrUpgrade, triggers, nightly job, edit router, Sync 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Schema.js, Tables.js, Init.js, Typography.js, Layout.js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spec, table registry, table creation and migration, fonts, visible and hidden tabs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ValidationManager.js, ProtectionManager.js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fields and highlights; protections, admin list, warning snooze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presence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SyncEngine.js, MembersService.js, Sidebar.js, PresenceEngine.js, ViewBuilder.js, Locations.js, Holidays.js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from contracts, sidebars, Presence Log compile, Weekly Presence, locations, holidays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ProjectBackupEngine.js, BackupService.js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per day, In charge today, alerts; interim backup sidebar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 &amp;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TaskSyncService.js, CalendarSyncService.js, Birthdays.js, KpiEngine.js, WorkspaceCheck.js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Tasks, Calendar, birthdays, KPI Data, Check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BaselineSidebar, MembersSidebar, BackupSidebar, WorkspaceCheckDialog (.html)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 HTML panels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model: what people write, what the system derives</a:t>
            </a:r>
            <a:endParaRPr lang="en-US" sz="3200" dirty="0"/>
          </a:p>
        </p:txBody>
      </p:sp>
      <p:sp>
        <p:nvSpPr>
          <p:cNvPr id="3" name="pill-63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640"/>
          <p:cNvSpPr txBox="1"/>
          <p:nvPr/>
        </p:nvSpPr>
        <p:spPr>
          <a:xfrm>
            <a:off x="548640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people</a:t>
            </a:r>
            <a:endParaRPr lang="en-US" sz="1600" dirty="0"/>
          </a:p>
        </p:txBody>
      </p:sp>
      <p:sp>
        <p:nvSpPr>
          <p:cNvPr id="5" name="text-641"/>
          <p:cNvSpPr txBox="1"/>
          <p:nvPr/>
        </p:nvSpPr>
        <p:spPr>
          <a:xfrm>
            <a:off x="7299655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by the Library</a:t>
            </a:r>
            <a:endParaRPr lang="en-US" sz="1600" dirty="0"/>
          </a:p>
        </p:txBody>
      </p:sp>
      <p:sp>
        <p:nvSpPr>
          <p:cNvPr id="6" name="box-642"/>
          <p:cNvSpPr/>
          <p:nvPr/>
        </p:nvSpPr>
        <p:spPr>
          <a:xfrm>
            <a:off x="548640" y="20116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7" name="text-643"/>
          <p:cNvSpPr txBox="1"/>
          <p:nvPr/>
        </p:nvSpPr>
        <p:spPr>
          <a:xfrm>
            <a:off x="731520" y="20116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role, department, dates, type, FTE</a:t>
            </a:r>
            <a:endParaRPr lang="en-US" sz="1500" dirty="0"/>
          </a:p>
        </p:txBody>
      </p:sp>
      <p:sp>
        <p:nvSpPr>
          <p:cNvPr id="8" name="box-644"/>
          <p:cNvSpPr/>
          <p:nvPr/>
        </p:nvSpPr>
        <p:spPr>
          <a:xfrm>
            <a:off x="548640" y="272034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9" name="text-645"/>
          <p:cNvSpPr txBox="1"/>
          <p:nvPr/>
        </p:nvSpPr>
        <p:spPr>
          <a:xfrm>
            <a:off x="731520" y="272034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weekday, AM/PM, dates</a:t>
            </a:r>
            <a:endParaRPr lang="en-US" sz="1500" dirty="0"/>
          </a:p>
        </p:txBody>
      </p:sp>
      <p:sp>
        <p:nvSpPr>
          <p:cNvPr id="10" name="box-646"/>
          <p:cNvSpPr/>
          <p:nvPr/>
        </p:nvSpPr>
        <p:spPr>
          <a:xfrm>
            <a:off x="548640" y="342900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1" name="text-647"/>
          <p:cNvSpPr txBox="1"/>
          <p:nvPr/>
        </p:nvSpPr>
        <p:spPr>
          <a:xfrm>
            <a:off x="731520" y="342900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dates, half-days, type, status</a:t>
            </a:r>
            <a:endParaRPr lang="en-US" sz="1500" dirty="0"/>
          </a:p>
        </p:txBody>
      </p:sp>
      <p:sp>
        <p:nvSpPr>
          <p:cNvPr id="12" name="box-648"/>
          <p:cNvSpPr/>
          <p:nvPr/>
        </p:nvSpPr>
        <p:spPr>
          <a:xfrm>
            <a:off x="548640" y="413766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3" name="text-649"/>
          <p:cNvSpPr txBox="1"/>
          <p:nvPr/>
        </p:nvSpPr>
        <p:spPr>
          <a:xfrm>
            <a:off x="731520" y="413766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Backups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backup, interim cover</a:t>
            </a:r>
            <a:endParaRPr lang="en-US" sz="1500" dirty="0"/>
          </a:p>
        </p:txBody>
      </p:sp>
      <p:sp>
        <p:nvSpPr>
          <p:cNvPr id="14" name="box-650"/>
          <p:cNvSpPr/>
          <p:nvPr/>
        </p:nvSpPr>
        <p:spPr>
          <a:xfrm>
            <a:off x="548640" y="484632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5" name="text-651"/>
          <p:cNvSpPr txBox="1"/>
          <p:nvPr/>
        </p:nvSpPr>
        <p:spPr>
          <a:xfrm>
            <a:off x="731520" y="484632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Holidays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and non-working days</a:t>
            </a:r>
            <a:endParaRPr lang="en-US" sz="1500" dirty="0"/>
          </a:p>
        </p:txBody>
      </p:sp>
      <p:sp>
        <p:nvSpPr>
          <p:cNvPr id="16" name="box-652"/>
          <p:cNvSpPr/>
          <p:nvPr/>
        </p:nvSpPr>
        <p:spPr>
          <a:xfrm>
            <a:off x="548640" y="55549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7" name="text-653"/>
          <p:cNvSpPr txBox="1"/>
          <p:nvPr/>
        </p:nvSpPr>
        <p:spPr>
          <a:xfrm>
            <a:off x="731520" y="55549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Events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and gatherings</a:t>
            </a:r>
            <a:endParaRPr lang="en-US" sz="1500" dirty="0"/>
          </a:p>
        </p:txBody>
      </p:sp>
      <p:sp>
        <p:nvSpPr>
          <p:cNvPr id="18" name="box-654"/>
          <p:cNvSpPr/>
          <p:nvPr/>
        </p:nvSpPr>
        <p:spPr>
          <a:xfrm>
            <a:off x="7299655" y="20116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19" name="text-655"/>
          <p:cNvSpPr txBox="1"/>
          <p:nvPr/>
        </p:nvSpPr>
        <p:spPr>
          <a:xfrm>
            <a:off x="7482535" y="20116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Status, Today</a:t>
            </a:r>
            <a:endParaRPr lang="en-US" sz="1500" dirty="0"/>
          </a:p>
        </p:txBody>
      </p:sp>
      <p:sp>
        <p:nvSpPr>
          <p:cNvPr id="20" name="box-656"/>
          <p:cNvSpPr/>
          <p:nvPr/>
        </p:nvSpPr>
        <p:spPr>
          <a:xfrm>
            <a:off x="7299655" y="272034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1" name="text-657"/>
          <p:cNvSpPr txBox="1"/>
          <p:nvPr/>
        </p:nvSpPr>
        <p:spPr>
          <a:xfrm>
            <a:off x="7482535" y="272034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Member per working day</a:t>
            </a:r>
            <a:endParaRPr lang="en-US" sz="1500" dirty="0"/>
          </a:p>
        </p:txBody>
      </p:sp>
      <p:sp>
        <p:nvSpPr>
          <p:cNvPr id="22" name="box-658"/>
          <p:cNvSpPr/>
          <p:nvPr/>
        </p:nvSpPr>
        <p:spPr>
          <a:xfrm>
            <a:off x="7299655" y="342900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3" name="text-659"/>
          <p:cNvSpPr txBox="1"/>
          <p:nvPr/>
        </p:nvSpPr>
        <p:spPr>
          <a:xfrm>
            <a:off x="7482535" y="342900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view of the Presence Log</a:t>
            </a:r>
            <a:endParaRPr lang="en-US" sz="1500" dirty="0"/>
          </a:p>
        </p:txBody>
      </p:sp>
      <p:sp>
        <p:nvSpPr>
          <p:cNvPr id="24" name="box-660"/>
          <p:cNvSpPr/>
          <p:nvPr/>
        </p:nvSpPr>
        <p:spPr>
          <a:xfrm>
            <a:off x="7299655" y="413766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5" name="text-661"/>
          <p:cNvSpPr txBox="1"/>
          <p:nvPr/>
        </p:nvSpPr>
        <p:spPr>
          <a:xfrm>
            <a:off x="7482535" y="413766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charge today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result per project</a:t>
            </a:r>
            <a:endParaRPr lang="en-US" sz="1500" dirty="0"/>
          </a:p>
        </p:txBody>
      </p:sp>
      <p:sp>
        <p:nvSpPr>
          <p:cNvPr id="26" name="box-662"/>
          <p:cNvSpPr/>
          <p:nvPr/>
        </p:nvSpPr>
        <p:spPr>
          <a:xfrm>
            <a:off x="7299655" y="484632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7" name="text-663"/>
          <p:cNvSpPr txBox="1"/>
          <p:nvPr/>
        </p:nvSpPr>
        <p:spPr>
          <a:xfrm>
            <a:off x="7482535" y="484632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× day × half-day facts</a:t>
            </a:r>
            <a:endParaRPr lang="en-US" sz="1500" dirty="0"/>
          </a:p>
        </p:txBody>
      </p:sp>
      <p:sp>
        <p:nvSpPr>
          <p:cNvPr id="28" name="box-664"/>
          <p:cNvSpPr/>
          <p:nvPr/>
        </p:nvSpPr>
        <p:spPr>
          <a:xfrm>
            <a:off x="7299655" y="55549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9" name="text-665"/>
          <p:cNvSpPr txBox="1"/>
          <p:nvPr/>
        </p:nvSpPr>
        <p:spPr>
          <a:xfrm>
            <a:off x="7482535" y="55549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Tasks, Calendar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copies with stored IDs</a:t>
            </a:r>
            <a:endParaRPr lang="en-US" sz="1500" dirty="0"/>
          </a:p>
        </p:txBody>
      </p:sp>
      <p:sp>
        <p:nvSpPr>
          <p:cNvPr id="30" name="box-666"/>
          <p:cNvSpPr/>
          <p:nvPr/>
        </p:nvSpPr>
        <p:spPr>
          <a:xfrm>
            <a:off x="5303520" y="2011680"/>
            <a:ext cx="1584655" cy="4114800"/>
          </a:xfrm>
          <a:prstGeom prst="roundRect">
            <a:avLst>
              <a:gd name="adj" fmla="val 4616"/>
            </a:avLst>
          </a:prstGeom>
          <a:solidFill>
            <a:srgbClr val="3B1E66"/>
          </a:solidFill>
          <a:ln/>
        </p:spPr>
      </p:sp>
      <p:sp>
        <p:nvSpPr>
          <p:cNvPr id="31" name="text-667"/>
          <p:cNvSpPr txBox="1"/>
          <p:nvPr/>
        </p:nvSpPr>
        <p:spPr>
          <a:xfrm>
            <a:off x="5303520" y="224028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700" dirty="0"/>
          </a:p>
        </p:txBody>
      </p:sp>
      <p:sp>
        <p:nvSpPr>
          <p:cNvPr id="32" name="text-668"/>
          <p:cNvSpPr txBox="1"/>
          <p:nvPr/>
        </p:nvSpPr>
        <p:spPr>
          <a:xfrm>
            <a:off x="5440680" y="2743200"/>
            <a:ext cx="13103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rows on the Member's people chip and the project ID, then syncs, compiles, checks coverage and renders</a:t>
            </a:r>
            <a:endParaRPr lang="en-US" sz="1400" dirty="0"/>
          </a:p>
        </p:txBody>
      </p:sp>
      <p:sp>
        <p:nvSpPr>
          <p:cNvPr id="33" name="arrow-669"/>
          <p:cNvSpPr/>
          <p:nvPr/>
        </p:nvSpPr>
        <p:spPr>
          <a:xfrm>
            <a:off x="4928616" y="229743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4" name="arrow-670"/>
          <p:cNvSpPr/>
          <p:nvPr/>
        </p:nvSpPr>
        <p:spPr>
          <a:xfrm>
            <a:off x="6924751" y="229743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5" name="arrow-671"/>
          <p:cNvSpPr/>
          <p:nvPr/>
        </p:nvSpPr>
        <p:spPr>
          <a:xfrm>
            <a:off x="4928616" y="300609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6" name="arrow-672"/>
          <p:cNvSpPr/>
          <p:nvPr/>
        </p:nvSpPr>
        <p:spPr>
          <a:xfrm>
            <a:off x="6924751" y="300609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7" name="arrow-673"/>
          <p:cNvSpPr/>
          <p:nvPr/>
        </p:nvSpPr>
        <p:spPr>
          <a:xfrm>
            <a:off x="4928616" y="371475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8" name="arrow-674"/>
          <p:cNvSpPr/>
          <p:nvPr/>
        </p:nvSpPr>
        <p:spPr>
          <a:xfrm>
            <a:off x="6924751" y="371475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9" name="arrow-675"/>
          <p:cNvSpPr/>
          <p:nvPr/>
        </p:nvSpPr>
        <p:spPr>
          <a:xfrm>
            <a:off x="4928616" y="442341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0" name="arrow-676"/>
          <p:cNvSpPr/>
          <p:nvPr/>
        </p:nvSpPr>
        <p:spPr>
          <a:xfrm>
            <a:off x="6924751" y="442341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41" name="arrow-677"/>
          <p:cNvSpPr/>
          <p:nvPr/>
        </p:nvSpPr>
        <p:spPr>
          <a:xfrm>
            <a:off x="4928616" y="513207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2" name="arrow-678"/>
          <p:cNvSpPr/>
          <p:nvPr/>
        </p:nvSpPr>
        <p:spPr>
          <a:xfrm>
            <a:off x="6924751" y="513207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43" name="arrow-679"/>
          <p:cNvSpPr/>
          <p:nvPr/>
        </p:nvSpPr>
        <p:spPr>
          <a:xfrm>
            <a:off x="4928616" y="584073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4" name="arrow-680"/>
          <p:cNvSpPr/>
          <p:nvPr/>
        </p:nvSpPr>
        <p:spPr>
          <a:xfrm>
            <a:off x="6924751" y="584073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 pipeline: what happens after you type</a:t>
            </a:r>
            <a:endParaRPr lang="en-US" sz="3200" dirty="0"/>
          </a:p>
        </p:txBody>
      </p:sp>
      <p:sp>
        <p:nvSpPr>
          <p:cNvPr id="3" name="pill-681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682"/>
          <p:cNvSpPr/>
          <p:nvPr/>
        </p:nvSpPr>
        <p:spPr>
          <a:xfrm>
            <a:off x="548640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5" name="text-683"/>
          <p:cNvSpPr txBox="1"/>
          <p:nvPr/>
        </p:nvSpPr>
        <p:spPr>
          <a:xfrm>
            <a:off x="73152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-684"/>
          <p:cNvSpPr txBox="1"/>
          <p:nvPr/>
        </p:nvSpPr>
        <p:spPr>
          <a:xfrm>
            <a:off x="1325880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700" dirty="0"/>
          </a:p>
        </p:txBody>
      </p:sp>
      <p:sp>
        <p:nvSpPr>
          <p:cNvPr id="7" name="text-685"/>
          <p:cNvSpPr txBox="1"/>
          <p:nvPr/>
        </p:nvSpPr>
        <p:spPr>
          <a:xfrm>
            <a:off x="1325880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changes in any tab</a:t>
            </a:r>
            <a:endParaRPr lang="en-US" sz="1300" dirty="0"/>
          </a:p>
        </p:txBody>
      </p:sp>
      <p:sp>
        <p:nvSpPr>
          <p:cNvPr id="8" name="box-686"/>
          <p:cNvSpPr/>
          <p:nvPr/>
        </p:nvSpPr>
        <p:spPr>
          <a:xfrm>
            <a:off x="4338218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9" name="text-687"/>
          <p:cNvSpPr txBox="1"/>
          <p:nvPr/>
        </p:nvSpPr>
        <p:spPr>
          <a:xfrm>
            <a:off x="4521098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-688"/>
          <p:cNvSpPr txBox="1"/>
          <p:nvPr/>
        </p:nvSpPr>
        <p:spPr>
          <a:xfrm>
            <a:off x="5115458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</a:t>
            </a:r>
            <a:endParaRPr lang="en-US" sz="1700" dirty="0"/>
          </a:p>
        </p:txBody>
      </p:sp>
      <p:sp>
        <p:nvSpPr>
          <p:cNvPr id="11" name="text-689"/>
          <p:cNvSpPr txBox="1"/>
          <p:nvPr/>
        </p:nvSpPr>
        <p:spPr>
          <a:xfrm>
            <a:off x="5115458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onEdit steps aside when the installable trigger is active</a:t>
            </a:r>
            <a:endParaRPr lang="en-US" sz="1300" dirty="0"/>
          </a:p>
        </p:txBody>
      </p:sp>
      <p:sp>
        <p:nvSpPr>
          <p:cNvPr id="12" name="box-690"/>
          <p:cNvSpPr/>
          <p:nvPr/>
        </p:nvSpPr>
        <p:spPr>
          <a:xfrm>
            <a:off x="8127797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13" name="text-691"/>
          <p:cNvSpPr txBox="1"/>
          <p:nvPr/>
        </p:nvSpPr>
        <p:spPr>
          <a:xfrm>
            <a:off x="8310677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-692"/>
          <p:cNvSpPr txBox="1"/>
          <p:nvPr/>
        </p:nvSpPr>
        <p:spPr>
          <a:xfrm>
            <a:off x="8905037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Lock</a:t>
            </a:r>
            <a:endParaRPr lang="en-US" sz="1700" dirty="0"/>
          </a:p>
        </p:txBody>
      </p:sp>
      <p:sp>
        <p:nvSpPr>
          <p:cNvPr id="15" name="text-693"/>
          <p:cNvSpPr txBox="1"/>
          <p:nvPr/>
        </p:nvSpPr>
        <p:spPr>
          <a:xfrm>
            <a:off x="8905037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up to 10 s; during the nightly job a toast says “Sync in progress”</a:t>
            </a:r>
            <a:endParaRPr lang="en-US" sz="1300" dirty="0"/>
          </a:p>
        </p:txBody>
      </p:sp>
      <p:sp>
        <p:nvSpPr>
          <p:cNvPr id="16" name="box-694"/>
          <p:cNvSpPr/>
          <p:nvPr/>
        </p:nvSpPr>
        <p:spPr>
          <a:xfrm>
            <a:off x="548640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17" name="text-695"/>
          <p:cNvSpPr txBox="1"/>
          <p:nvPr/>
        </p:nvSpPr>
        <p:spPr>
          <a:xfrm>
            <a:off x="731520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-696"/>
          <p:cNvSpPr txBox="1"/>
          <p:nvPr/>
        </p:nvSpPr>
        <p:spPr>
          <a:xfrm>
            <a:off x="1325880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tab</a:t>
            </a:r>
            <a:endParaRPr lang="en-US" sz="1700" dirty="0"/>
          </a:p>
        </p:txBody>
      </p:sp>
      <p:sp>
        <p:nvSpPr>
          <p:cNvPr id="19" name="text-697"/>
          <p:cNvSpPr txBox="1"/>
          <p:nvPr/>
        </p:nvSpPr>
        <p:spPr>
          <a:xfrm>
            <a:off x="1325880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is found by stored ID, never by name</a:t>
            </a:r>
            <a:endParaRPr lang="en-US" sz="1300" dirty="0"/>
          </a:p>
        </p:txBody>
      </p:sp>
      <p:sp>
        <p:nvSpPr>
          <p:cNvPr id="20" name="box-698"/>
          <p:cNvSpPr/>
          <p:nvPr/>
        </p:nvSpPr>
        <p:spPr>
          <a:xfrm>
            <a:off x="4338218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21" name="text-699"/>
          <p:cNvSpPr txBox="1"/>
          <p:nvPr/>
        </p:nvSpPr>
        <p:spPr>
          <a:xfrm>
            <a:off x="4521098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-700"/>
          <p:cNvSpPr txBox="1"/>
          <p:nvPr/>
        </p:nvSpPr>
        <p:spPr>
          <a:xfrm>
            <a:off x="5115458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handlers</a:t>
            </a:r>
            <a:endParaRPr lang="en-US" sz="1700" dirty="0"/>
          </a:p>
        </p:txBody>
      </p:sp>
      <p:sp>
        <p:nvSpPr>
          <p:cNvPr id="23" name="text-701"/>
          <p:cNvSpPr txBox="1"/>
          <p:nvPr/>
        </p:nvSpPr>
        <p:spPr>
          <a:xfrm>
            <a:off x="5115458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 → Presence Log; Tasks and Events → IDs, Google sync</a:t>
            </a:r>
            <a:endParaRPr lang="en-US" sz="1300" dirty="0"/>
          </a:p>
        </p:txBody>
      </p:sp>
      <p:sp>
        <p:nvSpPr>
          <p:cNvPr id="24" name="box-702"/>
          <p:cNvSpPr/>
          <p:nvPr/>
        </p:nvSpPr>
        <p:spPr>
          <a:xfrm>
            <a:off x="8127797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25" name="text-703"/>
          <p:cNvSpPr txBox="1"/>
          <p:nvPr/>
        </p:nvSpPr>
        <p:spPr>
          <a:xfrm>
            <a:off x="8310677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-704"/>
          <p:cNvSpPr txBox="1"/>
          <p:nvPr/>
        </p:nvSpPr>
        <p:spPr>
          <a:xfrm>
            <a:off x="8905037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7" name="text-705"/>
          <p:cNvSpPr txBox="1"/>
          <p:nvPr/>
        </p:nvSpPr>
        <p:spPr>
          <a:xfrm>
            <a:off x="8905037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named in a toast</a:t>
            </a:r>
            <a:endParaRPr lang="en-US" sz="1300" dirty="0"/>
          </a:p>
        </p:txBody>
      </p:sp>
      <p:sp>
        <p:nvSpPr>
          <p:cNvPr id="28" name="box-706"/>
          <p:cNvSpPr/>
          <p:nvPr/>
        </p:nvSpPr>
        <p:spPr>
          <a:xfrm>
            <a:off x="548640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29" name="text-707"/>
          <p:cNvSpPr txBox="1"/>
          <p:nvPr/>
        </p:nvSpPr>
        <p:spPr>
          <a:xfrm>
            <a:off x="731520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-708"/>
          <p:cNvSpPr txBox="1"/>
          <p:nvPr/>
        </p:nvSpPr>
        <p:spPr>
          <a:xfrm>
            <a:off x="1325880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check</a:t>
            </a:r>
            <a:endParaRPr lang="en-US" sz="1700" dirty="0"/>
          </a:p>
        </p:txBody>
      </p:sp>
      <p:sp>
        <p:nvSpPr>
          <p:cNvPr id="31" name="text-709"/>
          <p:cNvSpPr txBox="1"/>
          <p:nvPr/>
        </p:nvSpPr>
        <p:spPr>
          <a:xfrm>
            <a:off x="1325880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dialog on protected cells, snoozable for 5 min</a:t>
            </a:r>
            <a:endParaRPr lang="en-US" sz="1300" dirty="0"/>
          </a:p>
        </p:txBody>
      </p:sp>
      <p:sp>
        <p:nvSpPr>
          <p:cNvPr id="32" name="box-710"/>
          <p:cNvSpPr/>
          <p:nvPr/>
        </p:nvSpPr>
        <p:spPr>
          <a:xfrm>
            <a:off x="4338218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33" name="text-711"/>
          <p:cNvSpPr txBox="1"/>
          <p:nvPr/>
        </p:nvSpPr>
        <p:spPr>
          <a:xfrm>
            <a:off x="4521098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34" name="text-712"/>
          <p:cNvSpPr txBox="1"/>
          <p:nvPr/>
        </p:nvSpPr>
        <p:spPr>
          <a:xfrm>
            <a:off x="5115458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700" dirty="0"/>
          </a:p>
        </p:txBody>
      </p:sp>
      <p:sp>
        <p:nvSpPr>
          <p:cNvPr id="35" name="text-713"/>
          <p:cNvSpPr txBox="1"/>
          <p:nvPr/>
        </p:nvSpPr>
        <p:spPr>
          <a:xfrm>
            <a:off x="5115458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Members sync; Locations → dropdowns; Projects → backup prompt</a:t>
            </a:r>
            <a:endParaRPr lang="en-US" sz="1300" dirty="0"/>
          </a:p>
        </p:txBody>
      </p:sp>
      <p:sp>
        <p:nvSpPr>
          <p:cNvPr id="36" name="box-714"/>
          <p:cNvSpPr/>
          <p:nvPr/>
        </p:nvSpPr>
        <p:spPr>
          <a:xfrm>
            <a:off x="8127797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37" name="text-715"/>
          <p:cNvSpPr txBox="1"/>
          <p:nvPr/>
        </p:nvSpPr>
        <p:spPr>
          <a:xfrm>
            <a:off x="8310677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8" name="text-716"/>
          <p:cNvSpPr txBox="1"/>
          <p:nvPr/>
        </p:nvSpPr>
        <p:spPr>
          <a:xfrm>
            <a:off x="8905037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700" dirty="0"/>
          </a:p>
        </p:txBody>
      </p:sp>
      <p:sp>
        <p:nvSpPr>
          <p:cNvPr id="39" name="text-717"/>
          <p:cNvSpPr txBox="1"/>
          <p:nvPr/>
        </p:nvSpPr>
        <p:spPr>
          <a:xfrm>
            <a:off x="8905037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to Projects, Leaves or Backups re-check coverage</a:t>
            </a:r>
            <a:endParaRPr lang="en-US" sz="1300" dirty="0"/>
          </a:p>
        </p:txBody>
      </p:sp>
      <p:sp>
        <p:nvSpPr>
          <p:cNvPr id="40" name="text-718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isolated: an error is logged and the next step still runs. Edits slower than 3 s write an [edit timing] line to the execution log.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compilation: from rules to a daily record</a:t>
            </a:r>
            <a:endParaRPr lang="en-US" sz="3200" dirty="0"/>
          </a:p>
        </p:txBody>
      </p:sp>
      <p:sp>
        <p:nvSpPr>
          <p:cNvPr id="3" name="pill-71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720"/>
          <p:cNvSpPr txBox="1"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active Member and working day up to today</a:t>
            </a:r>
            <a:endParaRPr lang="en-US" sz="1600" dirty="0"/>
          </a:p>
        </p:txBody>
      </p:sp>
      <p:sp>
        <p:nvSpPr>
          <p:cNvPr id="5" name="box-721"/>
          <p:cNvSpPr/>
          <p:nvPr/>
        </p:nvSpPr>
        <p:spPr>
          <a:xfrm>
            <a:off x="548640" y="2057400"/>
            <a:ext cx="6035040" cy="893826"/>
          </a:xfrm>
          <a:prstGeom prst="roundRect">
            <a:avLst>
              <a:gd name="adj" fmla="val 8184"/>
            </a:avLst>
          </a:prstGeom>
          <a:solidFill>
            <a:srgbClr val="E6F4EA"/>
          </a:solidFill>
          <a:ln/>
        </p:spPr>
      </p:sp>
      <p:sp>
        <p:nvSpPr>
          <p:cNvPr id="6" name="text-722"/>
          <p:cNvSpPr txBox="1"/>
          <p:nvPr/>
        </p:nvSpPr>
        <p:spPr>
          <a:xfrm>
            <a:off x="777240" y="2057400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-723"/>
          <p:cNvSpPr txBox="1"/>
          <p:nvPr/>
        </p:nvSpPr>
        <p:spPr>
          <a:xfrm>
            <a:off x="1325880" y="2126361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already exists</a:t>
            </a:r>
            <a:endParaRPr lang="en-US" sz="1600" dirty="0"/>
          </a:p>
        </p:txBody>
      </p:sp>
      <p:sp>
        <p:nvSpPr>
          <p:cNvPr id="8" name="text-724"/>
          <p:cNvSpPr txBox="1"/>
          <p:nvPr/>
        </p:nvSpPr>
        <p:spPr>
          <a:xfrm>
            <a:off x="1325880" y="2473833"/>
            <a:ext cx="5074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is: hand entries and earlier compiles are never overwritten.</a:t>
            </a:r>
            <a:endParaRPr lang="en-US" sz="1400" dirty="0"/>
          </a:p>
        </p:txBody>
      </p:sp>
      <p:sp>
        <p:nvSpPr>
          <p:cNvPr id="9" name="box-725"/>
          <p:cNvSpPr/>
          <p:nvPr/>
        </p:nvSpPr>
        <p:spPr>
          <a:xfrm>
            <a:off x="822960" y="3115818"/>
            <a:ext cx="5760720" cy="893826"/>
          </a:xfrm>
          <a:prstGeom prst="roundRect">
            <a:avLst>
              <a:gd name="adj" fmla="val 8184"/>
            </a:avLst>
          </a:prstGeom>
          <a:solidFill>
            <a:srgbClr val="FCE8E6"/>
          </a:solidFill>
          <a:ln/>
        </p:spPr>
      </p:sp>
      <p:sp>
        <p:nvSpPr>
          <p:cNvPr id="10" name="text-726"/>
          <p:cNvSpPr txBox="1"/>
          <p:nvPr/>
        </p:nvSpPr>
        <p:spPr>
          <a:xfrm>
            <a:off x="1051560" y="3115818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-727"/>
          <p:cNvSpPr txBox="1"/>
          <p:nvPr/>
        </p:nvSpPr>
        <p:spPr>
          <a:xfrm>
            <a:off x="1600200" y="3184779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leave covers the day</a:t>
            </a:r>
            <a:endParaRPr lang="en-US" sz="1600" dirty="0"/>
          </a:p>
        </p:txBody>
      </p:sp>
      <p:sp>
        <p:nvSpPr>
          <p:cNvPr id="12" name="text-728"/>
          <p:cNvSpPr txBox="1"/>
          <p:nvPr/>
        </p:nvSpPr>
        <p:spPr>
          <a:xfrm>
            <a:off x="1600200" y="3532251"/>
            <a:ext cx="4800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 written for AM, PM or both (half-day leaves split).</a:t>
            </a:r>
            <a:endParaRPr lang="en-US" sz="1400" dirty="0"/>
          </a:p>
        </p:txBody>
      </p:sp>
      <p:sp>
        <p:nvSpPr>
          <p:cNvPr id="13" name="box-729"/>
          <p:cNvSpPr/>
          <p:nvPr/>
        </p:nvSpPr>
        <p:spPr>
          <a:xfrm>
            <a:off x="1097280" y="4174236"/>
            <a:ext cx="5486400" cy="893826"/>
          </a:xfrm>
          <a:prstGeom prst="roundRect">
            <a:avLst>
              <a:gd name="adj" fmla="val 8184"/>
            </a:avLst>
          </a:prstGeom>
          <a:solidFill>
            <a:srgbClr val="F3E8FD"/>
          </a:solidFill>
          <a:ln/>
        </p:spPr>
      </p:sp>
      <p:sp>
        <p:nvSpPr>
          <p:cNvPr id="14" name="text-730"/>
          <p:cNvSpPr txBox="1"/>
          <p:nvPr/>
        </p:nvSpPr>
        <p:spPr>
          <a:xfrm>
            <a:off x="1325880" y="4174236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-731"/>
          <p:cNvSpPr txBox="1"/>
          <p:nvPr/>
        </p:nvSpPr>
        <p:spPr>
          <a:xfrm>
            <a:off x="1874520" y="4349877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matches the weekday</a:t>
            </a:r>
            <a:endParaRPr lang="en-US" sz="1600" dirty="0"/>
          </a:p>
        </p:txBody>
      </p:sp>
      <p:sp>
        <p:nvSpPr>
          <p:cNvPr id="16" name="text-732"/>
          <p:cNvSpPr txBox="1"/>
          <p:nvPr/>
        </p:nvSpPr>
        <p:spPr>
          <a:xfrm>
            <a:off x="1874520" y="4697349"/>
            <a:ext cx="45262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AM and PM locations are written.</a:t>
            </a:r>
            <a:endParaRPr lang="en-US" sz="1400" dirty="0"/>
          </a:p>
        </p:txBody>
      </p:sp>
      <p:sp>
        <p:nvSpPr>
          <p:cNvPr id="17" name="box-733"/>
          <p:cNvSpPr/>
          <p:nvPr/>
        </p:nvSpPr>
        <p:spPr>
          <a:xfrm>
            <a:off x="1371600" y="5232654"/>
            <a:ext cx="5212080" cy="893826"/>
          </a:xfrm>
          <a:prstGeom prst="roundRect">
            <a:avLst>
              <a:gd name="adj" fmla="val 8184"/>
            </a:avLst>
          </a:prstGeom>
          <a:solidFill>
            <a:srgbClr val="F1F3F4"/>
          </a:solidFill>
          <a:ln/>
        </p:spPr>
      </p:sp>
      <p:sp>
        <p:nvSpPr>
          <p:cNvPr id="18" name="text-734"/>
          <p:cNvSpPr txBox="1"/>
          <p:nvPr/>
        </p:nvSpPr>
        <p:spPr>
          <a:xfrm>
            <a:off x="1600200" y="5232654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-735"/>
          <p:cNvSpPr txBox="1"/>
          <p:nvPr/>
        </p:nvSpPr>
        <p:spPr>
          <a:xfrm>
            <a:off x="2148840" y="5408295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applies</a:t>
            </a:r>
            <a:endParaRPr lang="en-US" sz="1600" dirty="0"/>
          </a:p>
        </p:txBody>
      </p:sp>
      <p:sp>
        <p:nvSpPr>
          <p:cNvPr id="20" name="text-736"/>
          <p:cNvSpPr txBox="1"/>
          <p:nvPr/>
        </p:nvSpPr>
        <p:spPr>
          <a:xfrm>
            <a:off x="2148840" y="5755767"/>
            <a:ext cx="42519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active Office location (OneRoof).</a:t>
            </a:r>
            <a:endParaRPr lang="en-US" sz="1400" dirty="0"/>
          </a:p>
        </p:txBody>
      </p:sp>
      <p:sp>
        <p:nvSpPr>
          <p:cNvPr id="21" name="text-737"/>
          <p:cNvSpPr txBox="1"/>
          <p:nvPr/>
        </p:nvSpPr>
        <p:spPr>
          <a:xfrm>
            <a:off x="6995160" y="15544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22" name="text-738"/>
          <p:cNvSpPr txBox="1"/>
          <p:nvPr/>
        </p:nvSpPr>
        <p:spPr>
          <a:xfrm>
            <a:off x="6995160" y="2057400"/>
            <a:ext cx="4647895" cy="315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today only.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Log is history; the future is planned through routines and leaves.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written only when a routine says the Member works or an approved leave covers them.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skipped unless someone types them 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Departed Members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skipped; days outside every contract are not compiled.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column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day's value, or Weekend, Public holiday or Not Logged.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nightly, after a routine or approved leave is saved, and from the migration command.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who is in charge, day by day</a:t>
            </a:r>
            <a:endParaRPr lang="en-US" sz="3200" dirty="0"/>
          </a:p>
        </p:txBody>
      </p:sp>
      <p:sp>
        <p:nvSpPr>
          <p:cNvPr id="3" name="pill-73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740"/>
          <p:cNvSpPr/>
          <p:nvPr/>
        </p:nvSpPr>
        <p:spPr>
          <a:xfrm>
            <a:off x="548640" y="15544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5" name="text-741"/>
          <p:cNvSpPr txBox="1"/>
          <p:nvPr/>
        </p:nvSpPr>
        <p:spPr>
          <a:xfrm>
            <a:off x="73152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lead present?</a:t>
            </a:r>
            <a:endParaRPr lang="en-US" sz="1500" dirty="0"/>
          </a:p>
        </p:txBody>
      </p:sp>
      <p:sp>
        <p:nvSpPr>
          <p:cNvPr id="6" name="arrow-742"/>
          <p:cNvSpPr/>
          <p:nvPr/>
        </p:nvSpPr>
        <p:spPr>
          <a:xfrm>
            <a:off x="3968496" y="18973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7" name="text-743"/>
          <p:cNvSpPr txBox="1"/>
          <p:nvPr/>
        </p:nvSpPr>
        <p:spPr>
          <a:xfrm>
            <a:off x="4023360" y="16230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8" name="box-744"/>
          <p:cNvSpPr/>
          <p:nvPr/>
        </p:nvSpPr>
        <p:spPr>
          <a:xfrm>
            <a:off x="4663440" y="15544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9" name="text-745"/>
          <p:cNvSpPr txBox="1"/>
          <p:nvPr/>
        </p:nvSpPr>
        <p:spPr>
          <a:xfrm>
            <a:off x="4663440" y="1554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500" dirty="0"/>
          </a:p>
        </p:txBody>
      </p:sp>
      <p:sp>
        <p:nvSpPr>
          <p:cNvPr id="10" name="arrow-746"/>
          <p:cNvSpPr/>
          <p:nvPr/>
        </p:nvSpPr>
        <p:spPr>
          <a:xfrm>
            <a:off x="2240280" y="22677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11" name="text-747"/>
          <p:cNvSpPr txBox="1"/>
          <p:nvPr/>
        </p:nvSpPr>
        <p:spPr>
          <a:xfrm>
            <a:off x="2350008" y="2426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2" name="box-748"/>
          <p:cNvSpPr/>
          <p:nvPr/>
        </p:nvSpPr>
        <p:spPr>
          <a:xfrm>
            <a:off x="548640" y="28498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13" name="text-749"/>
          <p:cNvSpPr txBox="1"/>
          <p:nvPr/>
        </p:nvSpPr>
        <p:spPr>
          <a:xfrm>
            <a:off x="731520" y="2849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interim backup active and present?</a:t>
            </a:r>
            <a:endParaRPr lang="en-US" sz="1500" dirty="0"/>
          </a:p>
        </p:txBody>
      </p:sp>
      <p:sp>
        <p:nvSpPr>
          <p:cNvPr id="14" name="arrow-750"/>
          <p:cNvSpPr/>
          <p:nvPr/>
        </p:nvSpPr>
        <p:spPr>
          <a:xfrm>
            <a:off x="3968496" y="31927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15" name="text-751"/>
          <p:cNvSpPr txBox="1"/>
          <p:nvPr/>
        </p:nvSpPr>
        <p:spPr>
          <a:xfrm>
            <a:off x="4023360" y="2918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box-752"/>
          <p:cNvSpPr/>
          <p:nvPr/>
        </p:nvSpPr>
        <p:spPr>
          <a:xfrm>
            <a:off x="4663440" y="28498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17" name="text-753"/>
          <p:cNvSpPr txBox="1"/>
          <p:nvPr/>
        </p:nvSpPr>
        <p:spPr>
          <a:xfrm>
            <a:off x="4663440" y="2849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(interim)</a:t>
            </a:r>
            <a:endParaRPr lang="en-US" sz="1500" dirty="0"/>
          </a:p>
        </p:txBody>
      </p:sp>
      <p:sp>
        <p:nvSpPr>
          <p:cNvPr id="18" name="arrow-754"/>
          <p:cNvSpPr/>
          <p:nvPr/>
        </p:nvSpPr>
        <p:spPr>
          <a:xfrm>
            <a:off x="2240280" y="35631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19" name="text-755"/>
          <p:cNvSpPr txBox="1"/>
          <p:nvPr/>
        </p:nvSpPr>
        <p:spPr>
          <a:xfrm>
            <a:off x="2350008" y="3721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box-756"/>
          <p:cNvSpPr/>
          <p:nvPr/>
        </p:nvSpPr>
        <p:spPr>
          <a:xfrm>
            <a:off x="548640" y="4145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21" name="text-757"/>
          <p:cNvSpPr txBox="1"/>
          <p:nvPr/>
        </p:nvSpPr>
        <p:spPr>
          <a:xfrm>
            <a:off x="731520" y="4145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Project Backup present?</a:t>
            </a:r>
            <a:endParaRPr lang="en-US" sz="1500" dirty="0"/>
          </a:p>
        </p:txBody>
      </p:sp>
      <p:sp>
        <p:nvSpPr>
          <p:cNvPr id="22" name="arrow-758"/>
          <p:cNvSpPr/>
          <p:nvPr/>
        </p:nvSpPr>
        <p:spPr>
          <a:xfrm>
            <a:off x="3968496" y="44881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23" name="text-759"/>
          <p:cNvSpPr txBox="1"/>
          <p:nvPr/>
        </p:nvSpPr>
        <p:spPr>
          <a:xfrm>
            <a:off x="4023360" y="42138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box-760"/>
          <p:cNvSpPr/>
          <p:nvPr/>
        </p:nvSpPr>
        <p:spPr>
          <a:xfrm>
            <a:off x="4663440" y="41452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25" name="text-761"/>
          <p:cNvSpPr txBox="1"/>
          <p:nvPr/>
        </p:nvSpPr>
        <p:spPr>
          <a:xfrm>
            <a:off x="4663440" y="4145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(backup)</a:t>
            </a:r>
            <a:endParaRPr lang="en-US" sz="1500" dirty="0"/>
          </a:p>
        </p:txBody>
      </p:sp>
      <p:sp>
        <p:nvSpPr>
          <p:cNvPr id="26" name="arrow-762"/>
          <p:cNvSpPr/>
          <p:nvPr/>
        </p:nvSpPr>
        <p:spPr>
          <a:xfrm>
            <a:off x="2240280" y="48585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27" name="text-763"/>
          <p:cNvSpPr txBox="1"/>
          <p:nvPr/>
        </p:nvSpPr>
        <p:spPr>
          <a:xfrm>
            <a:off x="2350008" y="5017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8" name="box-764"/>
          <p:cNvSpPr/>
          <p:nvPr/>
        </p:nvSpPr>
        <p:spPr>
          <a:xfrm>
            <a:off x="548640" y="54406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CE8E6"/>
          </a:solidFill>
          <a:ln/>
        </p:spPr>
      </p:sp>
      <p:pic>
        <p:nvPicPr>
          <p:cNvPr id="29" name="icon-7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18988"/>
            <a:ext cx="329184" cy="329184"/>
          </a:xfrm>
          <a:prstGeom prst="rect">
            <a:avLst/>
          </a:prstGeom>
        </p:spPr>
      </p:pic>
      <p:sp>
        <p:nvSpPr>
          <p:cNvPr id="30" name="text-766"/>
          <p:cNvSpPr txBox="1"/>
          <p:nvPr/>
        </p:nvSpPr>
        <p:spPr>
          <a:xfrm>
            <a:off x="1188720" y="5440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available</a:t>
            </a:r>
            <a:endParaRPr lang="en-US" sz="1600" dirty="0"/>
          </a:p>
        </p:txBody>
      </p:sp>
      <p:sp>
        <p:nvSpPr>
          <p:cNvPr id="31" name="text-767"/>
          <p:cNvSpPr txBox="1"/>
          <p:nvPr/>
        </p:nvSpPr>
        <p:spPr>
          <a:xfrm>
            <a:off x="7223760" y="155448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600" dirty="0"/>
          </a:p>
        </p:txBody>
      </p:sp>
      <p:sp>
        <p:nvSpPr>
          <p:cNvPr id="32" name="text-768"/>
          <p:cNvSpPr txBox="1"/>
          <p:nvPr/>
        </p:nvSpPr>
        <p:spPr>
          <a:xfrm>
            <a:off x="7223760" y="2011680"/>
            <a:ext cx="4419295" cy="367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checked: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working day from today to the last relevant leave, at most 366 days; weekends and public holidays skipped.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means: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or requested leave, outside every contract, or (today only) absent in the Today column.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approved absences are involved; warning if a requested leave 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grouped into periods across weekends.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column is mirrored as the open row in Backups; changing it ends the old row yesterday.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edits to Projects, Leaves and Backups, on leave declarations, compile and nightly.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nightly job, step by step</a:t>
            </a:r>
            <a:endParaRPr lang="en-US" sz="3200" dirty="0"/>
          </a:p>
        </p:txBody>
      </p:sp>
      <p:sp>
        <p:nvSpPr>
          <p:cNvPr id="3" name="pill-76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770"/>
          <p:cNvSpPr/>
          <p:nvPr/>
        </p:nvSpPr>
        <p:spPr>
          <a:xfrm>
            <a:off x="548640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5" name="text-771"/>
          <p:cNvSpPr txBox="1"/>
          <p:nvPr/>
        </p:nvSpPr>
        <p:spPr>
          <a:xfrm>
            <a:off x="731520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-772"/>
          <p:cNvSpPr txBox="1"/>
          <p:nvPr/>
        </p:nvSpPr>
        <p:spPr>
          <a:xfrm>
            <a:off x="731520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restore</a:t>
            </a:r>
            <a:endParaRPr lang="en-US" sz="1600" dirty="0"/>
          </a:p>
        </p:txBody>
      </p:sp>
      <p:sp>
        <p:nvSpPr>
          <p:cNvPr id="7" name="text-773"/>
          <p:cNvSpPr txBox="1"/>
          <p:nvPr/>
        </p:nvSpPr>
        <p:spPr>
          <a:xfrm>
            <a:off x="731520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repair</a:t>
            </a:r>
            <a:endParaRPr lang="en-US" sz="1300" dirty="0"/>
          </a:p>
        </p:txBody>
      </p:sp>
      <p:sp>
        <p:nvSpPr>
          <p:cNvPr id="8" name="box-774"/>
          <p:cNvSpPr/>
          <p:nvPr/>
        </p:nvSpPr>
        <p:spPr>
          <a:xfrm>
            <a:off x="2804099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9" name="text-775"/>
          <p:cNvSpPr txBox="1"/>
          <p:nvPr/>
        </p:nvSpPr>
        <p:spPr>
          <a:xfrm>
            <a:off x="2986979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pill-776"/>
          <p:cNvSpPr/>
          <p:nvPr/>
        </p:nvSpPr>
        <p:spPr>
          <a:xfrm>
            <a:off x="4023238" y="1737360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</a:t>
            </a:r>
            <a:endParaRPr lang="en-US" sz="1200" dirty="0"/>
          </a:p>
        </p:txBody>
      </p:sp>
      <p:sp>
        <p:nvSpPr>
          <p:cNvPr id="11" name="text-777"/>
          <p:cNvSpPr txBox="1"/>
          <p:nvPr/>
        </p:nvSpPr>
        <p:spPr>
          <a:xfrm>
            <a:off x="2986979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</a:t>
            </a:r>
            <a:endParaRPr lang="en-US" sz="1600" dirty="0"/>
          </a:p>
        </p:txBody>
      </p:sp>
      <p:sp>
        <p:nvSpPr>
          <p:cNvPr id="12" name="text-778"/>
          <p:cNvSpPr txBox="1"/>
          <p:nvPr/>
        </p:nvSpPr>
        <p:spPr>
          <a:xfrm>
            <a:off x="2986979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from Contracts, protections</a:t>
            </a:r>
            <a:endParaRPr lang="en-US" sz="1300" dirty="0"/>
          </a:p>
        </p:txBody>
      </p:sp>
      <p:sp>
        <p:nvSpPr>
          <p:cNvPr id="13" name="box-779"/>
          <p:cNvSpPr/>
          <p:nvPr/>
        </p:nvSpPr>
        <p:spPr>
          <a:xfrm>
            <a:off x="5059558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14" name="text-780"/>
          <p:cNvSpPr txBox="1"/>
          <p:nvPr/>
        </p:nvSpPr>
        <p:spPr>
          <a:xfrm>
            <a:off x="5242438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pill-781"/>
          <p:cNvSpPr/>
          <p:nvPr/>
        </p:nvSpPr>
        <p:spPr>
          <a:xfrm>
            <a:off x="6278697" y="1737360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</a:t>
            </a:r>
            <a:endParaRPr lang="en-US" sz="1200" dirty="0"/>
          </a:p>
        </p:txBody>
      </p:sp>
      <p:sp>
        <p:nvSpPr>
          <p:cNvPr id="16" name="text-782"/>
          <p:cNvSpPr txBox="1"/>
          <p:nvPr/>
        </p:nvSpPr>
        <p:spPr>
          <a:xfrm>
            <a:off x="5242438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compile</a:t>
            </a:r>
            <a:endParaRPr lang="en-US" sz="1600" dirty="0"/>
          </a:p>
        </p:txBody>
      </p:sp>
      <p:sp>
        <p:nvSpPr>
          <p:cNvPr id="17" name="text-783"/>
          <p:cNvSpPr txBox="1"/>
          <p:nvPr/>
        </p:nvSpPr>
        <p:spPr>
          <a:xfrm>
            <a:off x="5242438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today</a:t>
            </a:r>
            <a:endParaRPr lang="en-US" sz="1300" dirty="0"/>
          </a:p>
        </p:txBody>
      </p:sp>
      <p:sp>
        <p:nvSpPr>
          <p:cNvPr id="18" name="box-784"/>
          <p:cNvSpPr/>
          <p:nvPr/>
        </p:nvSpPr>
        <p:spPr>
          <a:xfrm>
            <a:off x="7315017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19" name="text-785"/>
          <p:cNvSpPr txBox="1"/>
          <p:nvPr/>
        </p:nvSpPr>
        <p:spPr>
          <a:xfrm>
            <a:off x="7497897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-786"/>
          <p:cNvSpPr txBox="1"/>
          <p:nvPr/>
        </p:nvSpPr>
        <p:spPr>
          <a:xfrm>
            <a:off x="7497897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</p:txBody>
      </p:sp>
      <p:sp>
        <p:nvSpPr>
          <p:cNvPr id="21" name="text-787"/>
          <p:cNvSpPr txBox="1"/>
          <p:nvPr/>
        </p:nvSpPr>
        <p:spPr>
          <a:xfrm>
            <a:off x="7497897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grid</a:t>
            </a:r>
            <a:endParaRPr lang="en-US" sz="1300" dirty="0"/>
          </a:p>
        </p:txBody>
      </p:sp>
      <p:sp>
        <p:nvSpPr>
          <p:cNvPr id="22" name="box-788"/>
          <p:cNvSpPr/>
          <p:nvPr/>
        </p:nvSpPr>
        <p:spPr>
          <a:xfrm>
            <a:off x="9570476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23" name="text-789"/>
          <p:cNvSpPr txBox="1"/>
          <p:nvPr/>
        </p:nvSpPr>
        <p:spPr>
          <a:xfrm>
            <a:off x="9753356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-790"/>
          <p:cNvSpPr txBox="1"/>
          <p:nvPr/>
        </p:nvSpPr>
        <p:spPr>
          <a:xfrm>
            <a:off x="9753356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600" dirty="0"/>
          </a:p>
        </p:txBody>
      </p:sp>
      <p:sp>
        <p:nvSpPr>
          <p:cNvPr id="25" name="text-791"/>
          <p:cNvSpPr txBox="1"/>
          <p:nvPr/>
        </p:nvSpPr>
        <p:spPr>
          <a:xfrm>
            <a:off x="9753356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fact table</a:t>
            </a:r>
            <a:endParaRPr lang="en-US" sz="1300" dirty="0"/>
          </a:p>
        </p:txBody>
      </p:sp>
      <p:sp>
        <p:nvSpPr>
          <p:cNvPr id="26" name="box-792"/>
          <p:cNvSpPr/>
          <p:nvPr/>
        </p:nvSpPr>
        <p:spPr>
          <a:xfrm>
            <a:off x="548640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27" name="text-793"/>
          <p:cNvSpPr txBox="1"/>
          <p:nvPr/>
        </p:nvSpPr>
        <p:spPr>
          <a:xfrm>
            <a:off x="731520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-794"/>
          <p:cNvSpPr txBox="1"/>
          <p:nvPr/>
        </p:nvSpPr>
        <p:spPr>
          <a:xfrm>
            <a:off x="731520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9" name="text-795"/>
          <p:cNvSpPr txBox="1"/>
          <p:nvPr/>
        </p:nvSpPr>
        <p:spPr>
          <a:xfrm>
            <a:off x="731520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tasks for new gaps</a:t>
            </a:r>
            <a:endParaRPr lang="en-US" sz="1300" dirty="0"/>
          </a:p>
        </p:txBody>
      </p:sp>
      <p:sp>
        <p:nvSpPr>
          <p:cNvPr id="30" name="box-796"/>
          <p:cNvSpPr/>
          <p:nvPr/>
        </p:nvSpPr>
        <p:spPr>
          <a:xfrm>
            <a:off x="2804099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1" name="text-797"/>
          <p:cNvSpPr txBox="1"/>
          <p:nvPr/>
        </p:nvSpPr>
        <p:spPr>
          <a:xfrm>
            <a:off x="2986979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-798"/>
          <p:cNvSpPr txBox="1"/>
          <p:nvPr/>
        </p:nvSpPr>
        <p:spPr>
          <a:xfrm>
            <a:off x="2986979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</a:t>
            </a:r>
            <a:endParaRPr lang="en-US" sz="1600" dirty="0"/>
          </a:p>
        </p:txBody>
      </p:sp>
      <p:sp>
        <p:nvSpPr>
          <p:cNvPr id="33" name="text-799"/>
          <p:cNvSpPr txBox="1"/>
          <p:nvPr/>
        </p:nvSpPr>
        <p:spPr>
          <a:xfrm>
            <a:off x="2986979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new, pull completions</a:t>
            </a:r>
            <a:endParaRPr lang="en-US" sz="1300" dirty="0"/>
          </a:p>
        </p:txBody>
      </p:sp>
      <p:sp>
        <p:nvSpPr>
          <p:cNvPr id="34" name="box-800"/>
          <p:cNvSpPr/>
          <p:nvPr/>
        </p:nvSpPr>
        <p:spPr>
          <a:xfrm>
            <a:off x="5059558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5" name="text-801"/>
          <p:cNvSpPr txBox="1"/>
          <p:nvPr/>
        </p:nvSpPr>
        <p:spPr>
          <a:xfrm>
            <a:off x="5242438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-802"/>
          <p:cNvSpPr txBox="1"/>
          <p:nvPr/>
        </p:nvSpPr>
        <p:spPr>
          <a:xfrm>
            <a:off x="5242438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600" dirty="0"/>
          </a:p>
        </p:txBody>
      </p:sp>
      <p:sp>
        <p:nvSpPr>
          <p:cNvPr id="37" name="text-803"/>
          <p:cNvSpPr txBox="1"/>
          <p:nvPr/>
        </p:nvSpPr>
        <p:spPr>
          <a:xfrm>
            <a:off x="5242438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update events</a:t>
            </a:r>
            <a:endParaRPr lang="en-US" sz="1300" dirty="0"/>
          </a:p>
        </p:txBody>
      </p:sp>
      <p:sp>
        <p:nvSpPr>
          <p:cNvPr id="38" name="box-804"/>
          <p:cNvSpPr/>
          <p:nvPr/>
        </p:nvSpPr>
        <p:spPr>
          <a:xfrm>
            <a:off x="7315017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9" name="text-805"/>
          <p:cNvSpPr txBox="1"/>
          <p:nvPr/>
        </p:nvSpPr>
        <p:spPr>
          <a:xfrm>
            <a:off x="7497897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40" name="text-806"/>
          <p:cNvSpPr txBox="1"/>
          <p:nvPr/>
        </p:nvSpPr>
        <p:spPr>
          <a:xfrm>
            <a:off x="7497897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600" dirty="0"/>
          </a:p>
        </p:txBody>
      </p:sp>
      <p:sp>
        <p:nvSpPr>
          <p:cNvPr id="41" name="text-807"/>
          <p:cNvSpPr txBox="1"/>
          <p:nvPr/>
        </p:nvSpPr>
        <p:spPr>
          <a:xfrm>
            <a:off x="7497897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next year's once</a:t>
            </a:r>
            <a:endParaRPr lang="en-US" sz="1300" dirty="0"/>
          </a:p>
        </p:txBody>
      </p:sp>
      <p:sp>
        <p:nvSpPr>
          <p:cNvPr id="42" name="box-808"/>
          <p:cNvSpPr/>
          <p:nvPr/>
        </p:nvSpPr>
        <p:spPr>
          <a:xfrm>
            <a:off x="9570476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43" name="text-809"/>
          <p:cNvSpPr txBox="1"/>
          <p:nvPr/>
        </p:nvSpPr>
        <p:spPr>
          <a:xfrm>
            <a:off x="9753356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4" name="text-810"/>
          <p:cNvSpPr txBox="1"/>
          <p:nvPr/>
        </p:nvSpPr>
        <p:spPr>
          <a:xfrm>
            <a:off x="9753356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calendar</a:t>
            </a:r>
            <a:endParaRPr lang="en-US" sz="1600" dirty="0"/>
          </a:p>
        </p:txBody>
      </p:sp>
      <p:sp>
        <p:nvSpPr>
          <p:cNvPr id="45" name="text-811"/>
          <p:cNvSpPr txBox="1"/>
          <p:nvPr/>
        </p:nvSpPr>
        <p:spPr>
          <a:xfrm>
            <a:off x="9753356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sharing</a:t>
            </a:r>
            <a:endParaRPr lang="en-US" sz="1300" dirty="0"/>
          </a:p>
        </p:txBody>
      </p:sp>
      <p:sp>
        <p:nvSpPr>
          <p:cNvPr id="46" name="text-812"/>
          <p:cNvSpPr txBox="1"/>
          <p:nvPr/>
        </p:nvSpPr>
        <p:spPr>
          <a:xfrm>
            <a:off x="548640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s</a:t>
            </a:r>
            <a:endParaRPr lang="en-US" sz="4000" dirty="0"/>
          </a:p>
        </p:txBody>
      </p:sp>
      <p:sp>
        <p:nvSpPr>
          <p:cNvPr id="47" name="text-813"/>
          <p:cNvSpPr txBox="1"/>
          <p:nvPr/>
        </p:nvSpPr>
        <p:spPr>
          <a:xfrm>
            <a:off x="548640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the test sheet</a:t>
            </a:r>
            <a:endParaRPr lang="en-US" sz="1500" dirty="0"/>
          </a:p>
        </p:txBody>
      </p:sp>
      <p:sp>
        <p:nvSpPr>
          <p:cNvPr id="48" name="text-814"/>
          <p:cNvSpPr txBox="1"/>
          <p:nvPr/>
        </p:nvSpPr>
        <p:spPr>
          <a:xfrm>
            <a:off x="4338218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</a:t>
            </a:r>
            <a:endParaRPr lang="en-US" sz="4000" dirty="0"/>
          </a:p>
        </p:txBody>
      </p:sp>
      <p:sp>
        <p:nvSpPr>
          <p:cNvPr id="49" name="text-815"/>
          <p:cNvSpPr txBox="1"/>
          <p:nvPr/>
        </p:nvSpPr>
        <p:spPr>
          <a:xfrm>
            <a:off x="4338218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Sync Lock, else skip that night</a:t>
            </a:r>
            <a:endParaRPr lang="en-US" sz="1500" dirty="0"/>
          </a:p>
        </p:txBody>
      </p:sp>
      <p:sp>
        <p:nvSpPr>
          <p:cNvPr id="50" name="text-816"/>
          <p:cNvSpPr txBox="1"/>
          <p:nvPr/>
        </p:nvSpPr>
        <p:spPr>
          <a:xfrm>
            <a:off x="8127797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4000" dirty="0"/>
          </a:p>
        </p:txBody>
      </p:sp>
      <p:sp>
        <p:nvSpPr>
          <p:cNvPr id="51" name="text-817"/>
          <p:cNvSpPr txBox="1"/>
          <p:nvPr/>
        </p:nvSpPr>
        <p:spPr>
          <a:xfrm>
            <a:off x="8127797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budget; remaining steps are skipped and logged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registry and safe schema migrations</a:t>
            </a:r>
            <a:endParaRPr lang="en-US" sz="3200" dirty="0"/>
          </a:p>
        </p:txBody>
      </p:sp>
      <p:sp>
        <p:nvSpPr>
          <p:cNvPr id="3" name="pill-818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819"/>
          <p:cNvSpPr/>
          <p:nvPr/>
        </p:nvSpPr>
        <p:spPr>
          <a:xfrm>
            <a:off x="548640" y="1554480"/>
            <a:ext cx="5410048" cy="3797808"/>
          </a:xfrm>
          <a:prstGeom prst="roundRect">
            <a:avLst>
              <a:gd name="adj" fmla="val 1926"/>
            </a:avLst>
          </a:prstGeom>
          <a:solidFill>
            <a:srgbClr val="F5F1FA"/>
          </a:solidFill>
          <a:ln/>
        </p:spPr>
      </p:sp>
      <p:sp>
        <p:nvSpPr>
          <p:cNvPr id="5" name="iconbg-820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8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822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are found by ID, not by name</a:t>
            </a:r>
            <a:endParaRPr lang="en-US" sz="1700" dirty="0"/>
          </a:p>
        </p:txBody>
      </p:sp>
      <p:sp>
        <p:nvSpPr>
          <p:cNvPr id="8" name="text-823"/>
          <p:cNvSpPr txBox="1"/>
          <p:nvPr/>
        </p:nvSpPr>
        <p:spPr>
          <a:xfrm>
            <a:off x="1463040" y="2255520"/>
            <a:ext cx="4267048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src/Tables.js maps a stable key to each tab: members → Members, tenures → Contracts, baselines → Routines, weeklyMatrix → Weekly Presence …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order: stored sheet ID (document property SHEET_ID_&lt;key&gt;), then readable name, then former technical name.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team can rename a tab without breaking anything.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lookups accept the internal key or the readable label.</a:t>
            </a:r>
            <a:endParaRPr lang="en-US" sz="1500" dirty="0"/>
          </a:p>
        </p:txBody>
      </p:sp>
      <p:sp>
        <p:nvSpPr>
          <p:cNvPr id="9" name="box-824"/>
          <p:cNvSpPr/>
          <p:nvPr/>
        </p:nvSpPr>
        <p:spPr>
          <a:xfrm>
            <a:off x="6233008" y="1554480"/>
            <a:ext cx="5410048" cy="3797808"/>
          </a:xfrm>
          <a:prstGeom prst="roundRect">
            <a:avLst>
              <a:gd name="adj" fmla="val 1926"/>
            </a:avLst>
          </a:prstGeom>
          <a:solidFill>
            <a:srgbClr val="F5F1FA"/>
          </a:solidFill>
          <a:ln/>
        </p:spPr>
      </p:sp>
      <p:sp>
        <p:nvSpPr>
          <p:cNvPr id="10" name="iconbg-825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8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827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only add</a:t>
            </a:r>
            <a:endParaRPr lang="en-US" sz="1700" dirty="0"/>
          </a:p>
        </p:txBody>
      </p:sp>
      <p:sp>
        <p:nvSpPr>
          <p:cNvPr id="13" name="text-828"/>
          <p:cNvSpPr txBox="1"/>
          <p:nvPr/>
        </p:nvSpPr>
        <p:spPr>
          <a:xfrm>
            <a:off x="7147408" y="2255520"/>
            <a:ext cx="42670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SCHEMA_SPEC lists every column with its type, required or optional status, protection and dropdown values.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 widens the existing native table; data is never moved or deleted.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replaced, not stacked: required-cell highlights, colour rules, dropdowns.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table name clash with an archived tab is renamed archived_&lt;name&gt;_&lt;id&gt;.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fixed for users: column changes go through the maintainer and an ADR.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Sync Lock keeps scripts from colliding</a:t>
            </a:r>
            <a:endParaRPr lang="en-US" sz="3200" dirty="0"/>
          </a:p>
        </p:txBody>
      </p:sp>
      <p:sp>
        <p:nvSpPr>
          <p:cNvPr id="3" name="pill-82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830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always type; the lock only stops two scripts writing from stale snapshots at the same time.</a:t>
            </a:r>
            <a:endParaRPr lang="en-US" sz="1600" dirty="0"/>
          </a:p>
        </p:txBody>
      </p:sp>
      <p:sp>
        <p:nvSpPr>
          <p:cNvPr id="5" name="box-831"/>
          <p:cNvSpPr/>
          <p:nvPr/>
        </p:nvSpPr>
        <p:spPr>
          <a:xfrm>
            <a:off x="548640" y="2395728"/>
            <a:ext cx="11094415" cy="54864"/>
          </a:xfrm>
          <a:prstGeom prst="rect">
            <a:avLst>
              <a:gd name="adj" fmla="val 133333"/>
            </a:avLst>
          </a:prstGeom>
          <a:solidFill>
            <a:srgbClr val="DADCE0"/>
          </a:solidFill>
          <a:ln/>
        </p:spPr>
      </p:sp>
      <p:sp>
        <p:nvSpPr>
          <p:cNvPr id="6" name="box-832"/>
          <p:cNvSpPr/>
          <p:nvPr/>
        </p:nvSpPr>
        <p:spPr>
          <a:xfrm>
            <a:off x="822960" y="22402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7333"/>
          </a:solidFill>
          <a:ln/>
        </p:spPr>
      </p:sp>
      <p:sp>
        <p:nvSpPr>
          <p:cNvPr id="7" name="text-833"/>
          <p:cNvSpPr txBox="1"/>
          <p:nvPr/>
        </p:nvSpPr>
        <p:spPr>
          <a:xfrm>
            <a:off x="822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Edit: runs</a:t>
            </a:r>
            <a:endParaRPr lang="en-US" sz="1400" dirty="0"/>
          </a:p>
        </p:txBody>
      </p:sp>
      <p:sp>
        <p:nvSpPr>
          <p:cNvPr id="8" name="box-834"/>
          <p:cNvSpPr/>
          <p:nvPr/>
        </p:nvSpPr>
        <p:spPr>
          <a:xfrm>
            <a:off x="3108960" y="2240280"/>
            <a:ext cx="5394960" cy="365760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</p:sp>
      <p:sp>
        <p:nvSpPr>
          <p:cNvPr id="9" name="text-835"/>
          <p:cNvSpPr txBox="1"/>
          <p:nvPr/>
        </p:nvSpPr>
        <p:spPr>
          <a:xfrm>
            <a:off x="310896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holds the lock (≈ 70 s)</a:t>
            </a:r>
            <a:endParaRPr lang="en-US" sz="1400" dirty="0"/>
          </a:p>
        </p:txBody>
      </p:sp>
      <p:sp>
        <p:nvSpPr>
          <p:cNvPr id="10" name="box-836"/>
          <p:cNvSpPr/>
          <p:nvPr/>
        </p:nvSpPr>
        <p:spPr>
          <a:xfrm>
            <a:off x="8778240" y="2240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37333"/>
          </a:solidFill>
          <a:ln/>
        </p:spPr>
      </p:sp>
      <p:sp>
        <p:nvSpPr>
          <p:cNvPr id="11" name="text-837"/>
          <p:cNvSpPr txBox="1"/>
          <p:nvPr/>
        </p:nvSpPr>
        <p:spPr>
          <a:xfrm>
            <a:off x="87782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run normally</a:t>
            </a:r>
            <a:endParaRPr lang="en-US" sz="1400" dirty="0"/>
          </a:p>
        </p:txBody>
      </p:sp>
      <p:sp>
        <p:nvSpPr>
          <p:cNvPr id="12" name="box-838"/>
          <p:cNvSpPr/>
          <p:nvPr/>
        </p:nvSpPr>
        <p:spPr>
          <a:xfrm>
            <a:off x="548640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13" name="iconbg-839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con-8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3311042"/>
            <a:ext cx="281635" cy="281635"/>
          </a:xfrm>
          <a:prstGeom prst="rect">
            <a:avLst/>
          </a:prstGeom>
        </p:spPr>
      </p:pic>
      <p:sp>
        <p:nvSpPr>
          <p:cNvPr id="15" name="text-841"/>
          <p:cNvSpPr txBox="1"/>
          <p:nvPr/>
        </p:nvSpPr>
        <p:spPr>
          <a:xfrm>
            <a:off x="1463040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16" name="text-842"/>
          <p:cNvSpPr txBox="1"/>
          <p:nvPr/>
        </p:nvSpPr>
        <p:spPr>
          <a:xfrm>
            <a:off x="1463040" y="3672840"/>
            <a:ext cx="237225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LockService document lock per team sheet. Not a script lock: the Library is shared, and a script lock would make every team's 2:00 job queue behind the others.</a:t>
            </a:r>
            <a:endParaRPr lang="en-US" sz="1500" dirty="0"/>
          </a:p>
        </p:txBody>
      </p:sp>
      <p:sp>
        <p:nvSpPr>
          <p:cNvPr id="17" name="box-843"/>
          <p:cNvSpPr/>
          <p:nvPr/>
        </p:nvSpPr>
        <p:spPr>
          <a:xfrm>
            <a:off x="4338218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18" name="iconbg-844"/>
          <p:cNvSpPr/>
          <p:nvPr/>
        </p:nvSpPr>
        <p:spPr>
          <a:xfrm>
            <a:off x="4566818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con-8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3311042"/>
            <a:ext cx="281635" cy="281635"/>
          </a:xfrm>
          <a:prstGeom prst="rect">
            <a:avLst/>
          </a:prstGeom>
        </p:spPr>
      </p:pic>
      <p:sp>
        <p:nvSpPr>
          <p:cNvPr id="20" name="text-846"/>
          <p:cNvSpPr txBox="1"/>
          <p:nvPr/>
        </p:nvSpPr>
        <p:spPr>
          <a:xfrm>
            <a:off x="5252618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waits</a:t>
            </a:r>
            <a:endParaRPr lang="en-US" sz="1700" dirty="0"/>
          </a:p>
        </p:txBody>
      </p:sp>
      <p:sp>
        <p:nvSpPr>
          <p:cNvPr id="21" name="text-847"/>
          <p:cNvSpPr txBox="1"/>
          <p:nvPr/>
        </p:nvSpPr>
        <p:spPr>
          <a:xfrm>
            <a:off x="5252618" y="3672840"/>
            <a:ext cx="237225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 waits up to 30 s, otherwise skips that night. An edit waits up to 10 s; if it times out, the typed value stays, follow-up writes are skipped and a toast says “Sync in progress”.</a:t>
            </a:r>
            <a:endParaRPr lang="en-US" sz="1500" dirty="0"/>
          </a:p>
        </p:txBody>
      </p:sp>
      <p:sp>
        <p:nvSpPr>
          <p:cNvPr id="22" name="box-848"/>
          <p:cNvSpPr/>
          <p:nvPr/>
        </p:nvSpPr>
        <p:spPr>
          <a:xfrm>
            <a:off x="8127797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23" name="iconbg-849"/>
          <p:cNvSpPr/>
          <p:nvPr/>
        </p:nvSpPr>
        <p:spPr>
          <a:xfrm>
            <a:off x="8356397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con-8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3311042"/>
            <a:ext cx="281635" cy="281635"/>
          </a:xfrm>
          <a:prstGeom prst="rect">
            <a:avLst/>
          </a:prstGeom>
        </p:spPr>
      </p:pic>
      <p:sp>
        <p:nvSpPr>
          <p:cNvPr id="25" name="text-851"/>
          <p:cNvSpPr txBox="1"/>
          <p:nvPr/>
        </p:nvSpPr>
        <p:spPr>
          <a:xfrm>
            <a:off x="9042197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catches up</a:t>
            </a:r>
            <a:endParaRPr lang="en-US" sz="1700" dirty="0"/>
          </a:p>
        </p:txBody>
      </p:sp>
      <p:sp>
        <p:nvSpPr>
          <p:cNvPr id="26" name="text-852"/>
          <p:cNvSpPr txBox="1"/>
          <p:nvPr/>
        </p:nvSpPr>
        <p:spPr>
          <a:xfrm>
            <a:off x="9042197" y="3672840"/>
            <a:ext cx="237225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events without an external ID are pushed on the next run. A Weekly Presence entry typed during the sync may be redrawn away and must be typed again.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Data feeds Looker Studio</a:t>
            </a:r>
            <a:endParaRPr lang="en-US" sz="3200" dirty="0"/>
          </a:p>
        </p:txBody>
      </p:sp>
      <p:sp>
        <p:nvSpPr>
          <p:cNvPr id="3" name="pill-853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85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Member × date × half-day. No totals in the sheet: Looker aggregates, so nothing is counted twice.</a:t>
            </a:r>
            <a:endParaRPr lang="en-US" sz="1600" dirty="0"/>
          </a:p>
        </p:txBody>
      </p:sp>
      <p:sp>
        <p:nvSpPr>
          <p:cNvPr id="5" name="box-855"/>
          <p:cNvSpPr/>
          <p:nvPr/>
        </p:nvSpPr>
        <p:spPr>
          <a:xfrm>
            <a:off x="548640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6" name="text-856"/>
          <p:cNvSpPr txBox="1"/>
          <p:nvPr/>
        </p:nvSpPr>
        <p:spPr>
          <a:xfrm>
            <a:off x="548640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7" name="box-857"/>
          <p:cNvSpPr/>
          <p:nvPr/>
        </p:nvSpPr>
        <p:spPr>
          <a:xfrm>
            <a:off x="1949158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8" name="text-858"/>
          <p:cNvSpPr txBox="1"/>
          <p:nvPr/>
        </p:nvSpPr>
        <p:spPr>
          <a:xfrm>
            <a:off x="1949158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1100" dirty="0"/>
          </a:p>
        </p:txBody>
      </p:sp>
      <p:sp>
        <p:nvSpPr>
          <p:cNvPr id="9" name="box-859"/>
          <p:cNvSpPr/>
          <p:nvPr/>
        </p:nvSpPr>
        <p:spPr>
          <a:xfrm>
            <a:off x="3349676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0" name="text-860"/>
          <p:cNvSpPr txBox="1"/>
          <p:nvPr/>
        </p:nvSpPr>
        <p:spPr>
          <a:xfrm>
            <a:off x="3349676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iso_week</a:t>
            </a:r>
            <a:endParaRPr lang="en-US" sz="1100" dirty="0"/>
          </a:p>
        </p:txBody>
      </p:sp>
      <p:sp>
        <p:nvSpPr>
          <p:cNvPr id="11" name="box-861"/>
          <p:cNvSpPr/>
          <p:nvPr/>
        </p:nvSpPr>
        <p:spPr>
          <a:xfrm>
            <a:off x="4750194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2" name="text-862"/>
          <p:cNvSpPr txBox="1"/>
          <p:nvPr/>
        </p:nvSpPr>
        <p:spPr>
          <a:xfrm>
            <a:off x="4750194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weekday</a:t>
            </a:r>
            <a:endParaRPr lang="en-US" sz="1100" dirty="0"/>
          </a:p>
        </p:txBody>
      </p:sp>
      <p:sp>
        <p:nvSpPr>
          <p:cNvPr id="13" name="box-863"/>
          <p:cNvSpPr/>
          <p:nvPr/>
        </p:nvSpPr>
        <p:spPr>
          <a:xfrm>
            <a:off x="6150712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4" name="text-864"/>
          <p:cNvSpPr txBox="1"/>
          <p:nvPr/>
        </p:nvSpPr>
        <p:spPr>
          <a:xfrm>
            <a:off x="6150712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1100" dirty="0"/>
          </a:p>
        </p:txBody>
      </p:sp>
      <p:sp>
        <p:nvSpPr>
          <p:cNvPr id="15" name="box-865"/>
          <p:cNvSpPr/>
          <p:nvPr/>
        </p:nvSpPr>
        <p:spPr>
          <a:xfrm>
            <a:off x="7551230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6" name="text-866"/>
          <p:cNvSpPr txBox="1"/>
          <p:nvPr/>
        </p:nvSpPr>
        <p:spPr>
          <a:xfrm>
            <a:off x="7551230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100" dirty="0"/>
          </a:p>
        </p:txBody>
      </p:sp>
      <p:sp>
        <p:nvSpPr>
          <p:cNvPr id="17" name="box-867"/>
          <p:cNvSpPr/>
          <p:nvPr/>
        </p:nvSpPr>
        <p:spPr>
          <a:xfrm>
            <a:off x="8951747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8" name="text-868"/>
          <p:cNvSpPr txBox="1"/>
          <p:nvPr/>
        </p:nvSpPr>
        <p:spPr>
          <a:xfrm>
            <a:off x="8951747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9" name="box-869"/>
          <p:cNvSpPr/>
          <p:nvPr/>
        </p:nvSpPr>
        <p:spPr>
          <a:xfrm>
            <a:off x="10352265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0" name="text-870"/>
          <p:cNvSpPr txBox="1"/>
          <p:nvPr/>
        </p:nvSpPr>
        <p:spPr>
          <a:xfrm>
            <a:off x="10352265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21" name="box-871"/>
          <p:cNvSpPr/>
          <p:nvPr/>
        </p:nvSpPr>
        <p:spPr>
          <a:xfrm>
            <a:off x="548640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2" name="text-872"/>
          <p:cNvSpPr txBox="1"/>
          <p:nvPr/>
        </p:nvSpPr>
        <p:spPr>
          <a:xfrm>
            <a:off x="548640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fte_rate</a:t>
            </a:r>
            <a:endParaRPr lang="en-US" sz="1100" dirty="0"/>
          </a:p>
        </p:txBody>
      </p:sp>
      <p:sp>
        <p:nvSpPr>
          <p:cNvPr id="23" name="box-873"/>
          <p:cNvSpPr/>
          <p:nvPr/>
        </p:nvSpPr>
        <p:spPr>
          <a:xfrm>
            <a:off x="1949158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4" name="text-874"/>
          <p:cNvSpPr txBox="1"/>
          <p:nvPr/>
        </p:nvSpPr>
        <p:spPr>
          <a:xfrm>
            <a:off x="1949158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100" dirty="0"/>
          </a:p>
        </p:txBody>
      </p:sp>
      <p:sp>
        <p:nvSpPr>
          <p:cNvPr id="25" name="box-875"/>
          <p:cNvSpPr/>
          <p:nvPr/>
        </p:nvSpPr>
        <p:spPr>
          <a:xfrm>
            <a:off x="3349676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6" name="text-876"/>
          <p:cNvSpPr txBox="1"/>
          <p:nvPr/>
        </p:nvSpPr>
        <p:spPr>
          <a:xfrm>
            <a:off x="3349676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7" name="box-877"/>
          <p:cNvSpPr/>
          <p:nvPr/>
        </p:nvSpPr>
        <p:spPr>
          <a:xfrm>
            <a:off x="4750194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28" name="text-878"/>
          <p:cNvSpPr txBox="1"/>
          <p:nvPr/>
        </p:nvSpPr>
        <p:spPr>
          <a:xfrm>
            <a:off x="4750194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9" name="box-879"/>
          <p:cNvSpPr/>
          <p:nvPr/>
        </p:nvSpPr>
        <p:spPr>
          <a:xfrm>
            <a:off x="6150712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0" name="text-880"/>
          <p:cNvSpPr txBox="1"/>
          <p:nvPr/>
        </p:nvSpPr>
        <p:spPr>
          <a:xfrm>
            <a:off x="6150712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worked_days</a:t>
            </a:r>
            <a:endParaRPr lang="en-US" sz="1100" dirty="0"/>
          </a:p>
        </p:txBody>
      </p:sp>
      <p:sp>
        <p:nvSpPr>
          <p:cNvPr id="31" name="box-881"/>
          <p:cNvSpPr/>
          <p:nvPr/>
        </p:nvSpPr>
        <p:spPr>
          <a:xfrm>
            <a:off x="7551230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2" name="text-882"/>
          <p:cNvSpPr txBox="1"/>
          <p:nvPr/>
        </p:nvSpPr>
        <p:spPr>
          <a:xfrm>
            <a:off x="7551230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leave_days</a:t>
            </a:r>
            <a:endParaRPr lang="en-US" sz="1100" dirty="0"/>
          </a:p>
        </p:txBody>
      </p:sp>
      <p:sp>
        <p:nvSpPr>
          <p:cNvPr id="33" name="box-883"/>
          <p:cNvSpPr/>
          <p:nvPr/>
        </p:nvSpPr>
        <p:spPr>
          <a:xfrm>
            <a:off x="8951747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4" name="text-884"/>
          <p:cNvSpPr txBox="1"/>
          <p:nvPr/>
        </p:nvSpPr>
        <p:spPr>
          <a:xfrm>
            <a:off x="8951747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capacity_days</a:t>
            </a:r>
            <a:endParaRPr lang="en-US" sz="1100" dirty="0"/>
          </a:p>
        </p:txBody>
      </p:sp>
      <p:sp>
        <p:nvSpPr>
          <p:cNvPr id="35" name="box-885"/>
          <p:cNvSpPr/>
          <p:nvPr/>
        </p:nvSpPr>
        <p:spPr>
          <a:xfrm>
            <a:off x="10352265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36" name="text-886"/>
          <p:cNvSpPr txBox="1"/>
          <p:nvPr/>
        </p:nvSpPr>
        <p:spPr>
          <a:xfrm>
            <a:off x="10352265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is_public_holiday</a:t>
            </a:r>
            <a:endParaRPr lang="en-US" sz="950" dirty="0"/>
          </a:p>
        </p:txBody>
      </p:sp>
      <p:graphicFrame>
        <p:nvGraphicFramePr>
          <p:cNvPr id="41" name="table-8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633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client_site or remote from the location's Type; or leave, off, not_logged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per half-day at an office, client site or remote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per half-day on 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33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× FTE per half-day on a working day inside a contract; 0 on weekends and public holidays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fte_rate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and 80 both mean 80 %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38" name="box-888"/>
          <p:cNvSpPr/>
          <p:nvPr/>
        </p:nvSpPr>
        <p:spPr>
          <a:xfrm>
            <a:off x="8503920" y="3154680"/>
            <a:ext cx="3139135" cy="2971800"/>
          </a:xfrm>
          <a:prstGeom prst="roundRect">
            <a:avLst>
              <a:gd name="adj" fmla="val 2462"/>
            </a:avLst>
          </a:prstGeom>
          <a:solidFill>
            <a:srgbClr val="3B1E66"/>
          </a:solidFill>
          <a:ln/>
        </p:spPr>
      </p:sp>
      <p:sp>
        <p:nvSpPr>
          <p:cNvPr id="39" name="text-889"/>
          <p:cNvSpPr txBox="1"/>
          <p:nvPr/>
        </p:nvSpPr>
        <p:spPr>
          <a:xfrm>
            <a:off x="8732520" y="33832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measures in Looker</a:t>
            </a:r>
            <a:endParaRPr lang="en-US" sz="1600" dirty="0"/>
          </a:p>
        </p:txBody>
      </p:sp>
      <p:sp>
        <p:nvSpPr>
          <p:cNvPr id="40" name="text-890"/>
          <p:cNvSpPr txBox="1"/>
          <p:nvPr/>
        </p:nvSpPr>
        <p:spPr>
          <a:xfrm>
            <a:off x="8732520" y="3886200"/>
            <a:ext cx="2681935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rate = remote worked ÷ worked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presence by department and month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 vs. capacity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Not-logged half-days per week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89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flexibility-to-integrity ratio</a:t>
            </a:r>
            <a:endParaRPr lang="en-US" sz="4400" dirty="0"/>
          </a:p>
        </p:txBody>
      </p:sp>
      <p:sp>
        <p:nvSpPr>
          <p:cNvPr id="4" name="text-892"/>
          <p:cNvSpPr txBox="1"/>
          <p:nvPr/>
        </p:nvSpPr>
        <p:spPr>
          <a:xfrm>
            <a:off x="731520" y="35356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sheet stays a spreadsheet: people can type almost anywhere. Integrity is enforced only where a wrong value would silently corrupt something derived from it.</a:t>
            </a:r>
            <a:endParaRPr lang="en-US" sz="1800" dirty="0"/>
          </a:p>
        </p:txBody>
      </p:sp>
      <p:sp>
        <p:nvSpPr>
          <p:cNvPr id="5" name="box-893"/>
          <p:cNvSpPr/>
          <p:nvPr/>
        </p:nvSpPr>
        <p:spPr>
          <a:xfrm>
            <a:off x="7680960" y="1325880"/>
            <a:ext cx="3959352" cy="3068320"/>
          </a:xfrm>
          <a:prstGeom prst="roundRect">
            <a:avLst>
              <a:gd name="adj" fmla="val 1788"/>
            </a:avLst>
          </a:prstGeom>
          <a:solidFill>
            <a:srgbClr val="2A2640"/>
          </a:solidFill>
          <a:ln/>
        </p:spPr>
      </p:sp>
      <p:sp>
        <p:nvSpPr>
          <p:cNvPr id="6" name="text-89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895"/>
          <p:cNvSpPr txBox="1"/>
          <p:nvPr/>
        </p:nvSpPr>
        <p:spPr>
          <a:xfrm>
            <a:off x="8001000" y="2103120"/>
            <a:ext cx="3291840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principle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ratio, in numbers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by table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of guards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or sidebar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flexibility costs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maximum flexibility, guards where it counts</a:t>
            </a:r>
            <a:endParaRPr lang="en-US" sz="3200" dirty="0"/>
          </a:p>
        </p:txBody>
      </p:sp>
      <p:sp>
        <p:nvSpPr>
          <p:cNvPr id="3" name="pill-896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897"/>
          <p:cNvSpPr/>
          <p:nvPr/>
        </p:nvSpPr>
        <p:spPr>
          <a:xfrm>
            <a:off x="548640" y="1554480"/>
            <a:ext cx="4998568" cy="4572000"/>
          </a:xfrm>
          <a:prstGeom prst="roundRect">
            <a:avLst>
              <a:gd name="adj" fmla="val 1600"/>
            </a:avLst>
          </a:prstGeom>
          <a:solidFill>
            <a:srgbClr val="F5F1FA"/>
          </a:solidFill>
          <a:ln/>
        </p:spPr>
      </p:sp>
      <p:sp>
        <p:nvSpPr>
          <p:cNvPr id="5" name="text-898"/>
          <p:cNvSpPr txBox="1"/>
          <p:nvPr/>
        </p:nvSpPr>
        <p:spPr>
          <a:xfrm>
            <a:off x="868680" y="1828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2200" dirty="0"/>
          </a:p>
        </p:txBody>
      </p:sp>
      <p:sp>
        <p:nvSpPr>
          <p:cNvPr id="6" name="text-899"/>
          <p:cNvSpPr txBox="1"/>
          <p:nvPr/>
        </p:nvSpPr>
        <p:spPr>
          <a:xfrm>
            <a:off x="868680" y="2468880"/>
            <a:ext cx="435848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visible grid stays editable, Weekly Presence included.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tabs are hidden for tidiness, never locked.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are an extra path, not a gate.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transparency: no privacy model; everyone sees every profile.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ended or cancelled, not erased, so mistakes can be traced.</a:t>
            </a:r>
            <a:endParaRPr lang="en-US" sz="1600" dirty="0"/>
          </a:p>
        </p:txBody>
      </p:sp>
      <p:sp>
        <p:nvSpPr>
          <p:cNvPr id="7" name="box-900"/>
          <p:cNvSpPr/>
          <p:nvPr/>
        </p:nvSpPr>
        <p:spPr>
          <a:xfrm>
            <a:off x="6644488" y="1554480"/>
            <a:ext cx="4998568" cy="4572000"/>
          </a:xfrm>
          <a:prstGeom prst="roundRect">
            <a:avLst>
              <a:gd name="adj" fmla="val 1600"/>
            </a:avLst>
          </a:prstGeom>
          <a:solidFill>
            <a:srgbClr val="F3E8FD"/>
          </a:solidFill>
          <a:ln/>
        </p:spPr>
      </p:sp>
      <p:sp>
        <p:nvSpPr>
          <p:cNvPr id="8" name="text-901"/>
          <p:cNvSpPr txBox="1"/>
          <p:nvPr/>
        </p:nvSpPr>
        <p:spPr>
          <a:xfrm>
            <a:off x="6964528" y="1828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9" name="text-902"/>
          <p:cNvSpPr txBox="1"/>
          <p:nvPr/>
        </p:nvSpPr>
        <p:spPr>
          <a:xfrm>
            <a:off x="6964528" y="2468880"/>
            <a:ext cx="4358488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Machine-owned values (IDs, timestamps, derived columns, Google links) are locked.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other rows depend on ask for confirmation before a change.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dropdowns and chips shape input; required fields are flagged.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never write over each other (Sync Lock).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 reconciles; Check Workspace reports what is off.</a:t>
            </a:r>
            <a:endParaRPr lang="en-US" sz="1600" dirty="0"/>
          </a:p>
        </p:txBody>
      </p:sp>
      <p:sp>
        <p:nvSpPr>
          <p:cNvPr id="10" name="balance"/>
          <p:cNvSpPr/>
          <p:nvPr/>
        </p:nvSpPr>
        <p:spPr>
          <a:xfrm>
            <a:off x="5638648" y="3383280"/>
            <a:ext cx="914400" cy="914400"/>
          </a:xfrm>
          <a:prstGeom prst="ellipse">
            <a:avLst/>
          </a:prstGeom>
          <a:solidFill>
            <a:srgbClr val="1E1B2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1" name="balanc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3584448"/>
            <a:ext cx="512064" cy="5120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editable columns for every locked one</a:t>
            </a:r>
            <a:endParaRPr lang="en-US" sz="3200" dirty="0"/>
          </a:p>
        </p:txBody>
      </p:sp>
      <p:sp>
        <p:nvSpPr>
          <p:cNvPr id="3" name="pill-903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904"/>
          <p:cNvSpPr/>
          <p:nvPr/>
        </p:nvSpPr>
        <p:spPr>
          <a:xfrm>
            <a:off x="548640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1F3F4"/>
          </a:solidFill>
          <a:ln/>
        </p:spPr>
      </p:sp>
      <p:sp>
        <p:nvSpPr>
          <p:cNvPr id="5" name="text-905"/>
          <p:cNvSpPr txBox="1"/>
          <p:nvPr/>
        </p:nvSpPr>
        <p:spPr>
          <a:xfrm>
            <a:off x="777240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5400" dirty="0"/>
          </a:p>
        </p:txBody>
      </p:sp>
      <p:sp>
        <p:nvSpPr>
          <p:cNvPr id="6" name="text-906"/>
          <p:cNvSpPr txBox="1"/>
          <p:nvPr/>
        </p:nvSpPr>
        <p:spPr>
          <a:xfrm>
            <a:off x="777240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across the 11 managed tables</a:t>
            </a:r>
            <a:endParaRPr lang="en-US" sz="1500" dirty="0"/>
          </a:p>
        </p:txBody>
      </p:sp>
      <p:sp>
        <p:nvSpPr>
          <p:cNvPr id="7" name="box-907"/>
          <p:cNvSpPr/>
          <p:nvPr/>
        </p:nvSpPr>
        <p:spPr>
          <a:xfrm>
            <a:off x="3390824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8" name="text-908"/>
          <p:cNvSpPr txBox="1"/>
          <p:nvPr/>
        </p:nvSpPr>
        <p:spPr>
          <a:xfrm>
            <a:off x="3619424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400" dirty="0"/>
          </a:p>
        </p:txBody>
      </p:sp>
      <p:sp>
        <p:nvSpPr>
          <p:cNvPr id="9" name="text-909"/>
          <p:cNvSpPr txBox="1"/>
          <p:nvPr/>
        </p:nvSpPr>
        <p:spPr>
          <a:xfrm>
            <a:off x="3619424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edit · 61 %</a:t>
            </a:r>
            <a:endParaRPr lang="en-US" sz="1500" dirty="0"/>
          </a:p>
        </p:txBody>
      </p:sp>
      <p:sp>
        <p:nvSpPr>
          <p:cNvPr id="10" name="box-910"/>
          <p:cNvSpPr/>
          <p:nvPr/>
        </p:nvSpPr>
        <p:spPr>
          <a:xfrm>
            <a:off x="6233008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11" name="text-911"/>
          <p:cNvSpPr txBox="1"/>
          <p:nvPr/>
        </p:nvSpPr>
        <p:spPr>
          <a:xfrm>
            <a:off x="6461608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12" name="text-912"/>
          <p:cNvSpPr txBox="1"/>
          <p:nvPr/>
        </p:nvSpPr>
        <p:spPr>
          <a:xfrm>
            <a:off x="6461608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confirmation · 17 %</a:t>
            </a:r>
            <a:endParaRPr lang="en-US" sz="1500" dirty="0"/>
          </a:p>
        </p:txBody>
      </p:sp>
      <p:sp>
        <p:nvSpPr>
          <p:cNvPr id="13" name="box-913"/>
          <p:cNvSpPr/>
          <p:nvPr/>
        </p:nvSpPr>
        <p:spPr>
          <a:xfrm>
            <a:off x="9075191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14" name="text-914"/>
          <p:cNvSpPr txBox="1"/>
          <p:nvPr/>
        </p:nvSpPr>
        <p:spPr>
          <a:xfrm>
            <a:off x="9303791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400" dirty="0"/>
          </a:p>
        </p:txBody>
      </p:sp>
      <p:sp>
        <p:nvSpPr>
          <p:cNvPr id="15" name="text-915"/>
          <p:cNvSpPr txBox="1"/>
          <p:nvPr/>
        </p:nvSpPr>
        <p:spPr>
          <a:xfrm>
            <a:off x="9303791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· 22 %</a:t>
            </a:r>
            <a:endParaRPr lang="en-US" sz="1500" dirty="0"/>
          </a:p>
        </p:txBody>
      </p:sp>
      <p:sp>
        <p:nvSpPr>
          <p:cNvPr id="16" name="box-916"/>
          <p:cNvSpPr/>
          <p:nvPr/>
        </p:nvSpPr>
        <p:spPr>
          <a:xfrm>
            <a:off x="548640" y="3566160"/>
            <a:ext cx="6779920" cy="548640"/>
          </a:xfrm>
          <a:prstGeom prst="rect">
            <a:avLst>
              <a:gd name="adj" fmla="val 13333"/>
            </a:avLst>
          </a:prstGeom>
          <a:solidFill>
            <a:srgbClr val="137333"/>
          </a:solidFill>
          <a:ln/>
        </p:spPr>
      </p:sp>
      <p:sp>
        <p:nvSpPr>
          <p:cNvPr id="17" name="text-917"/>
          <p:cNvSpPr txBox="1"/>
          <p:nvPr/>
        </p:nvSpPr>
        <p:spPr>
          <a:xfrm>
            <a:off x="548640" y="3566160"/>
            <a:ext cx="677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44</a:t>
            </a:r>
            <a:endParaRPr lang="en-US" sz="1500" dirty="0"/>
          </a:p>
        </p:txBody>
      </p:sp>
      <p:sp>
        <p:nvSpPr>
          <p:cNvPr id="18" name="box-918"/>
          <p:cNvSpPr/>
          <p:nvPr/>
        </p:nvSpPr>
        <p:spPr>
          <a:xfrm>
            <a:off x="7328560" y="3566160"/>
            <a:ext cx="1849069" cy="548640"/>
          </a:xfrm>
          <a:prstGeom prst="rect">
            <a:avLst>
              <a:gd name="adj" fmla="val 13333"/>
            </a:avLst>
          </a:prstGeom>
          <a:solidFill>
            <a:srgbClr val="B06000"/>
          </a:solidFill>
          <a:ln/>
        </p:spPr>
      </p:sp>
      <p:sp>
        <p:nvSpPr>
          <p:cNvPr id="19" name="text-919"/>
          <p:cNvSpPr txBox="1"/>
          <p:nvPr/>
        </p:nvSpPr>
        <p:spPr>
          <a:xfrm>
            <a:off x="7328560" y="3566160"/>
            <a:ext cx="1849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12</a:t>
            </a:r>
            <a:endParaRPr lang="en-US" sz="1500" dirty="0"/>
          </a:p>
        </p:txBody>
      </p:sp>
      <p:sp>
        <p:nvSpPr>
          <p:cNvPr id="20" name="box-920"/>
          <p:cNvSpPr/>
          <p:nvPr/>
        </p:nvSpPr>
        <p:spPr>
          <a:xfrm>
            <a:off x="9177630" y="3566160"/>
            <a:ext cx="2465426" cy="548640"/>
          </a:xfrm>
          <a:prstGeom prst="rect">
            <a:avLst>
              <a:gd name="adj" fmla="val 13333"/>
            </a:avLst>
          </a:prstGeom>
          <a:solidFill>
            <a:srgbClr val="7500C0"/>
          </a:solidFill>
          <a:ln/>
        </p:spPr>
      </p:sp>
      <p:sp>
        <p:nvSpPr>
          <p:cNvPr id="21" name="text-921"/>
          <p:cNvSpPr txBox="1"/>
          <p:nvPr/>
        </p:nvSpPr>
        <p:spPr>
          <a:xfrm>
            <a:off x="9177630" y="3566160"/>
            <a:ext cx="24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16</a:t>
            </a:r>
            <a:endParaRPr lang="en-US" sz="1500" dirty="0"/>
          </a:p>
        </p:txBody>
      </p:sp>
      <p:sp>
        <p:nvSpPr>
          <p:cNvPr id="22" name="text-922"/>
          <p:cNvSpPr txBox="1"/>
          <p:nvPr/>
        </p:nvSpPr>
        <p:spPr>
          <a:xfrm>
            <a:off x="548640" y="4434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23" name="text-923"/>
          <p:cNvSpPr txBox="1"/>
          <p:nvPr/>
        </p:nvSpPr>
        <p:spPr>
          <a:xfrm>
            <a:off x="548640" y="4846320"/>
            <a:ext cx="11094415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: locked = 56 : 16 ≈ 3.5 : 1.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: guarded = 44 : 28 ≈ 1.6 :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the 16 locked columns are written by the system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(IDs, timestamps, derived values, Google links). The 16th is the Member chip in Members, the identity everything hangs on.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cover rows already created,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new entries never need an admin, except in Members, where the five derived columns are locked on every row: people join through a contract.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by table: where the balance sits</a:t>
            </a:r>
            <a:endParaRPr lang="en-US" sz="3200" dirty="0"/>
          </a:p>
        </p:txBody>
      </p:sp>
      <p:sp>
        <p:nvSpPr>
          <p:cNvPr id="3" name="pill-924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" name="ratio-chart" descr=""/>
          <p:cNvGraphicFramePr/>
          <p:nvPr/>
        </p:nvGraphicFramePr>
        <p:xfrm>
          <a:off x="548640" y="155448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925"/>
          <p:cNvSpPr txBox="1"/>
          <p:nvPr/>
        </p:nvSpPr>
        <p:spPr>
          <a:xfrm>
            <a:off x="7955280" y="1554480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chart</a:t>
            </a:r>
            <a:endParaRPr lang="en-US" sz="1600" dirty="0"/>
          </a:p>
        </p:txBody>
      </p:sp>
      <p:sp>
        <p:nvSpPr>
          <p:cNvPr id="6" name="text-926"/>
          <p:cNvSpPr txBox="1"/>
          <p:nvPr/>
        </p:nvSpPr>
        <p:spPr>
          <a:xfrm>
            <a:off x="7955280" y="2011680"/>
            <a:ext cx="368777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tables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(Locations, Holidays) are fully free: they only feed dropdowns and calendars.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freest data table: only its ID and Google link are locked, because people also edit tasks in Google Tasks.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guarded: KPIs and Weekly Presence read it.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mostly derived: change the contract, not the row.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layers of guards, from nudge to lock</a:t>
            </a:r>
            <a:endParaRPr lang="en-US" sz="3200" dirty="0"/>
          </a:p>
        </p:txBody>
      </p:sp>
      <p:sp>
        <p:nvSpPr>
          <p:cNvPr id="3" name="pill-927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928"/>
          <p:cNvSpPr/>
          <p:nvPr/>
        </p:nvSpPr>
        <p:spPr>
          <a:xfrm>
            <a:off x="548640" y="1554480"/>
            <a:ext cx="2194560" cy="500307"/>
          </a:xfrm>
          <a:prstGeom prst="roundRect">
            <a:avLst>
              <a:gd name="adj" fmla="val 21932"/>
            </a:avLst>
          </a:prstGeom>
          <a:solidFill>
            <a:srgbClr val="137333"/>
          </a:solidFill>
          <a:ln/>
        </p:spPr>
      </p:sp>
      <p:sp>
        <p:nvSpPr>
          <p:cNvPr id="5" name="text-929"/>
          <p:cNvSpPr txBox="1"/>
          <p:nvPr/>
        </p:nvSpPr>
        <p:spPr>
          <a:xfrm>
            <a:off x="777240" y="1554480"/>
            <a:ext cx="19202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Shape</a:t>
            </a:r>
            <a:endParaRPr lang="en-US" sz="1600" dirty="0"/>
          </a:p>
        </p:txBody>
      </p:sp>
      <p:sp>
        <p:nvSpPr>
          <p:cNvPr id="6" name="text-930"/>
          <p:cNvSpPr txBox="1"/>
          <p:nvPr/>
        </p:nvSpPr>
        <p:spPr>
          <a:xfrm>
            <a:off x="4572000" y="1554480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types, dropdowns, people chips and placeholders prevent most typos.</a:t>
            </a:r>
            <a:endParaRPr lang="en-US" sz="1500" dirty="0"/>
          </a:p>
        </p:txBody>
      </p:sp>
      <p:sp>
        <p:nvSpPr>
          <p:cNvPr id="7" name="box-931"/>
          <p:cNvSpPr/>
          <p:nvPr/>
        </p:nvSpPr>
        <p:spPr>
          <a:xfrm>
            <a:off x="548640" y="2164515"/>
            <a:ext cx="2423160" cy="500307"/>
          </a:xfrm>
          <a:prstGeom prst="roundRect">
            <a:avLst>
              <a:gd name="adj" fmla="val 21932"/>
            </a:avLst>
          </a:prstGeom>
          <a:solidFill>
            <a:srgbClr val="137333"/>
          </a:solidFill>
          <a:ln/>
        </p:spPr>
      </p:sp>
      <p:sp>
        <p:nvSpPr>
          <p:cNvPr id="8" name="text-932"/>
          <p:cNvSpPr txBox="1"/>
          <p:nvPr/>
        </p:nvSpPr>
        <p:spPr>
          <a:xfrm>
            <a:off x="777240" y="2164515"/>
            <a:ext cx="21488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Signal</a:t>
            </a:r>
            <a:endParaRPr lang="en-US" sz="1600" dirty="0"/>
          </a:p>
        </p:txBody>
      </p:sp>
      <p:sp>
        <p:nvSpPr>
          <p:cNvPr id="9" name="text-933"/>
          <p:cNvSpPr txBox="1"/>
          <p:nvPr/>
        </p:nvSpPr>
        <p:spPr>
          <a:xfrm>
            <a:off x="4572000" y="2164515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required cells turn red; a toast names the missing fields.</a:t>
            </a:r>
            <a:endParaRPr lang="en-US" sz="1500" dirty="0"/>
          </a:p>
        </p:txBody>
      </p:sp>
      <p:sp>
        <p:nvSpPr>
          <p:cNvPr id="10" name="box-934"/>
          <p:cNvSpPr/>
          <p:nvPr/>
        </p:nvSpPr>
        <p:spPr>
          <a:xfrm>
            <a:off x="548640" y="2774551"/>
            <a:ext cx="2651760" cy="500307"/>
          </a:xfrm>
          <a:prstGeom prst="roundRect">
            <a:avLst>
              <a:gd name="adj" fmla="val 21932"/>
            </a:avLst>
          </a:prstGeom>
          <a:solidFill>
            <a:srgbClr val="1967D2"/>
          </a:solidFill>
          <a:ln/>
        </p:spPr>
      </p:sp>
      <p:sp>
        <p:nvSpPr>
          <p:cNvPr id="11" name="text-935"/>
          <p:cNvSpPr txBox="1"/>
          <p:nvPr/>
        </p:nvSpPr>
        <p:spPr>
          <a:xfrm>
            <a:off x="777240" y="2774551"/>
            <a:ext cx="23774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Guide</a:t>
            </a:r>
            <a:endParaRPr lang="en-US" sz="1600" dirty="0"/>
          </a:p>
        </p:txBody>
      </p:sp>
      <p:sp>
        <p:nvSpPr>
          <p:cNvPr id="12" name="text-936"/>
          <p:cNvSpPr txBox="1"/>
          <p:nvPr/>
        </p:nvSpPr>
        <p:spPr>
          <a:xfrm>
            <a:off x="4572000" y="2774551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refuse overlapping contracts, report gaps, offer to end an old routine, refuse a lead as their own interim.</a:t>
            </a:r>
            <a:endParaRPr lang="en-US" sz="1500" dirty="0"/>
          </a:p>
        </p:txBody>
      </p:sp>
      <p:sp>
        <p:nvSpPr>
          <p:cNvPr id="13" name="box-937"/>
          <p:cNvSpPr/>
          <p:nvPr/>
        </p:nvSpPr>
        <p:spPr>
          <a:xfrm>
            <a:off x="548640" y="3384586"/>
            <a:ext cx="2880360" cy="500307"/>
          </a:xfrm>
          <a:prstGeom prst="roundRect">
            <a:avLst>
              <a:gd name="adj" fmla="val 21932"/>
            </a:avLst>
          </a:prstGeom>
          <a:solidFill>
            <a:srgbClr val="B06000"/>
          </a:solidFill>
          <a:ln/>
        </p:spPr>
      </p:sp>
      <p:sp>
        <p:nvSpPr>
          <p:cNvPr id="14" name="text-938"/>
          <p:cNvSpPr txBox="1"/>
          <p:nvPr/>
        </p:nvSpPr>
        <p:spPr>
          <a:xfrm>
            <a:off x="777240" y="3384586"/>
            <a:ext cx="26060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Confirm</a:t>
            </a:r>
            <a:endParaRPr lang="en-US" sz="1600" dirty="0"/>
          </a:p>
        </p:txBody>
      </p:sp>
      <p:sp>
        <p:nvSpPr>
          <p:cNvPr id="15" name="text-939"/>
          <p:cNvSpPr txBox="1"/>
          <p:nvPr/>
        </p:nvSpPr>
        <p:spPr>
          <a:xfrm>
            <a:off x="4572000" y="3384586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other rows rely on (contract start, leave type, project lead …) ask for confirmation.</a:t>
            </a:r>
            <a:endParaRPr lang="en-US" sz="1500" dirty="0"/>
          </a:p>
        </p:txBody>
      </p:sp>
      <p:sp>
        <p:nvSpPr>
          <p:cNvPr id="16" name="box-940"/>
          <p:cNvSpPr/>
          <p:nvPr/>
        </p:nvSpPr>
        <p:spPr>
          <a:xfrm>
            <a:off x="548640" y="3994622"/>
            <a:ext cx="3108960" cy="500307"/>
          </a:xfrm>
          <a:prstGeom prst="roundRect">
            <a:avLst>
              <a:gd name="adj" fmla="val 21932"/>
            </a:avLst>
          </a:prstGeom>
          <a:solidFill>
            <a:srgbClr val="7500C0"/>
          </a:solidFill>
          <a:ln/>
        </p:spPr>
      </p:sp>
      <p:sp>
        <p:nvSpPr>
          <p:cNvPr id="17" name="text-941"/>
          <p:cNvSpPr txBox="1"/>
          <p:nvPr/>
        </p:nvSpPr>
        <p:spPr>
          <a:xfrm>
            <a:off x="777240" y="3994622"/>
            <a:ext cx="28346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Lock</a:t>
            </a:r>
            <a:endParaRPr lang="en-US" sz="1600" dirty="0"/>
          </a:p>
        </p:txBody>
      </p:sp>
      <p:sp>
        <p:nvSpPr>
          <p:cNvPr id="18" name="text-942"/>
          <p:cNvSpPr txBox="1"/>
          <p:nvPr/>
        </p:nvSpPr>
        <p:spPr>
          <a:xfrm>
            <a:off x="4572000" y="3994622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and derived columns: only the owner and ADMIN_EMAILS can edit, with a warning (snoozable for 5 min).</a:t>
            </a:r>
            <a:endParaRPr lang="en-US" sz="1500" dirty="0"/>
          </a:p>
        </p:txBody>
      </p:sp>
      <p:sp>
        <p:nvSpPr>
          <p:cNvPr id="19" name="box-943"/>
          <p:cNvSpPr/>
          <p:nvPr/>
        </p:nvSpPr>
        <p:spPr>
          <a:xfrm>
            <a:off x="548640" y="4604657"/>
            <a:ext cx="3337560" cy="500307"/>
          </a:xfrm>
          <a:prstGeom prst="roundRect">
            <a:avLst>
              <a:gd name="adj" fmla="val 21932"/>
            </a:avLst>
          </a:prstGeom>
          <a:solidFill>
            <a:srgbClr val="7500C0"/>
          </a:solidFill>
          <a:ln/>
        </p:spPr>
      </p:sp>
      <p:sp>
        <p:nvSpPr>
          <p:cNvPr id="20" name="text-944"/>
          <p:cNvSpPr txBox="1"/>
          <p:nvPr/>
        </p:nvSpPr>
        <p:spPr>
          <a:xfrm>
            <a:off x="777240" y="4604657"/>
            <a:ext cx="30632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Serialise</a:t>
            </a:r>
            <a:endParaRPr lang="en-US" sz="1600" dirty="0"/>
          </a:p>
        </p:txBody>
      </p:sp>
      <p:sp>
        <p:nvSpPr>
          <p:cNvPr id="21" name="text-945"/>
          <p:cNvSpPr txBox="1"/>
          <p:nvPr/>
        </p:nvSpPr>
        <p:spPr>
          <a:xfrm>
            <a:off x="4572000" y="4604657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 Lock stops scripts writing from stale snapshots.</a:t>
            </a:r>
            <a:endParaRPr lang="en-US" sz="1500" dirty="0"/>
          </a:p>
        </p:txBody>
      </p:sp>
      <p:sp>
        <p:nvSpPr>
          <p:cNvPr id="22" name="box-946"/>
          <p:cNvSpPr/>
          <p:nvPr/>
        </p:nvSpPr>
        <p:spPr>
          <a:xfrm>
            <a:off x="548640" y="5214693"/>
            <a:ext cx="3566160" cy="500307"/>
          </a:xfrm>
          <a:prstGeom prst="roundRect">
            <a:avLst>
              <a:gd name="adj" fmla="val 21932"/>
            </a:avLst>
          </a:prstGeom>
          <a:solidFill>
            <a:srgbClr val="3B1E66"/>
          </a:solidFill>
          <a:ln/>
        </p:spPr>
      </p:sp>
      <p:sp>
        <p:nvSpPr>
          <p:cNvPr id="23" name="text-947"/>
          <p:cNvSpPr txBox="1"/>
          <p:nvPr/>
        </p:nvSpPr>
        <p:spPr>
          <a:xfrm>
            <a:off x="777240" y="5214693"/>
            <a:ext cx="32918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Reconcile</a:t>
            </a:r>
            <a:endParaRPr lang="en-US" sz="1600" dirty="0"/>
          </a:p>
        </p:txBody>
      </p:sp>
      <p:sp>
        <p:nvSpPr>
          <p:cNvPr id="24" name="text-948"/>
          <p:cNvSpPr txBox="1"/>
          <p:nvPr/>
        </p:nvSpPr>
        <p:spPr>
          <a:xfrm>
            <a:off x="4572000" y="5214693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sync rewrites derived values; compile is idempotent; Check Workspace reports drift.</a:t>
            </a:r>
            <a:endParaRPr lang="en-US" sz="1500" dirty="0"/>
          </a:p>
        </p:txBody>
      </p:sp>
      <p:sp>
        <p:nvSpPr>
          <p:cNvPr id="25" name="text-949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layers act on every edit; harder ones only on the few columns where an error would spread into derived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or sidebar: speed versus guidance</a:t>
            </a:r>
            <a:endParaRPr lang="en-US" sz="3200" dirty="0"/>
          </a:p>
        </p:txBody>
      </p:sp>
      <p:sp>
        <p:nvSpPr>
          <p:cNvPr id="3" name="pill-950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7" name="table-9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6021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grid (fast, free)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sidebar (checked)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name in Members (admins only: the column is locked)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Contracts: first contract form, open to 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Contracts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contract: ends the current one, refuses overlaps, reports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Routines and type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Baseline: presets, overlap prompt, history 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Weekly Presence 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Leaves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Leave: half-days, quick ranges, compiled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an absence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Backups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Backups: shows gaps, flags the person's 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Tasks, Events, settings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grid is the only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5" name="text-952"/>
          <p:cNvSpPr txBox="1"/>
          <p:nvPr/>
        </p:nvSpPr>
        <p:spPr>
          <a:xfrm>
            <a:off x="548640" y="5791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write the same tables and pass the same validation, protections and nightly reconciliation. The sidebar adds checks across rows (overlaps, gaps) that a single cell edit cannot see.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flexibility costs, and how it is caught</a:t>
            </a:r>
            <a:endParaRPr lang="en-US" sz="3200" dirty="0"/>
          </a:p>
        </p:txBody>
      </p:sp>
      <p:sp>
        <p:nvSpPr>
          <p:cNvPr id="3" name="pill-953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8" name="table-9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0535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go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entries win in the Presence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day typed before a leave was approved keeps the typed location, also in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reads Leaves directly; fix the day in Weekly Presence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tabs stay editable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row typed there skips the sidebar's cross-row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required cells, protection at the next nightly run, Check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can edit locked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derived value is overwritten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toast; the next sync rewrites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Edits during the 2:00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writes are skipped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“Sync in progress” toast; the next run catches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privacy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sees every contract and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Birthdays store day and month only; data stays in the shared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leaves are not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shows a routine for a day that may become a 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coverage warning before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955"/>
          <p:cNvSpPr/>
          <p:nvPr/>
        </p:nvSpPr>
        <p:spPr>
          <a:xfrm>
            <a:off x="548640" y="514197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3E8FD"/>
          </a:solidFill>
          <a:ln/>
        </p:spPr>
      </p:sp>
      <p:sp>
        <p:nvSpPr>
          <p:cNvPr id="6" name="text-956"/>
          <p:cNvSpPr txBox="1"/>
          <p:nvPr/>
        </p:nvSpPr>
        <p:spPr>
          <a:xfrm>
            <a:off x="822960" y="5324856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for maintainers: add a guard only when a wrong value would silently spread into derived data; otherwise prefer a signal (toast, highlight, Check Workspace) over a lock.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957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&amp; reference</a:t>
            </a:r>
            <a:endParaRPr lang="en-US" sz="4400" dirty="0"/>
          </a:p>
        </p:txBody>
      </p:sp>
      <p:sp>
        <p:nvSpPr>
          <p:cNvPr id="4" name="text-958"/>
          <p:cNvSpPr txBox="1"/>
          <p:nvPr/>
        </p:nvSpPr>
        <p:spPr>
          <a:xfrm>
            <a:off x="731520" y="3535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 and their fixes, performance figures and limits, and where to find the detail.</a:t>
            </a:r>
            <a:endParaRPr lang="en-US" sz="1800" dirty="0"/>
          </a:p>
        </p:txBody>
      </p:sp>
      <p:sp>
        <p:nvSpPr>
          <p:cNvPr id="5" name="box-959"/>
          <p:cNvSpPr/>
          <p:nvPr/>
        </p:nvSpPr>
        <p:spPr>
          <a:xfrm>
            <a:off x="7680960" y="1325880"/>
            <a:ext cx="3959352" cy="2032000"/>
          </a:xfrm>
          <a:prstGeom prst="roundRect">
            <a:avLst>
              <a:gd name="adj" fmla="val 2700"/>
            </a:avLst>
          </a:prstGeom>
          <a:solidFill>
            <a:srgbClr val="2A2640"/>
          </a:solidFill>
          <a:ln/>
        </p:spPr>
      </p:sp>
      <p:sp>
        <p:nvSpPr>
          <p:cNvPr id="6" name="text-960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961"/>
          <p:cNvSpPr txBox="1"/>
          <p:nvPr/>
        </p:nvSpPr>
        <p:spPr>
          <a:xfrm>
            <a:off x="8001000" y="2103120"/>
            <a:ext cx="3291840" cy="102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and fixes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limits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and fixes</a:t>
            </a:r>
            <a:endParaRPr lang="en-US" sz="3200" dirty="0"/>
          </a:p>
        </p:txBody>
      </p:sp>
      <p:sp>
        <p:nvSpPr>
          <p:cNvPr id="3" name="pill-962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graphicFrame>
        <p:nvGraphicFramePr>
          <p:cNvPr id="50" name="table-9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39620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Project Management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opened before the script loaded, or Library not linked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Reload; check Libraries → WorkspaceTM in Apps 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“Sync in progress” toast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nightly job holds the Sync 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a minute; retype a Weekly Presence 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says No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Member has no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 → first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says Not Logged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Presence Log row for today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today in Weekly Presence, or wait for the next compile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Role, Status or Today changed 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columns are rewritten from contracts and presence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contract or the presence instead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location is refused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retired (Active unticked) or not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Locations: add it or tick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row red or orange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coverage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Backups, or change the backup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not in my Google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sync uses the account that runs it, for its own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Assigned to; run the sync as that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steps skipped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Five-minute budget reached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Apps Script → Executions; they run the next night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platform limits</a:t>
            </a:r>
            <a:endParaRPr lang="en-US" sz="3200" dirty="0"/>
          </a:p>
        </p:txBody>
      </p:sp>
      <p:sp>
        <p:nvSpPr>
          <p:cNvPr id="3" name="pill-964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graphicFrame>
        <p:nvGraphicFramePr>
          <p:cNvPr id="51" name="table-9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</a:tblGrid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on the test sheet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edit (sync + protections)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/ Upgrade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s (directory 29 s, compile 19 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Workspace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 sidebar 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9470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edits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 s for the simple trigger, a few seconds for the handler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66"/>
          <p:cNvSpPr txBox="1"/>
          <p:nvPr/>
        </p:nvSpPr>
        <p:spPr>
          <a:xfrm>
            <a:off x="6720840" y="155448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limits the design respects</a:t>
            </a:r>
            <a:endParaRPr lang="en-US" sz="1600" dirty="0"/>
          </a:p>
        </p:txBody>
      </p:sp>
      <p:sp>
        <p:nvSpPr>
          <p:cNvPr id="6" name="text-967"/>
          <p:cNvSpPr txBox="1"/>
          <p:nvPr/>
        </p:nvSpPr>
        <p:spPr>
          <a:xfrm>
            <a:off x="6720840" y="2011680"/>
            <a:ext cx="4922215" cy="311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execution: the nightly job stops at 5 and logs what it skipped.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triggers: heavy work runs in the installable trigger.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go to the last row with data,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fixed cap, so the Presence Log can grow without duplicates.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table columns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number formats; dates use the table's DATE type.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Looker's cache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about 15 minutes; KPI Data refreshes nightly.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3200" dirty="0"/>
          </a:p>
        </p:txBody>
      </p:sp>
      <p:sp>
        <p:nvSpPr>
          <p:cNvPr id="3" name="pill-968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sp>
        <p:nvSpPr>
          <p:cNvPr id="4" name="box-969"/>
          <p:cNvSpPr/>
          <p:nvPr/>
        </p:nvSpPr>
        <p:spPr>
          <a:xfrm>
            <a:off x="548640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5" name="iconbg-970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9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972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GLOSSARY.md</a:t>
            </a:r>
            <a:endParaRPr lang="en-US" sz="1700" dirty="0"/>
          </a:p>
        </p:txBody>
      </p:sp>
      <p:sp>
        <p:nvSpPr>
          <p:cNvPr id="8" name="text-973"/>
          <p:cNvSpPr txBox="1"/>
          <p:nvPr/>
        </p:nvSpPr>
        <p:spPr>
          <a:xfrm>
            <a:off x="1463040" y="225552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term and the words to avoid.</a:t>
            </a:r>
            <a:endParaRPr lang="en-US" sz="1500" dirty="0"/>
          </a:p>
        </p:txBody>
      </p:sp>
      <p:sp>
        <p:nvSpPr>
          <p:cNvPr id="9" name="box-974"/>
          <p:cNvSpPr/>
          <p:nvPr/>
        </p:nvSpPr>
        <p:spPr>
          <a:xfrm>
            <a:off x="4338218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10" name="iconbg-975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9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977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docs/adr/0001–0044</a:t>
            </a:r>
            <a:endParaRPr lang="en-US" sz="1700" dirty="0"/>
          </a:p>
        </p:txBody>
      </p:sp>
      <p:sp>
        <p:nvSpPr>
          <p:cNvPr id="13" name="text-978"/>
          <p:cNvSpPr txBox="1"/>
          <p:nvPr/>
        </p:nvSpPr>
        <p:spPr>
          <a:xfrm>
            <a:off x="5252618" y="225552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one per change; the latest are 0036–0044.</a:t>
            </a:r>
            <a:endParaRPr lang="en-US" sz="1500" dirty="0"/>
          </a:p>
        </p:txBody>
      </p:sp>
      <p:sp>
        <p:nvSpPr>
          <p:cNvPr id="14" name="box-979"/>
          <p:cNvSpPr/>
          <p:nvPr/>
        </p:nvSpPr>
        <p:spPr>
          <a:xfrm>
            <a:off x="8127797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15" name="iconbg-980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9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982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700" dirty="0"/>
          </a:p>
        </p:txBody>
      </p:sp>
      <p:sp>
        <p:nvSpPr>
          <p:cNvPr id="18" name="text-983"/>
          <p:cNvSpPr txBox="1"/>
          <p:nvPr/>
        </p:nvSpPr>
        <p:spPr>
          <a:xfrm>
            <a:off x="9042197" y="225552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facts and rules for maintainers.</a:t>
            </a:r>
            <a:endParaRPr lang="en-US" sz="1500" dirty="0"/>
          </a:p>
        </p:txBody>
      </p:sp>
      <p:sp>
        <p:nvSpPr>
          <p:cNvPr id="19" name="box-984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0" name="iconbg-98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-9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316882"/>
            <a:ext cx="281635" cy="281635"/>
          </a:xfrm>
          <a:prstGeom prst="rect">
            <a:avLst/>
          </a:prstGeom>
        </p:spPr>
      </p:pic>
      <p:sp>
        <p:nvSpPr>
          <p:cNvPr id="22" name="text-987"/>
          <p:cNvSpPr txBox="1"/>
          <p:nvPr/>
        </p:nvSpPr>
        <p:spPr>
          <a:xfrm>
            <a:off x="1463040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consumer/Code.js</a:t>
            </a:r>
            <a:endParaRPr lang="en-US" sz="1700" dirty="0"/>
          </a:p>
        </p:txBody>
      </p:sp>
      <p:sp>
        <p:nvSpPr>
          <p:cNvPr id="23" name="text-988"/>
          <p:cNvSpPr txBox="1"/>
          <p:nvPr/>
        </p:nvSpPr>
        <p:spPr>
          <a:xfrm>
            <a:off x="1463040" y="467868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to paste into each team sheet.</a:t>
            </a:r>
            <a:endParaRPr lang="en-US" sz="1500" dirty="0"/>
          </a:p>
        </p:txBody>
      </p:sp>
      <p:sp>
        <p:nvSpPr>
          <p:cNvPr id="24" name="box-989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5" name="iconbg-990"/>
          <p:cNvSpPr/>
          <p:nvPr/>
        </p:nvSpPr>
        <p:spPr>
          <a:xfrm>
            <a:off x="4566818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con-99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316882"/>
            <a:ext cx="281635" cy="281635"/>
          </a:xfrm>
          <a:prstGeom prst="rect">
            <a:avLst/>
          </a:prstGeom>
        </p:spPr>
      </p:pic>
      <p:sp>
        <p:nvSpPr>
          <p:cNvPr id="27" name="text-992"/>
          <p:cNvSpPr txBox="1"/>
          <p:nvPr/>
        </p:nvSpPr>
        <p:spPr>
          <a:xfrm>
            <a:off x="5252618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src/Schema.js</a:t>
            </a:r>
            <a:endParaRPr lang="en-US" sz="1700" dirty="0"/>
          </a:p>
        </p:txBody>
      </p:sp>
      <p:sp>
        <p:nvSpPr>
          <p:cNvPr id="28" name="text-993"/>
          <p:cNvSpPr txBox="1"/>
          <p:nvPr/>
        </p:nvSpPr>
        <p:spPr>
          <a:xfrm>
            <a:off x="5252618" y="467868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column: type, required, protection, dropdown values.</a:t>
            </a:r>
            <a:endParaRPr lang="en-US" sz="1500" dirty="0"/>
          </a:p>
        </p:txBody>
      </p:sp>
      <p:sp>
        <p:nvSpPr>
          <p:cNvPr id="29" name="box-994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30" name="iconbg-995"/>
          <p:cNvSpPr/>
          <p:nvPr/>
        </p:nvSpPr>
        <p:spPr>
          <a:xfrm>
            <a:off x="8356397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con-99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316882"/>
            <a:ext cx="281635" cy="281635"/>
          </a:xfrm>
          <a:prstGeom prst="rect">
            <a:avLst/>
          </a:prstGeom>
        </p:spPr>
      </p:pic>
      <p:sp>
        <p:nvSpPr>
          <p:cNvPr id="32" name="text-997"/>
          <p:cNvSpPr txBox="1"/>
          <p:nvPr/>
        </p:nvSpPr>
        <p:spPr>
          <a:xfrm>
            <a:off x="9042197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</a:t>
            </a:r>
            <a:endParaRPr lang="en-US" sz="1700" dirty="0"/>
          </a:p>
        </p:txBody>
      </p:sp>
      <p:sp>
        <p:nvSpPr>
          <p:cNvPr id="33" name="text-998"/>
          <p:cNvSpPr txBox="1"/>
          <p:nvPr/>
        </p:nvSpPr>
        <p:spPr>
          <a:xfrm>
            <a:off x="9042197" y="467868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Node tests; run node --test test/*.js.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changes?</a:t>
            </a:r>
            <a:endParaRPr lang="en-US" sz="5400" dirty="0"/>
          </a:p>
        </p:txBody>
      </p:sp>
      <p:sp>
        <p:nvSpPr>
          <p:cNvPr id="3" name="text-999"/>
          <p:cNvSpPr txBox="1"/>
          <p:nvPr/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 Workspace first: most issues come with a link to their fix. Schema changes and new features go through the maintainer and land as an ADR.</a:t>
            </a:r>
            <a:endParaRPr lang="en-US" sz="2000" dirty="0"/>
          </a:p>
        </p:txBody>
      </p:sp>
      <p:sp>
        <p:nvSpPr>
          <p:cNvPr id="4" name="pill-1000"/>
          <p:cNvSpPr/>
          <p:nvPr/>
        </p:nvSpPr>
        <p:spPr>
          <a:xfrm>
            <a:off x="73152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300" dirty="0"/>
          </a:p>
        </p:txBody>
      </p:sp>
      <p:sp>
        <p:nvSpPr>
          <p:cNvPr id="5" name="pill-1001"/>
          <p:cNvSpPr/>
          <p:nvPr/>
        </p:nvSpPr>
        <p:spPr>
          <a:xfrm>
            <a:off x="1752600" y="4526280"/>
            <a:ext cx="1346200" cy="34747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site</a:t>
            </a:r>
            <a:endParaRPr lang="en-US" sz="1300" dirty="0"/>
          </a:p>
        </p:txBody>
      </p:sp>
      <p:sp>
        <p:nvSpPr>
          <p:cNvPr id="6" name="pill-1002"/>
          <p:cNvSpPr/>
          <p:nvPr/>
        </p:nvSpPr>
        <p:spPr>
          <a:xfrm>
            <a:off x="323596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7" name="pill-1003"/>
          <p:cNvSpPr/>
          <p:nvPr/>
        </p:nvSpPr>
        <p:spPr>
          <a:xfrm>
            <a:off x="4257040" y="4526280"/>
            <a:ext cx="791464" cy="347472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8" name="pill-1004"/>
          <p:cNvSpPr/>
          <p:nvPr/>
        </p:nvSpPr>
        <p:spPr>
          <a:xfrm>
            <a:off x="5185664" y="4526280"/>
            <a:ext cx="606552" cy="347472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9" name="pill-1005"/>
          <p:cNvSpPr/>
          <p:nvPr/>
        </p:nvSpPr>
        <p:spPr>
          <a:xfrm>
            <a:off x="5929376" y="4526280"/>
            <a:ext cx="1253744" cy="347472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paceTM">
  <a:themeElements>
    <a:clrScheme name="WorkspaceTM">
      <a:dk1>
        <a:srgbClr val="1E1B2E"/>
      </a:dk1>
      <a:lt1>
        <a:srgbClr val="FFFFFF"/>
      </a:lt1>
      <a:dk2>
        <a:srgbClr val="3B1E66"/>
      </a:dk2>
      <a:lt2>
        <a:srgbClr val="F5F1FA"/>
      </a:lt2>
      <a:accent1>
        <a:srgbClr val="7500C0"/>
      </a:accent1>
      <a:accent2>
        <a:srgbClr val="1967D2"/>
      </a:accent2>
      <a:accent3>
        <a:srgbClr val="137333"/>
      </a:accent3>
      <a:accent4>
        <a:srgbClr val="C5221F"/>
      </a:accent4>
      <a:accent5>
        <a:srgbClr val="B06000"/>
      </a:accent5>
      <a:accent6>
        <a:srgbClr val="5F6368"/>
      </a:accent6>
      <a:hlink>
        <a:srgbClr val="1967D2"/>
      </a:hlink>
      <a:folHlink>
        <a:srgbClr val="7500C0"/>
      </a:folHlink>
    </a:clrScheme>
    <a:fontScheme name="WorkspaceT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WorkspaceTM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WorkspaceTM User Guide</dc:title>
  <dc:subject>PptxGenJS Presentation</dc:subject>
  <dc:creator>Hugo</dc:creator>
  <cp:lastModifiedBy>Hugo</cp:lastModifiedBy>
  <cp:revision>1</cp:revision>
  <dcterms:created xsi:type="dcterms:W3CDTF">2026-10-15T21:27:14Z</dcterms:created>
  <dcterms:modified xsi:type="dcterms:W3CDTF">2026-10-15T21:27:14Z</dcterms:modified>
</cp:coreProperties>
</file>